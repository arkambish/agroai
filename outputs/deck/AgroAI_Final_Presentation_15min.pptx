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1/13 | Introduction | Arkam B.H.M. | target 20s | cumulative 0:20 of 15:00 ]</a:t>
            </a:r>
          </a:p>
          <a:p/>
          <a:p>
            <a:r>
              <a:t>Good morning. We are Group Agro AI. I am Arkam, with Sharuja and Shathurya, supervised by Dr. Firdhous of the Faculty of Information Technology.</a:t>
            </a:r>
          </a:p>
          <a:p/>
          <a:p>
            <a:r>
              <a:t>Our project is an explainable AI-driven decision support system that forecasts big onion yield before harvest, at district level, for the Yala season in Matale, Anuradhapura, Polonnaruwa and Kurunegala.</a:t>
            </a:r>
          </a:p>
          <a:p/>
          <a:p>
            <a:r>
              <a:t>In the next 15 minutes: three minutes on the problem and our solution, then four minutes on each of our three modules. (~20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2/13 | Introduction | Arkam B.H.M. | target 70s | cumulative 1:30 of 15:00 ]</a:t>
            </a:r>
          </a:p>
          <a:p/>
          <a:p>
            <a:r>
              <a:t>Big onion is economically significant, yet unlike paddy there is no crop-cutting survey for it. District figures are compiled from subjective field assessments, they carry unquantified error, and they arrive after the crop is already harvested and sold.</a:t>
            </a:r>
          </a:p>
          <a:p/>
          <a:p>
            <a:r>
              <a:t>Follow the top strip: observations, subjective estimates, results after harvest — decisions are always late. The bottom strip is what we need: multi-source data, an AI prediction issued before harvest, an explained result, and early decisions.</a:t>
            </a:r>
          </a:p>
          <a:p/>
          <a:p>
            <a:r>
              <a:t>Two things make this hard. Yield depends on weather, soil, crop history, regional conditions and management, and the usable Sri Lankan record for this crop is very small — so conventional AI development is difficult.</a:t>
            </a:r>
          </a:p>
          <a:p/>
          <a:p>
            <a:r>
              <a:t>Getting this right changes import sizing, field intervention, and farmers' negotiating position. (~70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3/13 | Introduction | Arkam B.H.M. | target 75s | cumulative 2:45 of 15:00 ]</a:t>
            </a:r>
          </a:p>
          <a:p/>
          <a:p>
            <a:r>
              <a:t>Our solution is an explainable AI-driven decision support system, built as a single pipeline: data sources feed a data pipeline, which feeds a prediction engine, whose outputs are turned into explanation and decision support.</a:t>
            </a:r>
          </a:p>
          <a:p/>
          <a:p>
            <a:r>
              <a:t>It predicts district-level yield before harvest for the Yala season across four districts, in metric tons per hectare, with an uncertainty interval, an explanation of the drivers, and district and year comparison — delivered in English, Sinhala and Tamil.</a:t>
            </a:r>
          </a:p>
          <a:p/>
          <a:p>
            <a:r>
              <a:t>The users are the people who actually take the decisions: DCS statistical officers validating estimates, DoA and Ministry analysts sizing imports, district officers targeting extension effort, farmer organisations, and researchers.</a:t>
            </a:r>
          </a:p>
          <a:p/>
          <a:p>
            <a:r>
              <a:t>The system is built as three modules. Sharuja will start with the data pipeline. (~75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4/13 | Module 1 | Sharuja B. | target 70s | cumulative 3:55 of 15:00 ]</a:t>
            </a:r>
          </a:p>
          <a:p/>
          <a:p>
            <a:r>
              <a:t>Thank you Arkam. I am Sharuja, and I own Module 1 — the data pipeline and feature engineering.</a:t>
            </a:r>
          </a:p>
          <a:p/>
          <a:p>
            <a:r>
              <a:t>My responsibility is to collect, clean, reconcile, transform and integrate heterogeneous agricultural data into one reliable machine-learning dataset. Every number the other two modules produce depends on this stage.</a:t>
            </a:r>
          </a:p>
          <a:p/>
          <a:p>
            <a:r>
              <a:t>Four data streams. First, historical yield and cultivated extent from the Department of Census and Statistics and FAOSTAT — this is our prediction target. Second, daily weather: NASA POWER reanalysis, chosen because the dry-zone ground station network is sparse and has gaps, plus CHIRPS for rainfall, which is better validated for tropical precipitation. Third, static soil properties from ISRIC SoilGrids. Fourth, MODIS vegetation indices and land-surface temperature, reduced server-side in Google Earth Engine so no raw imagery ever enters the model. (~70 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5/13 | Module 1 | Sharuja B. | target 85s | cumulative 5:20 of 15:00 ]</a:t>
            </a:r>
          </a:p>
          <a:p/>
          <a:p>
            <a:r>
              <a:t>This is the pipeline. Eight stages, every one writing its output to disk, so the pipeline is restartable and every intermediate is inspectable.</a:t>
            </a:r>
          </a:p>
          <a:p/>
          <a:p>
            <a:r>
              <a:t>The hard part is the middle. The sources disagree: weather is daily, yield is seasonal, satellite arrives as composites, soil is static, and the same district is not always spelled or keyed identically. So I define a canonical district vocabulary in configuration and map every source onto it at load time — and a name that fails to map raises an error rather than silently dropping the row, because a silent drop gives you a smaller dataset with no sign that anything went wrong.</a:t>
            </a:r>
          </a:p>
          <a:p/>
          <a:p>
            <a:r>
              <a:t>Everything is then reduced to one common key: district, season, year. Means for state variables like temperature, sums for fluxes like rainfall, counts for threshold-crossing events.</a:t>
            </a:r>
          </a:p>
          <a:p/>
          <a:p>
            <a:r>
              <a:t>From that I engineer roughly 32 predictors across nine categories. Growing degree days and heat-stress days needed real agronomic judgement — the base and critical temperatures come from the Department of Agriculture HORDI guidelines for big onion. The interaction terms encode agronomic hypotheses, not statistical convenience. (~85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6/13 | Module 1 | Sharuja B. | target 70s | cumulative 6:30 of 15:00 ]</a:t>
            </a:r>
          </a:p>
          <a:p/>
          <a:p>
            <a:r>
              <a:t>Even after reconciliation the dataset is small by machine-learning standards, so we treated the size of the training partition as a design variable rather than a fixed constraint.</a:t>
            </a:r>
          </a:p>
          <a:p/>
          <a:p>
            <a:r>
              <a:t>We evaluated three augmentation strategies under an identical downstream learner and identical cross-validation, so the comparison isolates the augmentation method itself. A CTGAN that learns the joint distribution; a physics-based proxy that perturbs environmental predictors within plausible bounds and derives yield from an agronomic response; and bootstrap resampling with injected Gaussian noise.</a:t>
            </a:r>
          </a:p>
          <a:p/>
          <a:p>
            <a:r>
              <a:t>The critical design point is the leakage guard. Before any synthetic record was generated, a sample of real records was withdrawn and reserved as a common evaluation set, and augmentation is applied only inside each training fold. The held-out year is always real, unaugmented data — so accuracy can never be inflated by a synthetic near-duplicate of the answer.</a:t>
            </a:r>
          </a:p>
          <a:p/>
          <a:p>
            <a:r>
              <a:t>The output of my module is a cleaned, validated, feature-engineered and reproducible dataset. Arkam will now take it into the prediction engine. (~70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7/13 | Module 2 | Arkam B.H.M. | target 75s | cumulative 7:45 of 15:00 ]</a:t>
            </a:r>
          </a:p>
          <a:p/>
          <a:p>
            <a:r>
              <a:t>Thank you Sharuja. I own Module 2 — the prediction and evaluation engine. My responsibility is to train, compare, evaluate, combine and calibrate the models.</a:t>
            </a:r>
          </a:p>
          <a:p/>
          <a:p>
            <a:r>
              <a:t>We deliberately span four modelling philosophies, because at this sample size you cannot assume in advance which one wins.</a:t>
            </a:r>
          </a:p>
          <a:p/>
          <a:p>
            <a:r>
              <a:t>Classical machine learning — Random Forest for variance reduction, XGBoost for bias reduction under explicit L1 and L2 regularisation, and Support Vector Regression whose capacity is controlled by the regularisation constant rather than by the number of observations. Deliberately orthogonal inductive biases.</a:t>
            </a:r>
          </a:p>
          <a:p/>
          <a:p>
            <a:r>
              <a:t>Deep learning — LSTM and bidirectional LSTM integrate cumulative exposure across the season; the 1D-CNN detects local shape, like the abruptness of a rainfall event or the width of a hot spell; the hybrid runs both branches and concatenates them. All four are deliberately small, with dropout and early stopping.</a:t>
            </a:r>
          </a:p>
          <a:p/>
          <a:p>
            <a:r>
              <a:t>Interpretable and hybrid — symbolic regression evolves an equation an agricultural officer can read and check by hand, and the physics-informed residual model supplies established agronomy as structure so the learner only has to model what the physics does not explain.</a:t>
            </a:r>
          </a:p>
          <a:p/>
          <a:p>
            <a:r>
              <a:t>Crucially, all of them see the same data under the same protocol with fixed seeds. (~75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8/13 | Module 2 | Arkam B.H.M. | target 75s | cumulative 9:00 of 15:00 ]</a:t>
            </a:r>
          </a:p>
          <a:p/>
          <a:p>
            <a:r>
              <a:t>This is the pipeline. The engineered dataset goes in; every model is trained; each produces an out-of-fold prediction for every record — meaning the prediction for a record always comes from a version of the model that never saw that record. Those out-of-fold records are the substrate for everything downstream: the significance tests, the stacking layer, the calibration, and the attribution.</a:t>
            </a:r>
          </a:p>
          <a:p/>
          <a:p>
            <a:r>
              <a:t>We then compare performance and combine the models by stacking. Three combiners, deliberately, so we can test the forecast-combination puzzle instead of assuming it: an equal-weight mean that estimates nothing; inverse-RMSE weighting that estimates one scalar per model; and a constrained convex fit whose weights are non-negative and sum to one, so the blend always lies within the range of the base predictions and cannot be driven outside it by large opposing weights.</a:t>
            </a:r>
          </a:p>
          <a:p/>
          <a:p>
            <a:r>
              <a:t>The output is a yield figure in metric tons per hectare, the persisted model artefacts, and the full comparison table — all of which the serving layer hands to Module 3. (~75 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9/13 | Module 2 | Arkam B.H.M. | target 75s | cumulative 10:15 of 15:00 ]</a:t>
            </a:r>
          </a:p>
          <a:p/>
          <a:p>
            <a:r>
              <a:t>The evaluation protocol is arguably the most consequential choice in the project.</a:t>
            </a:r>
          </a:p>
          <a:p/>
          <a:p>
            <a:r>
              <a:t>A random train-test split is not acceptable here. Districts within a year share a weather regime, a monsoon anomaly and a national price environment, so a random split puts records from the same year on both sides of the boundary — the model effectively sees the answer for a year it is then asked to predict, and the reported score would not survive deployment.</a:t>
            </a:r>
          </a:p>
          <a:p/>
          <a:p>
            <a:r>
              <a:t>So we use Leave-One-Year-Out. Hold out one complete year, train on the remaining years, predict the held-out year, and rotate through every year. Every fitted quantity — including all scaling and the augmentation — is estimated inside the fold, and hyperparameter selection is nested inside the training partition so the held-out year never influences model selection either. We report RMSE, MAE, R-squared and MAPE, and we compare models with a paired significance test on per-record residuals rather than on raw leaderboard positions.</a:t>
            </a:r>
          </a:p>
          <a:p/>
          <a:p>
            <a:r>
              <a:t>Finally, uncertainty. A single point forecast invites false confidence. Split-conformal prediction is distribution-free — it assumes nothing about the residuals being Gaussian — and gives a lower and an upper boundary. So instead of '12.5', the user sees 12.5 with an interval of 10.8 to 14.2, which is the information an import or resource decision actually needs. Shathurya will now show how we communicate that. (~75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10/13 | Module 3 | Shathurya P. | target 80s | cumulative 11:35 of 15:00 ]</a:t>
            </a:r>
          </a:p>
          <a:p/>
          <a:p>
            <a:r>
              <a:t>Thank you Arkam. I am Shathurya, and I own Module 3 — explainability and decision support. My responsibility is to turn technical model outputs into information a non-technical agricultural stakeholder can act on.</a:t>
            </a:r>
          </a:p>
          <a:p/>
          <a:p>
            <a:r>
              <a:t>We use SHAP, because its attributions are the Shapley values of a cooperative game where the features are the players and the payoff is the prediction — which gives them a uniqueness property heuristic importance measures lack, and TreeExplainer computes them exactly for tree ensembles.</a:t>
            </a:r>
          </a:p>
          <a:p/>
          <a:p>
            <a:r>
              <a:t>Two artefacts. A global explanation — the ranking of mean absolute attribution across all records, which answers which predictors matter in general. And a local explanation, computed live against the submitted feature vector, which answers why this district in this year came out high or low. The second is what an officer actually asks for, which is why the SHAP computation is invoked in the presentation layer rather than only once in the analysis pipeline.</a:t>
            </a:r>
          </a:p>
          <a:p/>
          <a:p>
            <a:r>
              <a:t>The chart shows the shape of that output. Positive contributions push the prediction up, negative ones pull it down — adequate rainfall and suitable growing degree days lifting the forecast, heat-stress days and a poor previous year pulling it down. I want to be explicit that these figures illustrate the structure; the real numbers are computed per district-year from the persisted model. (~80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11/13 | Module 3 | Shathurya P. | target 70s | cumulative 12:45 of 15:00 ]</a:t>
            </a:r>
          </a:p>
          <a:p/>
          <a:p>
            <a:r>
              <a:t>A SHAP ranking or a prediction interval, presented alone, does not tell a non-technical user how much to trust either one. The Explainability Reliability Index closes that gap by compressing several reliability signals into one interpretable badge shown alongside every forecast.</a:t>
            </a:r>
          </a:p>
          <a:p/>
          <a:p>
            <a:r>
              <a:t>Four signals. Cross-fold consistency — the rank correlation between the attribution obtained in each Leave-One-Year-Out fold and the attribution from the full-data model. Agreement between explanation results. Stability under a small perturbation of the inputs. And the conformal interval width, expressed relative to the district's own historical yield range, so a wide interval on a low-yield district is not scored the same as the same absolute width on a high-yield one.</a:t>
            </a:r>
          </a:p>
          <a:p/>
          <a:p>
            <a:r>
              <a:t>The design choice I want to highlight: the index is a formula, not a model. Scoring the reliability of one model with a second uninspectable model would defeat the whole purpose — so the ERI can be recomputed by hand from its published components for any prediction.</a:t>
            </a:r>
          </a:p>
          <a:p/>
          <a:p>
            <a:r>
              <a:t>Prediction, plus uncertainty, plus explanation, plus reliability — that is what makes an output decision-ready. (~70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12/13 | Module 3 | Shathurya P. | target 75s | cumulative 14:00 of 15:00 ]</a:t>
            </a:r>
          </a:p>
          <a:p/>
          <a:p>
            <a:r>
              <a:t>The delivery layer is a Next.js dashboard with locale-aware routing, and its views map onto the four user groups.</a:t>
            </a:r>
          </a:p>
          <a:p/>
          <a:p>
            <a:r>
              <a:t>Predict and compare: district-level prediction, a Sri Lankan choropleth, district and year comparison, and a context-aware form that prefills the most recent known predictor values — because we are not going to ask an officer to type thirty-two numbers.</a:t>
            </a:r>
          </a:p>
          <a:p/>
          <a:p>
            <a:r>
              <a:t>Explain and trust: the point prediction with its interval, the SHAP contribution chart, the ERI badge, and the symbolic-regression equation as a readable cross-check. Decide and operate: a plain-language recommendation view, the model-comparison panel for technical users, and full English, Sinhala and Tamil support — because the district-level users do not all work in English.</a:t>
            </a:r>
          </a:p>
          <a:p/>
          <a:p>
            <a:r>
              <a:t>The assistant is the part I want to emphasise. A user asks, in plain language, 'why is Anuradhapura's predicted yield lower than last year?' The assistant retrieves the relevant prediction, SHAP attribution, ERI score, conformal interval and historical yield — keyed by district, season and year — and constructs the answer from those retrieved values through a template-based factual layer, with the language model handling only phrasing and translation. It does not answer from general knowledge of onion cultivation. That retrieval-then-template-then-language-model ordering is what keeps answers traceable and reduces unsupported explanations. (~75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13/13 | Conclusion | Arkam B.H.M. | target 60s | cumulative 15:00 of 15:00 ]</a:t>
            </a:r>
          </a:p>
          <a:p/>
          <a:p>
            <a:r>
              <a:t>To close, this is the whole system in one view. Four data streams enter Module 1, which integrates and engineers them. Module 2 trains, compares, combines and calibrates the models. The Flask REST API is the integration layer — it never trains, it only loads the persisted artefacts and serves them, which means a model can be retrained without touching the service and the service can be restarted without retraining. Module 3 turns those artefacts into explanation, reliability and a multilingual dashboard, and out the other end come early, informed agricultural decisions.</a:t>
            </a:r>
          </a:p>
          <a:p/>
          <a:p>
            <a:r>
              <a:t>Four things we would ask you to take away. It predicts before harvest, which is a capability that does not currently exist for this crop. It is designed explicitly for severe data scarcity rather than assuming the sample sizes the published literature assumes. It reports uncertainty instead of a single confident number. And it makes the prediction understandable and actionable rather than a black box.</a:t>
            </a:r>
          </a:p>
          <a:p/>
          <a:p>
            <a:r>
              <a:t>Agro AI converts fragmented agricultural data into early, explainable and decision-ready big onion yield forecasts for Sri Lanka.</a:t>
            </a:r>
          </a:p>
          <a:p/>
          <a:p>
            <a:r>
              <a:t>Thank you — we are happy to take questions. (~60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gradFill rotWithShape="1">
            <a:gsLst>
              <a:gs pos="0">
                <a:srgbClr val="0E3B2B"/>
              </a:gs>
              <a:gs pos="100000">
                <a:srgbClr val="1C5E4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Parallelogram 3"/>
          <p:cNvSpPr/>
          <p:nvPr/>
        </p:nvSpPr>
        <p:spPr>
          <a:xfrm>
            <a:off x="-914400" y="5650992"/>
            <a:ext cx="14630400" cy="1828800"/>
          </a:xfrm>
          <a:prstGeom prst="parallelogram">
            <a:avLst/>
          </a:prstGeom>
          <a:solidFill>
            <a:srgbClr val="144B3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Parallelogram 4"/>
          <p:cNvSpPr/>
          <p:nvPr/>
        </p:nvSpPr>
        <p:spPr>
          <a:xfrm>
            <a:off x="-914400" y="6144768"/>
            <a:ext cx="14630400" cy="1828800"/>
          </a:xfrm>
          <a:prstGeom prst="parallelogram">
            <a:avLst/>
          </a:prstGeom>
          <a:solidFill>
            <a:srgbClr val="1042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8732520" y="960120"/>
            <a:ext cx="566928" cy="566928"/>
          </a:xfrm>
          <a:prstGeom prst="ellipse">
            <a:avLst/>
          </a:prstGeom>
          <a:solidFill>
            <a:srgbClr val="E09C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9646920" y="960120"/>
            <a:ext cx="566928" cy="566928"/>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10561320" y="960120"/>
            <a:ext cx="566928" cy="566928"/>
          </a:xfrm>
          <a:prstGeom prst="ellipse">
            <a:avLst/>
          </a:prstGeom>
          <a:solidFill>
            <a:srgbClr val="E09C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732520" y="1737360"/>
            <a:ext cx="2395728"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732520" y="1828800"/>
            <a:ext cx="2926080" cy="822960"/>
          </a:xfrm>
          <a:prstGeom prst="rect">
            <a:avLst/>
          </a:prstGeom>
          <a:noFill/>
        </p:spPr>
        <p:txBody>
          <a:bodyPr wrap="square" lIns="0" rIns="0" tIns="0" bIns="0" anchor="t">
            <a:spAutoFit/>
          </a:bodyPr>
          <a:lstStyle/>
          <a:p>
            <a:pPr algn="l">
              <a:spcBef>
                <a:spcPts val="0"/>
              </a:spcBef>
              <a:spcAft>
                <a:spcPts val="100"/>
              </a:spcAft>
            </a:pPr>
            <a:r>
              <a:rPr sz="1000" b="0" i="0">
                <a:solidFill>
                  <a:srgbClr val="BFD7C6"/>
                </a:solidFill>
                <a:latin typeface="Calibri"/>
              </a:rPr>
              <a:t>Yala season  ·  Matale  ·  Anuradhapura</a:t>
            </a:r>
          </a:p>
          <a:p>
            <a:pPr algn="l">
              <a:spcBef>
                <a:spcPts val="0"/>
              </a:spcBef>
              <a:spcAft>
                <a:spcPts val="0"/>
              </a:spcAft>
            </a:pPr>
            <a:r>
              <a:rPr sz="1000" b="0" i="0">
                <a:solidFill>
                  <a:srgbClr val="BFD7C6"/>
                </a:solidFill>
                <a:latin typeface="Calibri"/>
              </a:rPr>
              <a:t>Polonnaruwa  ·  Kurunegala</a:t>
            </a:r>
          </a:p>
        </p:txBody>
      </p:sp>
      <p:sp>
        <p:nvSpPr>
          <p:cNvPr id="11" name="TextBox 10"/>
          <p:cNvSpPr txBox="1"/>
          <p:nvPr/>
        </p:nvSpPr>
        <p:spPr>
          <a:xfrm>
            <a:off x="566928" y="932688"/>
            <a:ext cx="7772400" cy="274320"/>
          </a:xfrm>
          <a:prstGeom prst="rect">
            <a:avLst/>
          </a:prstGeom>
          <a:noFill/>
        </p:spPr>
        <p:txBody>
          <a:bodyPr wrap="square" lIns="0" rIns="0" tIns="0" bIns="0" anchor="t">
            <a:spAutoFit/>
          </a:bodyPr>
          <a:lstStyle/>
          <a:p>
            <a:pPr algn="l">
              <a:spcBef>
                <a:spcPts val="0"/>
              </a:spcBef>
              <a:spcAft>
                <a:spcPts val="0"/>
              </a:spcAft>
            </a:pPr>
            <a:r>
              <a:rPr sz="1100" b="1" i="0" spc="180">
                <a:solidFill>
                  <a:srgbClr val="9FC7AB"/>
                </a:solidFill>
                <a:latin typeface="Calibri"/>
              </a:rPr>
              <a:t>FINAL YEAR PROJECT  ·  LEVEL 4  ·  2026</a:t>
            </a:r>
          </a:p>
        </p:txBody>
      </p:sp>
      <p:sp>
        <p:nvSpPr>
          <p:cNvPr id="12" name="TextBox 11"/>
          <p:cNvSpPr txBox="1"/>
          <p:nvPr/>
        </p:nvSpPr>
        <p:spPr>
          <a:xfrm>
            <a:off x="566928" y="1298448"/>
            <a:ext cx="7955279" cy="2286000"/>
          </a:xfrm>
          <a:prstGeom prst="rect">
            <a:avLst/>
          </a:prstGeom>
          <a:noFill/>
        </p:spPr>
        <p:txBody>
          <a:bodyPr wrap="square" lIns="0" rIns="0" tIns="0" bIns="0" anchor="t">
            <a:spAutoFit/>
          </a:bodyPr>
          <a:lstStyle/>
          <a:p>
            <a:pPr algn="l">
              <a:lnSpc>
                <a:spcPct val="94000"/>
              </a:lnSpc>
              <a:spcBef>
                <a:spcPts val="0"/>
              </a:spcBef>
              <a:spcAft>
                <a:spcPts val="600"/>
              </a:spcAft>
            </a:pPr>
            <a:r>
              <a:rPr sz="3300" b="1" i="0">
                <a:solidFill>
                  <a:srgbClr val="FFFFFF"/>
                </a:solidFill>
                <a:latin typeface="Calibri"/>
              </a:rPr>
              <a:t>An Explainable AI-Driven Decision Support System for Big Onion Yield Prediction</a:t>
            </a:r>
          </a:p>
          <a:p>
            <a:pPr algn="l">
              <a:lnSpc>
                <a:spcPct val="100000"/>
              </a:lnSpc>
              <a:spcBef>
                <a:spcPts val="0"/>
              </a:spcBef>
              <a:spcAft>
                <a:spcPts val="0"/>
              </a:spcAft>
            </a:pPr>
            <a:r>
              <a:rPr sz="1700" b="0" i="0">
                <a:solidFill>
                  <a:srgbClr val="C8DFD1"/>
                </a:solidFill>
                <a:latin typeface="Calibri"/>
              </a:rPr>
              <a:t>Using Multi-Source Climate, Soil and Yield Data in Sri Lanka</a:t>
            </a:r>
          </a:p>
        </p:txBody>
      </p:sp>
      <p:sp>
        <p:nvSpPr>
          <p:cNvPr id="13" name="Rectangle 12"/>
          <p:cNvSpPr/>
          <p:nvPr/>
        </p:nvSpPr>
        <p:spPr>
          <a:xfrm>
            <a:off x="566928" y="3401568"/>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6928" y="3657600"/>
            <a:ext cx="2926080" cy="274320"/>
          </a:xfrm>
          <a:prstGeom prst="rect">
            <a:avLst/>
          </a:prstGeom>
          <a:noFill/>
        </p:spPr>
        <p:txBody>
          <a:bodyPr wrap="square" lIns="0" rIns="0" tIns="0" bIns="0" anchor="t">
            <a:spAutoFit/>
          </a:bodyPr>
          <a:lstStyle/>
          <a:p>
            <a:pPr algn="l">
              <a:spcBef>
                <a:spcPts val="0"/>
              </a:spcBef>
              <a:spcAft>
                <a:spcPts val="0"/>
              </a:spcAft>
            </a:pPr>
            <a:r>
              <a:rPr sz="1050" b="1" i="0" spc="140">
                <a:solidFill>
                  <a:srgbClr val="C87A1E"/>
                </a:solidFill>
                <a:latin typeface="Calibri"/>
              </a:rPr>
              <a:t>GROUP  ·  AGRO AI</a:t>
            </a:r>
          </a:p>
        </p:txBody>
      </p:sp>
      <p:sp>
        <p:nvSpPr>
          <p:cNvPr id="15" name="Rounded Rectangle 14"/>
          <p:cNvSpPr/>
          <p:nvPr/>
        </p:nvSpPr>
        <p:spPr>
          <a:xfrm>
            <a:off x="566928" y="3968496"/>
            <a:ext cx="2286000" cy="658368"/>
          </a:xfrm>
          <a:prstGeom prst="roundRect">
            <a:avLst>
              <a:gd name="adj" fmla="val 9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31520" y="4059936"/>
            <a:ext cx="2011680" cy="502920"/>
          </a:xfrm>
          <a:prstGeom prst="rect">
            <a:avLst/>
          </a:prstGeom>
          <a:noFill/>
        </p:spPr>
        <p:txBody>
          <a:bodyPr wrap="square" lIns="0" rIns="0" tIns="0" bIns="0" anchor="t">
            <a:spAutoFit/>
          </a:bodyPr>
          <a:lstStyle/>
          <a:p>
            <a:pPr algn="l">
              <a:spcBef>
                <a:spcPts val="0"/>
              </a:spcBef>
              <a:spcAft>
                <a:spcPts val="100"/>
              </a:spcAft>
            </a:pPr>
            <a:r>
              <a:rPr sz="1200" b="1" i="0">
                <a:solidFill>
                  <a:srgbClr val="FFFFFF"/>
                </a:solidFill>
                <a:latin typeface="Calibri"/>
              </a:rPr>
              <a:t>Arkam B.H.M.</a:t>
            </a:r>
          </a:p>
          <a:p>
            <a:pPr algn="l">
              <a:spcBef>
                <a:spcPts val="0"/>
              </a:spcBef>
              <a:spcAft>
                <a:spcPts val="0"/>
              </a:spcAft>
            </a:pPr>
            <a:r>
              <a:rPr sz="950" b="0" i="0">
                <a:solidFill>
                  <a:srgbClr val="9FC7AB"/>
                </a:solidFill>
                <a:latin typeface="Calibri"/>
              </a:rPr>
              <a:t>214019K</a:t>
            </a:r>
          </a:p>
        </p:txBody>
      </p:sp>
      <p:sp>
        <p:nvSpPr>
          <p:cNvPr id="17" name="Rounded Rectangle 16"/>
          <p:cNvSpPr/>
          <p:nvPr/>
        </p:nvSpPr>
        <p:spPr>
          <a:xfrm>
            <a:off x="3054096" y="3968496"/>
            <a:ext cx="2286000" cy="658368"/>
          </a:xfrm>
          <a:prstGeom prst="roundRect">
            <a:avLst>
              <a:gd name="adj" fmla="val 9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218688" y="4059936"/>
            <a:ext cx="2011680" cy="502920"/>
          </a:xfrm>
          <a:prstGeom prst="rect">
            <a:avLst/>
          </a:prstGeom>
          <a:noFill/>
        </p:spPr>
        <p:txBody>
          <a:bodyPr wrap="square" lIns="0" rIns="0" tIns="0" bIns="0" anchor="t">
            <a:spAutoFit/>
          </a:bodyPr>
          <a:lstStyle/>
          <a:p>
            <a:pPr algn="l">
              <a:spcBef>
                <a:spcPts val="0"/>
              </a:spcBef>
              <a:spcAft>
                <a:spcPts val="100"/>
              </a:spcAft>
            </a:pPr>
            <a:r>
              <a:rPr sz="1200" b="1" i="0">
                <a:solidFill>
                  <a:srgbClr val="FFFFFF"/>
                </a:solidFill>
                <a:latin typeface="Calibri"/>
              </a:rPr>
              <a:t>Sharuja B.</a:t>
            </a:r>
          </a:p>
          <a:p>
            <a:pPr algn="l">
              <a:spcBef>
                <a:spcPts val="0"/>
              </a:spcBef>
              <a:spcAft>
                <a:spcPts val="0"/>
              </a:spcAft>
            </a:pPr>
            <a:r>
              <a:rPr sz="950" b="0" i="0">
                <a:solidFill>
                  <a:srgbClr val="9FC7AB"/>
                </a:solidFill>
                <a:latin typeface="Calibri"/>
              </a:rPr>
              <a:t>214192G</a:t>
            </a:r>
          </a:p>
        </p:txBody>
      </p:sp>
      <p:sp>
        <p:nvSpPr>
          <p:cNvPr id="19" name="Rounded Rectangle 18"/>
          <p:cNvSpPr/>
          <p:nvPr/>
        </p:nvSpPr>
        <p:spPr>
          <a:xfrm>
            <a:off x="5541264" y="3968496"/>
            <a:ext cx="2286000" cy="658368"/>
          </a:xfrm>
          <a:prstGeom prst="roundRect">
            <a:avLst>
              <a:gd name="adj" fmla="val 9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05856" y="4059936"/>
            <a:ext cx="2011680" cy="502920"/>
          </a:xfrm>
          <a:prstGeom prst="rect">
            <a:avLst/>
          </a:prstGeom>
          <a:noFill/>
        </p:spPr>
        <p:txBody>
          <a:bodyPr wrap="square" lIns="0" rIns="0" tIns="0" bIns="0" anchor="t">
            <a:spAutoFit/>
          </a:bodyPr>
          <a:lstStyle/>
          <a:p>
            <a:pPr algn="l">
              <a:spcBef>
                <a:spcPts val="0"/>
              </a:spcBef>
              <a:spcAft>
                <a:spcPts val="100"/>
              </a:spcAft>
            </a:pPr>
            <a:r>
              <a:rPr sz="1200" b="1" i="0">
                <a:solidFill>
                  <a:srgbClr val="FFFFFF"/>
                </a:solidFill>
                <a:latin typeface="Calibri"/>
              </a:rPr>
              <a:t>Shathurya P.</a:t>
            </a:r>
          </a:p>
          <a:p>
            <a:pPr algn="l">
              <a:spcBef>
                <a:spcPts val="0"/>
              </a:spcBef>
              <a:spcAft>
                <a:spcPts val="0"/>
              </a:spcAft>
            </a:pPr>
            <a:r>
              <a:rPr sz="950" b="0" i="0">
                <a:solidFill>
                  <a:srgbClr val="9FC7AB"/>
                </a:solidFill>
                <a:latin typeface="Calibri"/>
              </a:rPr>
              <a:t>214193K</a:t>
            </a:r>
          </a:p>
        </p:txBody>
      </p:sp>
      <p:sp>
        <p:nvSpPr>
          <p:cNvPr id="21" name="TextBox 20"/>
          <p:cNvSpPr txBox="1"/>
          <p:nvPr/>
        </p:nvSpPr>
        <p:spPr>
          <a:xfrm>
            <a:off x="566928" y="4882896"/>
            <a:ext cx="5852160" cy="822960"/>
          </a:xfrm>
          <a:prstGeom prst="rect">
            <a:avLst/>
          </a:prstGeom>
          <a:noFill/>
        </p:spPr>
        <p:txBody>
          <a:bodyPr wrap="square" lIns="0" rIns="0" tIns="0" bIns="0" anchor="t">
            <a:spAutoFit/>
          </a:bodyPr>
          <a:lstStyle/>
          <a:p>
            <a:pPr algn="l">
              <a:spcBef>
                <a:spcPts val="0"/>
              </a:spcBef>
              <a:spcAft>
                <a:spcPts val="300"/>
              </a:spcAft>
            </a:pPr>
            <a:r>
              <a:rPr sz="1200" b="1" i="0">
                <a:solidFill>
                  <a:srgbClr val="FFFFFF"/>
                </a:solidFill>
                <a:latin typeface="Calibri"/>
              </a:rPr>
              <a:t>Supervised by:  Dr. Firdhous M.F.M.</a:t>
            </a:r>
          </a:p>
          <a:p>
            <a:pPr algn="l">
              <a:spcBef>
                <a:spcPts val="0"/>
              </a:spcBef>
              <a:spcAft>
                <a:spcPts val="0"/>
              </a:spcAft>
            </a:pPr>
            <a:r>
              <a:rPr sz="1100" b="0" i="0">
                <a:solidFill>
                  <a:srgbClr val="C8DFD1"/>
                </a:solidFill>
                <a:latin typeface="Calibri"/>
              </a:rPr>
              <a:t>Faculty of Information Technology,  University of Moratuwa</a:t>
            </a:r>
          </a:p>
        </p:txBody>
      </p:sp>
      <p:sp>
        <p:nvSpPr>
          <p:cNvPr id="22" name="TextBox 21"/>
          <p:cNvSpPr txBox="1"/>
          <p:nvPr/>
        </p:nvSpPr>
        <p:spPr>
          <a:xfrm>
            <a:off x="8881567" y="6364224"/>
            <a:ext cx="2743200" cy="274320"/>
          </a:xfrm>
          <a:prstGeom prst="rect">
            <a:avLst/>
          </a:prstGeom>
          <a:noFill/>
        </p:spPr>
        <p:txBody>
          <a:bodyPr wrap="square" lIns="0" rIns="0" tIns="0" bIns="0" anchor="t">
            <a:spAutoFit/>
          </a:bodyPr>
          <a:lstStyle/>
          <a:p>
            <a:pPr algn="r">
              <a:spcBef>
                <a:spcPts val="0"/>
              </a:spcBef>
              <a:spcAft>
                <a:spcPts val="0"/>
              </a:spcAft>
            </a:pPr>
            <a:r>
              <a:rPr sz="850" b="1" i="0">
                <a:solidFill>
                  <a:srgbClr val="9FC7AB"/>
                </a:solidFill>
                <a:latin typeface="Calibri"/>
              </a:rPr>
              <a:t>Arkam B.H.M.   |   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1  ·  INTRODUCTION</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Problem and Motivation</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Why a pre-harvest forecast does not exist today</a:t>
            </a:r>
          </a:p>
        </p:txBody>
      </p:sp>
      <p:sp>
        <p:nvSpPr>
          <p:cNvPr id="7" name="Rounded Rectangle 6"/>
          <p:cNvSpPr/>
          <p:nvPr/>
        </p:nvSpPr>
        <p:spPr>
          <a:xfrm>
            <a:off x="566928" y="1444752"/>
            <a:ext cx="4526280" cy="3017520"/>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66928" y="1572768"/>
            <a:ext cx="50292" cy="2761487"/>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1581912"/>
            <a:ext cx="4123944" cy="2743200"/>
          </a:xfrm>
          <a:prstGeom prst="rect">
            <a:avLst/>
          </a:prstGeom>
          <a:noFill/>
        </p:spPr>
        <p:txBody>
          <a:bodyPr wrap="square" lIns="0" rIns="0" tIns="0" bIns="0" anchor="t">
            <a:spAutoFit/>
          </a:bodyPr>
          <a:lstStyle/>
          <a:p>
            <a:pPr algn="l">
              <a:spcBef>
                <a:spcPts val="0"/>
              </a:spcBef>
              <a:spcAft>
                <a:spcPts val="700"/>
              </a:spcAft>
            </a:pPr>
            <a:r>
              <a:rPr sz="1400" b="1" i="0">
                <a:solidFill>
                  <a:srgbClr val="0E3B2B"/>
                </a:solidFill>
                <a:latin typeface="Calibri"/>
              </a:rPr>
              <a:t>The gap today</a:t>
            </a:r>
          </a:p>
          <a:p>
            <a:pPr algn="l">
              <a:spcBef>
                <a:spcPts val="0"/>
              </a:spcBef>
              <a:spcAft>
                <a:spcPts val="700"/>
              </a:spcAft>
            </a:pPr>
            <a:r>
              <a:rPr sz="1150" b="0" i="0">
                <a:solidFill>
                  <a:srgbClr val="3A4A40"/>
                </a:solidFill>
                <a:latin typeface="Calibri"/>
              </a:rPr>
              <a:t>Big onion is one of Sri Lanka's most economically significant field crops.</a:t>
            </a:r>
          </a:p>
          <a:p>
            <a:pPr algn="l">
              <a:spcBef>
                <a:spcPts val="0"/>
              </a:spcBef>
              <a:spcAft>
                <a:spcPts val="700"/>
              </a:spcAft>
            </a:pPr>
            <a:r>
              <a:rPr sz="1150" b="0" i="0">
                <a:solidFill>
                  <a:srgbClr val="3A4A40"/>
                </a:solidFill>
                <a:latin typeface="Calibri"/>
              </a:rPr>
              <a:t>No systematic pre-harvest yield forecasting method exists for the crop.</a:t>
            </a:r>
          </a:p>
          <a:p>
            <a:pPr algn="l">
              <a:spcBef>
                <a:spcPts val="0"/>
              </a:spcBef>
              <a:spcAft>
                <a:spcPts val="700"/>
              </a:spcAft>
            </a:pPr>
            <a:r>
              <a:rPr sz="1150" b="0" i="0">
                <a:solidFill>
                  <a:srgbClr val="3A4A40"/>
                </a:solidFill>
                <a:latin typeface="Calibri"/>
              </a:rPr>
              <a:t>Figures are compiled mainly from subjective field assessments by agricultural instructors and divisional officers.</a:t>
            </a:r>
          </a:p>
          <a:p>
            <a:pPr algn="l">
              <a:spcBef>
                <a:spcPts val="0"/>
              </a:spcBef>
              <a:spcAft>
                <a:spcPts val="700"/>
              </a:spcAft>
            </a:pPr>
            <a:r>
              <a:rPr sz="1150" b="0" i="0">
                <a:solidFill>
                  <a:srgbClr val="3A4A40"/>
                </a:solidFill>
                <a:latin typeface="Calibri"/>
              </a:rPr>
              <a:t>Reliable yield information becomes available only after the harvest is already sold.</a:t>
            </a:r>
          </a:p>
          <a:p>
            <a:pPr algn="l">
              <a:spcBef>
                <a:spcPts val="0"/>
              </a:spcBef>
              <a:spcAft>
                <a:spcPts val="0"/>
              </a:spcAft>
            </a:pPr>
            <a:r>
              <a:rPr sz="1150" b="0" i="0">
                <a:solidFill>
                  <a:srgbClr val="3A4A40"/>
                </a:solidFill>
                <a:latin typeface="Calibri"/>
              </a:rPr>
              <a:t>Late, unquantified estimates make import planning, price stabilisation, timely intervention and resource allocation difficult.</a:t>
            </a:r>
          </a:p>
        </p:txBody>
      </p:sp>
      <p:sp>
        <p:nvSpPr>
          <p:cNvPr id="10" name="Rounded Rectangle 9"/>
          <p:cNvSpPr/>
          <p:nvPr/>
        </p:nvSpPr>
        <p:spPr>
          <a:xfrm>
            <a:off x="566928" y="4590288"/>
            <a:ext cx="4526280" cy="1463040"/>
          </a:xfrm>
          <a:prstGeom prst="roundRect">
            <a:avLst>
              <a:gd name="adj" fmla="val 6000"/>
            </a:avLst>
          </a:prstGeom>
          <a:solidFill>
            <a:srgbClr val="FBEFDC"/>
          </a:solidFill>
          <a:ln w="12700">
            <a:solidFill>
              <a:srgbClr val="ECD6A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68096" y="4727448"/>
            <a:ext cx="4123944" cy="1188720"/>
          </a:xfrm>
          <a:prstGeom prst="rect">
            <a:avLst/>
          </a:prstGeom>
          <a:noFill/>
        </p:spPr>
        <p:txBody>
          <a:bodyPr wrap="square" lIns="0" rIns="0" tIns="0" bIns="0" anchor="t">
            <a:spAutoFit/>
          </a:bodyPr>
          <a:lstStyle/>
          <a:p>
            <a:pPr algn="l">
              <a:spcBef>
                <a:spcPts val="0"/>
              </a:spcBef>
              <a:spcAft>
                <a:spcPts val="500"/>
              </a:spcAft>
            </a:pPr>
            <a:r>
              <a:rPr sz="1200" b="1" i="0">
                <a:solidFill>
                  <a:srgbClr val="0E3B2B"/>
                </a:solidFill>
                <a:latin typeface="Calibri"/>
              </a:rPr>
              <a:t>Two compounding difficulties</a:t>
            </a:r>
          </a:p>
          <a:p>
            <a:pPr algn="l">
              <a:spcBef>
                <a:spcPts val="0"/>
              </a:spcBef>
              <a:spcAft>
                <a:spcPts val="0"/>
              </a:spcAft>
            </a:pPr>
            <a:r>
              <a:rPr sz="1050" b="0" i="0">
                <a:solidFill>
                  <a:srgbClr val="3A4A40"/>
                </a:solidFill>
                <a:latin typeface="Calibri"/>
              </a:rPr>
              <a:t>Yield depends on weather, soil, crop history, regional conditions and cultivation practice — and the usable Sri Lankan big onion record is very small, which makes conventional AI development hard.</a:t>
            </a:r>
          </a:p>
        </p:txBody>
      </p:sp>
      <p:sp>
        <p:nvSpPr>
          <p:cNvPr id="12" name="TextBox 11"/>
          <p:cNvSpPr txBox="1"/>
          <p:nvPr/>
        </p:nvSpPr>
        <p:spPr>
          <a:xfrm>
            <a:off x="5358384" y="1444752"/>
            <a:ext cx="6266383" cy="237744"/>
          </a:xfrm>
          <a:prstGeom prst="rect">
            <a:avLst/>
          </a:prstGeom>
          <a:noFill/>
        </p:spPr>
        <p:txBody>
          <a:bodyPr wrap="square" lIns="0" rIns="0" tIns="0" bIns="0" anchor="t">
            <a:spAutoFit/>
          </a:bodyPr>
          <a:lstStyle/>
          <a:p>
            <a:pPr algn="l">
              <a:spcBef>
                <a:spcPts val="0"/>
              </a:spcBef>
              <a:spcAft>
                <a:spcPts val="0"/>
              </a:spcAft>
            </a:pPr>
            <a:r>
              <a:rPr sz="1000" b="1" i="0" spc="140">
                <a:solidFill>
                  <a:srgbClr val="7E8A82"/>
                </a:solidFill>
                <a:latin typeface="Calibri"/>
              </a:rPr>
              <a:t>CURRENT SITUATION</a:t>
            </a:r>
          </a:p>
        </p:txBody>
      </p:sp>
      <p:sp>
        <p:nvSpPr>
          <p:cNvPr id="13" name="Rounded Rectangle 12"/>
          <p:cNvSpPr/>
          <p:nvPr/>
        </p:nvSpPr>
        <p:spPr>
          <a:xfrm>
            <a:off x="5358384" y="1719072"/>
            <a:ext cx="1429435" cy="841248"/>
          </a:xfrm>
          <a:prstGeom prst="roundRect">
            <a:avLst>
              <a:gd name="adj" fmla="val 9000"/>
            </a:avLst>
          </a:prstGeom>
          <a:solidFill>
            <a:srgbClr val="ED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2000"/>
              </a:lnSpc>
              <a:spcBef>
                <a:spcPts val="0"/>
              </a:spcBef>
              <a:spcAft>
                <a:spcPts val="0"/>
              </a:spcAft>
            </a:pPr>
            <a:r>
              <a:rPr sz="1050" b="1" i="0">
                <a:solidFill>
                  <a:srgbClr val="7E8A82"/>
                </a:solidFill>
                <a:latin typeface="Calibri"/>
              </a:rPr>
              <a:t>Field observations</a:t>
            </a:r>
          </a:p>
        </p:txBody>
      </p:sp>
      <p:sp>
        <p:nvSpPr>
          <p:cNvPr id="14" name="Right Arrow 13"/>
          <p:cNvSpPr/>
          <p:nvPr/>
        </p:nvSpPr>
        <p:spPr>
          <a:xfrm>
            <a:off x="6796963" y="2066543"/>
            <a:ext cx="164592" cy="146304"/>
          </a:xfrm>
          <a:prstGeom prst="rightArrow">
            <a:avLst/>
          </a:prstGeom>
          <a:solidFill>
            <a:srgbClr val="7E8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970699" y="1719072"/>
            <a:ext cx="1429435" cy="841248"/>
          </a:xfrm>
          <a:prstGeom prst="roundRect">
            <a:avLst>
              <a:gd name="adj" fmla="val 9000"/>
            </a:avLst>
          </a:prstGeom>
          <a:solidFill>
            <a:srgbClr val="ED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2000"/>
              </a:lnSpc>
              <a:spcBef>
                <a:spcPts val="0"/>
              </a:spcBef>
              <a:spcAft>
                <a:spcPts val="0"/>
              </a:spcAft>
            </a:pPr>
            <a:r>
              <a:rPr sz="1050" b="1" i="0">
                <a:solidFill>
                  <a:srgbClr val="7E8A82"/>
                </a:solidFill>
                <a:latin typeface="Calibri"/>
              </a:rPr>
              <a:t>Subjective estimates</a:t>
            </a:r>
          </a:p>
        </p:txBody>
      </p:sp>
      <p:sp>
        <p:nvSpPr>
          <p:cNvPr id="16" name="Right Arrow 15"/>
          <p:cNvSpPr/>
          <p:nvPr/>
        </p:nvSpPr>
        <p:spPr>
          <a:xfrm>
            <a:off x="8409279" y="2066543"/>
            <a:ext cx="164592" cy="146304"/>
          </a:xfrm>
          <a:prstGeom prst="rightArrow">
            <a:avLst/>
          </a:prstGeom>
          <a:solidFill>
            <a:srgbClr val="7E8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8583015" y="1719072"/>
            <a:ext cx="1429435" cy="841248"/>
          </a:xfrm>
          <a:prstGeom prst="roundRect">
            <a:avLst>
              <a:gd name="adj" fmla="val 9000"/>
            </a:avLst>
          </a:prstGeom>
          <a:solidFill>
            <a:srgbClr val="ED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2000"/>
              </a:lnSpc>
              <a:spcBef>
                <a:spcPts val="0"/>
              </a:spcBef>
              <a:spcAft>
                <a:spcPts val="0"/>
              </a:spcAft>
            </a:pPr>
            <a:r>
              <a:rPr sz="1050" b="1" i="0">
                <a:solidFill>
                  <a:srgbClr val="7E8A82"/>
                </a:solidFill>
                <a:latin typeface="Calibri"/>
              </a:rPr>
              <a:t>Results after harvest</a:t>
            </a:r>
          </a:p>
        </p:txBody>
      </p:sp>
      <p:sp>
        <p:nvSpPr>
          <p:cNvPr id="18" name="Right Arrow 17"/>
          <p:cNvSpPr/>
          <p:nvPr/>
        </p:nvSpPr>
        <p:spPr>
          <a:xfrm>
            <a:off x="10021595" y="2066543"/>
            <a:ext cx="164592" cy="146304"/>
          </a:xfrm>
          <a:prstGeom prst="rightArrow">
            <a:avLst/>
          </a:prstGeom>
          <a:solidFill>
            <a:srgbClr val="7E8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10195331" y="1719072"/>
            <a:ext cx="1429435" cy="841248"/>
          </a:xfrm>
          <a:prstGeom prst="roundRect">
            <a:avLst>
              <a:gd name="adj" fmla="val 9000"/>
            </a:avLst>
          </a:prstGeom>
          <a:solidFill>
            <a:srgbClr val="FBEFDC"/>
          </a:solidFill>
          <a:ln w="12700">
            <a:solidFill>
              <a:srgbClr val="ECD6AF"/>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2000"/>
              </a:lnSpc>
              <a:spcBef>
                <a:spcPts val="0"/>
              </a:spcBef>
              <a:spcAft>
                <a:spcPts val="0"/>
              </a:spcAft>
            </a:pPr>
            <a:r>
              <a:rPr sz="1050" b="1" i="0">
                <a:solidFill>
                  <a:srgbClr val="9B5A12"/>
                </a:solidFill>
                <a:latin typeface="Calibri"/>
              </a:rPr>
              <a:t>Late decisions</a:t>
            </a:r>
          </a:p>
        </p:txBody>
      </p:sp>
      <p:sp>
        <p:nvSpPr>
          <p:cNvPr id="20" name="TextBox 19"/>
          <p:cNvSpPr txBox="1"/>
          <p:nvPr/>
        </p:nvSpPr>
        <p:spPr>
          <a:xfrm>
            <a:off x="5358384" y="2999232"/>
            <a:ext cx="6266383" cy="237744"/>
          </a:xfrm>
          <a:prstGeom prst="rect">
            <a:avLst/>
          </a:prstGeom>
          <a:noFill/>
        </p:spPr>
        <p:txBody>
          <a:bodyPr wrap="square" lIns="0" rIns="0" tIns="0" bIns="0" anchor="t">
            <a:spAutoFit/>
          </a:bodyPr>
          <a:lstStyle/>
          <a:p>
            <a:pPr algn="l">
              <a:spcBef>
                <a:spcPts val="0"/>
              </a:spcBef>
              <a:spcAft>
                <a:spcPts val="0"/>
              </a:spcAft>
            </a:pPr>
            <a:r>
              <a:rPr sz="1000" b="1" i="0" spc="140">
                <a:solidFill>
                  <a:srgbClr val="2F7D4F"/>
                </a:solidFill>
                <a:latin typeface="Calibri"/>
              </a:rPr>
              <a:t>REQUIRED SITUATION</a:t>
            </a:r>
          </a:p>
        </p:txBody>
      </p:sp>
      <p:sp>
        <p:nvSpPr>
          <p:cNvPr id="21" name="Rounded Rectangle 20"/>
          <p:cNvSpPr/>
          <p:nvPr/>
        </p:nvSpPr>
        <p:spPr>
          <a:xfrm>
            <a:off x="5358384" y="3273552"/>
            <a:ext cx="1429435" cy="841248"/>
          </a:xfrm>
          <a:prstGeom prst="roundRect">
            <a:avLst>
              <a:gd name="adj" fmla="val 9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2000"/>
              </a:lnSpc>
              <a:spcBef>
                <a:spcPts val="0"/>
              </a:spcBef>
              <a:spcAft>
                <a:spcPts val="0"/>
              </a:spcAft>
            </a:pPr>
            <a:r>
              <a:rPr sz="1050" b="1" i="0">
                <a:solidFill>
                  <a:srgbClr val="0E3B2B"/>
                </a:solidFill>
                <a:latin typeface="Calibri"/>
              </a:rPr>
              <a:t>Multi-source data</a:t>
            </a:r>
          </a:p>
        </p:txBody>
      </p:sp>
      <p:sp>
        <p:nvSpPr>
          <p:cNvPr id="22" name="Right Arrow 21"/>
          <p:cNvSpPr/>
          <p:nvPr/>
        </p:nvSpPr>
        <p:spPr>
          <a:xfrm>
            <a:off x="6796963" y="3621024"/>
            <a:ext cx="164592"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970699" y="3273552"/>
            <a:ext cx="1429435" cy="841248"/>
          </a:xfrm>
          <a:prstGeom prst="roundRect">
            <a:avLst>
              <a:gd name="adj" fmla="val 9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2000"/>
              </a:lnSpc>
              <a:spcBef>
                <a:spcPts val="0"/>
              </a:spcBef>
              <a:spcAft>
                <a:spcPts val="0"/>
              </a:spcAft>
            </a:pPr>
            <a:r>
              <a:rPr sz="1050" b="1" i="0">
                <a:solidFill>
                  <a:srgbClr val="0E3B2B"/>
                </a:solidFill>
                <a:latin typeface="Calibri"/>
              </a:rPr>
              <a:t>AI prediction before harvest</a:t>
            </a:r>
          </a:p>
        </p:txBody>
      </p:sp>
      <p:sp>
        <p:nvSpPr>
          <p:cNvPr id="24" name="Right Arrow 23"/>
          <p:cNvSpPr/>
          <p:nvPr/>
        </p:nvSpPr>
        <p:spPr>
          <a:xfrm>
            <a:off x="8409279" y="3621024"/>
            <a:ext cx="164592"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583015" y="3273552"/>
            <a:ext cx="1429435" cy="841248"/>
          </a:xfrm>
          <a:prstGeom prst="roundRect">
            <a:avLst>
              <a:gd name="adj" fmla="val 9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2000"/>
              </a:lnSpc>
              <a:spcBef>
                <a:spcPts val="0"/>
              </a:spcBef>
              <a:spcAft>
                <a:spcPts val="0"/>
              </a:spcAft>
            </a:pPr>
            <a:r>
              <a:rPr sz="1050" b="1" i="0">
                <a:solidFill>
                  <a:srgbClr val="0E3B2B"/>
                </a:solidFill>
                <a:latin typeface="Calibri"/>
              </a:rPr>
              <a:t>Explainable result</a:t>
            </a:r>
          </a:p>
        </p:txBody>
      </p:sp>
      <p:sp>
        <p:nvSpPr>
          <p:cNvPr id="26" name="Right Arrow 25"/>
          <p:cNvSpPr/>
          <p:nvPr/>
        </p:nvSpPr>
        <p:spPr>
          <a:xfrm>
            <a:off x="10021595" y="3621024"/>
            <a:ext cx="164592"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10195331" y="3273552"/>
            <a:ext cx="1429435" cy="841248"/>
          </a:xfrm>
          <a:prstGeom prst="roundRect">
            <a:avLst>
              <a:gd name="adj" fmla="val 9000"/>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2000"/>
              </a:lnSpc>
              <a:spcBef>
                <a:spcPts val="0"/>
              </a:spcBef>
              <a:spcAft>
                <a:spcPts val="0"/>
              </a:spcAft>
            </a:pPr>
            <a:r>
              <a:rPr sz="1050" b="1" i="0">
                <a:solidFill>
                  <a:srgbClr val="FFFFFF"/>
                </a:solidFill>
                <a:latin typeface="Calibri"/>
              </a:rPr>
              <a:t>Early decisions</a:t>
            </a:r>
          </a:p>
        </p:txBody>
      </p:sp>
      <p:sp>
        <p:nvSpPr>
          <p:cNvPr id="28" name="Rounded Rectangle 27"/>
          <p:cNvSpPr/>
          <p:nvPr/>
        </p:nvSpPr>
        <p:spPr>
          <a:xfrm>
            <a:off x="5358384" y="4407408"/>
            <a:ext cx="6266383" cy="1645920"/>
          </a:xfrm>
          <a:prstGeom prst="roundRect">
            <a:avLst>
              <a:gd name="adj" fmla="val 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577840" y="4535424"/>
            <a:ext cx="5827471" cy="1371600"/>
          </a:xfrm>
          <a:prstGeom prst="rect">
            <a:avLst/>
          </a:prstGeom>
          <a:noFill/>
        </p:spPr>
        <p:txBody>
          <a:bodyPr wrap="square" lIns="0" rIns="0" tIns="0" bIns="0" anchor="t">
            <a:spAutoFit/>
          </a:bodyPr>
          <a:lstStyle/>
          <a:p>
            <a:pPr algn="l">
              <a:spcBef>
                <a:spcPts val="0"/>
              </a:spcBef>
              <a:spcAft>
                <a:spcPts val="600"/>
              </a:spcAft>
            </a:pPr>
            <a:r>
              <a:rPr sz="1250" b="1" i="0">
                <a:solidFill>
                  <a:srgbClr val="0E3B2B"/>
                </a:solidFill>
                <a:latin typeface="Calibri"/>
              </a:rPr>
              <a:t>What a forecast would change</a:t>
            </a:r>
          </a:p>
          <a:p>
            <a:pPr algn="l">
              <a:spcBef>
                <a:spcPts val="0"/>
              </a:spcBef>
              <a:spcAft>
                <a:spcPts val="500"/>
              </a:spcAft>
            </a:pPr>
            <a:r>
              <a:rPr sz="1050" b="0" i="0">
                <a:solidFill>
                  <a:srgbClr val="3A4A40"/>
                </a:solidFill>
                <a:latin typeface="Calibri"/>
              </a:rPr>
              <a:t>Import sizing  —  size imports against an evidence-based expectation of the domestic crop rather than last year's outcome.</a:t>
            </a:r>
          </a:p>
          <a:p>
            <a:pPr algn="l">
              <a:spcBef>
                <a:spcPts val="0"/>
              </a:spcBef>
              <a:spcAft>
                <a:spcPts val="500"/>
              </a:spcAft>
            </a:pPr>
            <a:r>
              <a:rPr sz="1050" b="0" i="0">
                <a:solidFill>
                  <a:srgbClr val="3A4A40"/>
                </a:solidFill>
                <a:latin typeface="Calibri"/>
              </a:rPr>
              <a:t>Field intervention  —  identify districts trending towards a shortfall while irrigation or pest advice can still help.</a:t>
            </a:r>
          </a:p>
          <a:p>
            <a:pPr algn="l">
              <a:spcBef>
                <a:spcPts val="0"/>
              </a:spcBef>
              <a:spcAft>
                <a:spcPts val="0"/>
              </a:spcAft>
            </a:pPr>
            <a:r>
              <a:rPr sz="1050" b="0" i="0">
                <a:solidFill>
                  <a:srgbClr val="3A4A40"/>
                </a:solidFill>
                <a:latin typeface="Calibri"/>
              </a:rPr>
              <a:t>Negotiating power  —  give farmer organisations a defensible basis for forward prices with collectors.</a:t>
            </a:r>
          </a:p>
        </p:txBody>
      </p:sp>
      <p:sp>
        <p:nvSpPr>
          <p:cNvPr id="30" name="Rectangle 29"/>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Agro AI  ·  Big Onion Yield Prediction  ·  University of Moratuwa</a:t>
            </a:r>
          </a:p>
        </p:txBody>
      </p:sp>
      <p:sp>
        <p:nvSpPr>
          <p:cNvPr id="32" name="TextBox 31"/>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Arkam B.H.M.   |   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1  ·  INTRODUCTION</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Proposed Solution, Aim and Users</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An explainable AI-driven decision support system</a:t>
            </a:r>
          </a:p>
        </p:txBody>
      </p:sp>
      <p:sp>
        <p:nvSpPr>
          <p:cNvPr id="7" name="Rounded Rectangle 6"/>
          <p:cNvSpPr/>
          <p:nvPr/>
        </p:nvSpPr>
        <p:spPr>
          <a:xfrm>
            <a:off x="566928" y="1444752"/>
            <a:ext cx="2476423" cy="969264"/>
          </a:xfrm>
          <a:prstGeom prst="roundRect">
            <a:avLst>
              <a:gd name="adj" fmla="val 9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lnSpc>
                <a:spcPct val="92000"/>
              </a:lnSpc>
              <a:spcBef>
                <a:spcPts val="0"/>
              </a:spcBef>
              <a:spcAft>
                <a:spcPts val="200"/>
              </a:spcAft>
            </a:pPr>
            <a:r>
              <a:rPr sz="1250" b="1" i="0">
                <a:solidFill>
                  <a:srgbClr val="0E3B2B"/>
                </a:solidFill>
                <a:latin typeface="Calibri"/>
              </a:rPr>
              <a:t>Data Sources</a:t>
            </a:r>
          </a:p>
          <a:p>
            <a:pPr algn="ctr">
              <a:lnSpc>
                <a:spcPct val="95000"/>
              </a:lnSpc>
              <a:spcBef>
                <a:spcPts val="0"/>
              </a:spcBef>
              <a:spcAft>
                <a:spcPts val="0"/>
              </a:spcAft>
            </a:pPr>
            <a:r>
              <a:rPr sz="900" b="0" i="0">
                <a:solidFill>
                  <a:srgbClr val="6B7A70"/>
                </a:solidFill>
                <a:latin typeface="Calibri"/>
              </a:rPr>
              <a:t>Yield · Weather · Soil · Satellite</a:t>
            </a:r>
          </a:p>
        </p:txBody>
      </p:sp>
      <p:sp>
        <p:nvSpPr>
          <p:cNvPr id="8" name="Right Arrow 7"/>
          <p:cNvSpPr/>
          <p:nvPr/>
        </p:nvSpPr>
        <p:spPr>
          <a:xfrm>
            <a:off x="3098215" y="1856231"/>
            <a:ext cx="274320"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3427399" y="1444752"/>
            <a:ext cx="2476423" cy="969264"/>
          </a:xfrm>
          <a:prstGeom prst="roundRect">
            <a:avLst>
              <a:gd name="adj" fmla="val 9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lnSpc>
                <a:spcPct val="92000"/>
              </a:lnSpc>
              <a:spcBef>
                <a:spcPts val="0"/>
              </a:spcBef>
              <a:spcAft>
                <a:spcPts val="200"/>
              </a:spcAft>
            </a:pPr>
            <a:r>
              <a:rPr sz="1250" b="1" i="0">
                <a:solidFill>
                  <a:srgbClr val="0E3B2B"/>
                </a:solidFill>
                <a:latin typeface="Calibri"/>
              </a:rPr>
              <a:t>Data Pipeline</a:t>
            </a:r>
          </a:p>
          <a:p>
            <a:pPr algn="ctr">
              <a:lnSpc>
                <a:spcPct val="95000"/>
              </a:lnSpc>
              <a:spcBef>
                <a:spcPts val="0"/>
              </a:spcBef>
              <a:spcAft>
                <a:spcPts val="0"/>
              </a:spcAft>
            </a:pPr>
            <a:r>
              <a:rPr sz="900" b="0" i="0">
                <a:solidFill>
                  <a:srgbClr val="6B7A70"/>
                </a:solidFill>
                <a:latin typeface="Calibri"/>
              </a:rPr>
              <a:t>Clean · Reconcile · Engineer features</a:t>
            </a:r>
          </a:p>
        </p:txBody>
      </p:sp>
      <p:sp>
        <p:nvSpPr>
          <p:cNvPr id="10" name="Right Arrow 9"/>
          <p:cNvSpPr/>
          <p:nvPr/>
        </p:nvSpPr>
        <p:spPr>
          <a:xfrm>
            <a:off x="5958687" y="1856231"/>
            <a:ext cx="274320"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287871" y="1444752"/>
            <a:ext cx="2476423" cy="969264"/>
          </a:xfrm>
          <a:prstGeom prst="roundRect">
            <a:avLst>
              <a:gd name="adj" fmla="val 9000"/>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lnSpc>
                <a:spcPct val="92000"/>
              </a:lnSpc>
              <a:spcBef>
                <a:spcPts val="0"/>
              </a:spcBef>
              <a:spcAft>
                <a:spcPts val="200"/>
              </a:spcAft>
            </a:pPr>
            <a:r>
              <a:rPr sz="1250" b="1" i="0">
                <a:solidFill>
                  <a:srgbClr val="FFFFFF"/>
                </a:solidFill>
                <a:latin typeface="Calibri"/>
              </a:rPr>
              <a:t>Prediction Engine</a:t>
            </a:r>
          </a:p>
          <a:p>
            <a:pPr algn="ctr">
              <a:lnSpc>
                <a:spcPct val="95000"/>
              </a:lnSpc>
              <a:spcBef>
                <a:spcPts val="0"/>
              </a:spcBef>
              <a:spcAft>
                <a:spcPts val="0"/>
              </a:spcAft>
            </a:pPr>
            <a:r>
              <a:rPr sz="900" b="0" i="0">
                <a:solidFill>
                  <a:srgbClr val="BFD7C6"/>
                </a:solidFill>
                <a:latin typeface="Calibri"/>
              </a:rPr>
              <a:t>Train · Compare · Combine · Calibrate</a:t>
            </a:r>
          </a:p>
        </p:txBody>
      </p:sp>
      <p:sp>
        <p:nvSpPr>
          <p:cNvPr id="12" name="Right Arrow 11"/>
          <p:cNvSpPr/>
          <p:nvPr/>
        </p:nvSpPr>
        <p:spPr>
          <a:xfrm>
            <a:off x="8819159" y="1856231"/>
            <a:ext cx="274320"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9148343" y="1444752"/>
            <a:ext cx="2476423" cy="969264"/>
          </a:xfrm>
          <a:prstGeom prst="roundRect">
            <a:avLst>
              <a:gd name="adj" fmla="val 9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lnSpc>
                <a:spcPct val="92000"/>
              </a:lnSpc>
              <a:spcBef>
                <a:spcPts val="0"/>
              </a:spcBef>
              <a:spcAft>
                <a:spcPts val="200"/>
              </a:spcAft>
            </a:pPr>
            <a:r>
              <a:rPr sz="1250" b="1" i="0">
                <a:solidFill>
                  <a:srgbClr val="FFFFFF"/>
                </a:solidFill>
                <a:latin typeface="Calibri"/>
              </a:rPr>
              <a:t>Explainability &amp; Decision Support</a:t>
            </a:r>
          </a:p>
          <a:p>
            <a:pPr algn="ctr">
              <a:lnSpc>
                <a:spcPct val="95000"/>
              </a:lnSpc>
              <a:spcBef>
                <a:spcPts val="0"/>
              </a:spcBef>
              <a:spcAft>
                <a:spcPts val="0"/>
              </a:spcAft>
            </a:pPr>
            <a:r>
              <a:rPr sz="900" b="0" i="0">
                <a:solidFill>
                  <a:srgbClr val="BFD7C6"/>
                </a:solidFill>
                <a:latin typeface="Calibri"/>
              </a:rPr>
              <a:t>SHAP · ERI · Dashboard · Assistant</a:t>
            </a:r>
          </a:p>
        </p:txBody>
      </p:sp>
      <p:sp>
        <p:nvSpPr>
          <p:cNvPr id="14" name="Rounded Rectangle 13"/>
          <p:cNvSpPr/>
          <p:nvPr/>
        </p:nvSpPr>
        <p:spPr>
          <a:xfrm>
            <a:off x="566928" y="2670048"/>
            <a:ext cx="6903720" cy="2395728"/>
          </a:xfrm>
          <a:prstGeom prst="roundRect">
            <a:avLst>
              <a:gd name="adj" fmla="val 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86384" y="2798064"/>
            <a:ext cx="6492240" cy="274320"/>
          </a:xfrm>
          <a:prstGeom prst="rect">
            <a:avLst/>
          </a:prstGeom>
          <a:noFill/>
        </p:spPr>
        <p:txBody>
          <a:bodyPr wrap="square" lIns="0" rIns="0" tIns="0" bIns="0" anchor="t">
            <a:spAutoFit/>
          </a:bodyPr>
          <a:lstStyle/>
          <a:p>
            <a:pPr algn="l">
              <a:spcBef>
                <a:spcPts val="0"/>
              </a:spcBef>
              <a:spcAft>
                <a:spcPts val="0"/>
              </a:spcAft>
            </a:pPr>
            <a:r>
              <a:rPr sz="1250" b="1" i="0">
                <a:solidFill>
                  <a:srgbClr val="0E3B2B"/>
                </a:solidFill>
                <a:latin typeface="Calibri"/>
              </a:rPr>
              <a:t>What the system delivers</a:t>
            </a:r>
          </a:p>
        </p:txBody>
      </p:sp>
      <p:sp>
        <p:nvSpPr>
          <p:cNvPr id="16" name="Oval 15"/>
          <p:cNvSpPr/>
          <p:nvPr/>
        </p:nvSpPr>
        <p:spPr>
          <a:xfrm>
            <a:off x="786384" y="3209544"/>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17" name="TextBox 16"/>
          <p:cNvSpPr txBox="1"/>
          <p:nvPr/>
        </p:nvSpPr>
        <p:spPr>
          <a:xfrm>
            <a:off x="1060704" y="3145536"/>
            <a:ext cx="2944368" cy="54864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District-level yield forecast issued before harvest</a:t>
            </a:r>
          </a:p>
        </p:txBody>
      </p:sp>
      <p:sp>
        <p:nvSpPr>
          <p:cNvPr id="18" name="Oval 17"/>
          <p:cNvSpPr/>
          <p:nvPr/>
        </p:nvSpPr>
        <p:spPr>
          <a:xfrm>
            <a:off x="4096512" y="3209544"/>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19" name="TextBox 18"/>
          <p:cNvSpPr txBox="1"/>
          <p:nvPr/>
        </p:nvSpPr>
        <p:spPr>
          <a:xfrm>
            <a:off x="4370832" y="3145536"/>
            <a:ext cx="2944368" cy="54864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Prediction expressed in metric tons per hectare</a:t>
            </a:r>
          </a:p>
        </p:txBody>
      </p:sp>
      <p:sp>
        <p:nvSpPr>
          <p:cNvPr id="20" name="Oval 19"/>
          <p:cNvSpPr/>
          <p:nvPr/>
        </p:nvSpPr>
        <p:spPr>
          <a:xfrm>
            <a:off x="786384" y="3813048"/>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21" name="TextBox 20"/>
          <p:cNvSpPr txBox="1"/>
          <p:nvPr/>
        </p:nvSpPr>
        <p:spPr>
          <a:xfrm>
            <a:off x="1060704" y="3749039"/>
            <a:ext cx="2944368" cy="54864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A calibrated uncertainty interval, not a bare number</a:t>
            </a:r>
          </a:p>
        </p:txBody>
      </p:sp>
      <p:sp>
        <p:nvSpPr>
          <p:cNvPr id="22" name="Oval 21"/>
          <p:cNvSpPr/>
          <p:nvPr/>
        </p:nvSpPr>
        <p:spPr>
          <a:xfrm>
            <a:off x="4096512" y="3813048"/>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23" name="TextBox 22"/>
          <p:cNvSpPr txBox="1"/>
          <p:nvPr/>
        </p:nvSpPr>
        <p:spPr>
          <a:xfrm>
            <a:off x="4370832" y="3749039"/>
            <a:ext cx="2944368" cy="54864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The factors that drove each individual prediction</a:t>
            </a:r>
          </a:p>
        </p:txBody>
      </p:sp>
      <p:sp>
        <p:nvSpPr>
          <p:cNvPr id="24" name="Oval 23"/>
          <p:cNvSpPr/>
          <p:nvPr/>
        </p:nvSpPr>
        <p:spPr>
          <a:xfrm>
            <a:off x="786384" y="4416552"/>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25" name="TextBox 24"/>
          <p:cNvSpPr txBox="1"/>
          <p:nvPr/>
        </p:nvSpPr>
        <p:spPr>
          <a:xfrm>
            <a:off x="1060704" y="4352544"/>
            <a:ext cx="2944368" cy="54864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Comparison across districts and across years</a:t>
            </a:r>
          </a:p>
        </p:txBody>
      </p:sp>
      <p:sp>
        <p:nvSpPr>
          <p:cNvPr id="26" name="Oval 25"/>
          <p:cNvSpPr/>
          <p:nvPr/>
        </p:nvSpPr>
        <p:spPr>
          <a:xfrm>
            <a:off x="4096512" y="4416552"/>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27" name="TextBox 26"/>
          <p:cNvSpPr txBox="1"/>
          <p:nvPr/>
        </p:nvSpPr>
        <p:spPr>
          <a:xfrm>
            <a:off x="4370832" y="4352544"/>
            <a:ext cx="2944368" cy="54864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Interactive dashboard in English, Sinhala and Tamil</a:t>
            </a:r>
          </a:p>
        </p:txBody>
      </p:sp>
      <p:sp>
        <p:nvSpPr>
          <p:cNvPr id="28" name="Rounded Rectangle 27"/>
          <p:cNvSpPr/>
          <p:nvPr/>
        </p:nvSpPr>
        <p:spPr>
          <a:xfrm>
            <a:off x="7699248" y="2670048"/>
            <a:ext cx="3925519" cy="2395728"/>
          </a:xfrm>
          <a:prstGeom prst="roundRect">
            <a:avLst>
              <a:gd name="adj" fmla="val 5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918704" y="2798064"/>
            <a:ext cx="3486607" cy="274320"/>
          </a:xfrm>
          <a:prstGeom prst="rect">
            <a:avLst/>
          </a:prstGeom>
          <a:noFill/>
        </p:spPr>
        <p:txBody>
          <a:bodyPr wrap="square" lIns="0" rIns="0" tIns="0" bIns="0" anchor="t">
            <a:spAutoFit/>
          </a:bodyPr>
          <a:lstStyle/>
          <a:p>
            <a:pPr algn="l">
              <a:spcBef>
                <a:spcPts val="0"/>
              </a:spcBef>
              <a:spcAft>
                <a:spcPts val="0"/>
              </a:spcAft>
            </a:pPr>
            <a:r>
              <a:rPr sz="1250" b="1" i="0">
                <a:solidFill>
                  <a:srgbClr val="FFFFFF"/>
                </a:solidFill>
                <a:latin typeface="Calibri"/>
              </a:rPr>
              <a:t>Primary users</a:t>
            </a:r>
          </a:p>
        </p:txBody>
      </p:sp>
      <p:sp>
        <p:nvSpPr>
          <p:cNvPr id="30" name="Rounded Rectangle 29"/>
          <p:cNvSpPr/>
          <p:nvPr/>
        </p:nvSpPr>
        <p:spPr>
          <a:xfrm>
            <a:off x="7918704" y="3145536"/>
            <a:ext cx="3486607" cy="301752"/>
          </a:xfrm>
          <a:prstGeom prst="roundRect">
            <a:avLst>
              <a:gd name="adj" fmla="val 30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FFFFFF"/>
                </a:solidFill>
                <a:latin typeface="Calibri"/>
              </a:rPr>
              <a:t>Department of Census and Statistics</a:t>
            </a:r>
          </a:p>
        </p:txBody>
      </p:sp>
      <p:sp>
        <p:nvSpPr>
          <p:cNvPr id="31" name="Rounded Rectangle 30"/>
          <p:cNvSpPr/>
          <p:nvPr/>
        </p:nvSpPr>
        <p:spPr>
          <a:xfrm>
            <a:off x="7918704" y="3511296"/>
            <a:ext cx="3486607" cy="301752"/>
          </a:xfrm>
          <a:prstGeom prst="roundRect">
            <a:avLst>
              <a:gd name="adj" fmla="val 30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FFFFFF"/>
                </a:solidFill>
                <a:latin typeface="Calibri"/>
              </a:rPr>
              <a:t>Department of Agriculture &amp; Ministry officials</a:t>
            </a:r>
          </a:p>
        </p:txBody>
      </p:sp>
      <p:sp>
        <p:nvSpPr>
          <p:cNvPr id="32" name="Rounded Rectangle 31"/>
          <p:cNvSpPr/>
          <p:nvPr/>
        </p:nvSpPr>
        <p:spPr>
          <a:xfrm>
            <a:off x="7918704" y="3877056"/>
            <a:ext cx="3486607" cy="301752"/>
          </a:xfrm>
          <a:prstGeom prst="roundRect">
            <a:avLst>
              <a:gd name="adj" fmla="val 30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FFFFFF"/>
                </a:solidFill>
                <a:latin typeface="Calibri"/>
              </a:rPr>
              <a:t>District agricultural officers</a:t>
            </a:r>
          </a:p>
        </p:txBody>
      </p:sp>
      <p:sp>
        <p:nvSpPr>
          <p:cNvPr id="33" name="Rounded Rectangle 32"/>
          <p:cNvSpPr/>
          <p:nvPr/>
        </p:nvSpPr>
        <p:spPr>
          <a:xfrm>
            <a:off x="7918704" y="4242816"/>
            <a:ext cx="3486607" cy="301752"/>
          </a:xfrm>
          <a:prstGeom prst="roundRect">
            <a:avLst>
              <a:gd name="adj" fmla="val 30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FFFFFF"/>
                </a:solidFill>
                <a:latin typeface="Calibri"/>
              </a:rPr>
              <a:t>Farmer organisations</a:t>
            </a:r>
          </a:p>
        </p:txBody>
      </p:sp>
      <p:sp>
        <p:nvSpPr>
          <p:cNvPr id="34" name="Rounded Rectangle 33"/>
          <p:cNvSpPr/>
          <p:nvPr/>
        </p:nvSpPr>
        <p:spPr>
          <a:xfrm>
            <a:off x="7918704" y="4608576"/>
            <a:ext cx="3486607" cy="301752"/>
          </a:xfrm>
          <a:prstGeom prst="roundRect">
            <a:avLst>
              <a:gd name="adj" fmla="val 30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FFFFFF"/>
                </a:solidFill>
                <a:latin typeface="Calibri"/>
              </a:rPr>
              <a:t>Researchers and students</a:t>
            </a:r>
          </a:p>
        </p:txBody>
      </p:sp>
      <p:sp>
        <p:nvSpPr>
          <p:cNvPr id="35" name="Rounded Rectangle 34"/>
          <p:cNvSpPr/>
          <p:nvPr/>
        </p:nvSpPr>
        <p:spPr>
          <a:xfrm>
            <a:off x="566928" y="5266944"/>
            <a:ext cx="11057839" cy="786384"/>
          </a:xfrm>
          <a:prstGeom prst="roundRect">
            <a:avLst>
              <a:gd name="adj" fmla="val 14000"/>
            </a:avLst>
          </a:prstGeom>
          <a:solidFill>
            <a:srgbClr val="FBEFDC"/>
          </a:solidFill>
          <a:ln w="12700">
            <a:solidFill>
              <a:srgbClr val="ECD6A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lstStyle/>
          <a:p>
            <a:pPr algn="ctr">
              <a:spcBef>
                <a:spcPts val="0"/>
              </a:spcBef>
              <a:spcAft>
                <a:spcPts val="0"/>
              </a:spcAft>
            </a:pPr>
            <a:r>
              <a:rPr sz="1150" b="1" i="0">
                <a:solidFill>
                  <a:srgbClr val="9B5A12"/>
                </a:solidFill>
                <a:latin typeface="Calibri"/>
              </a:rPr>
              <a:t>Scope   ·   Yala season — the crop's principal commercial season   ·   Matale · Anuradhapura · Polonnaruwa · Kurunegala   ·   Output: average yield in MT / Ha with a prediction interval</a:t>
            </a:r>
          </a:p>
        </p:txBody>
      </p:sp>
      <p:sp>
        <p:nvSpPr>
          <p:cNvPr id="36" name="Rectangle 35"/>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Agro AI  ·  Big Onion Yield Prediction  ·  University of Moratuwa</a:t>
            </a:r>
          </a:p>
        </p:txBody>
      </p:sp>
      <p:sp>
        <p:nvSpPr>
          <p:cNvPr id="38" name="TextBox 37"/>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Arkam B.H.M.   |   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1</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Data Pipeline and Feature Engineering</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Turning eight heterogeneous sources into one trustworthy dataset</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1  ·  Data Pipeline</a:t>
            </a:r>
          </a:p>
        </p:txBody>
      </p:sp>
      <p:sp>
        <p:nvSpPr>
          <p:cNvPr id="8" name="Rounded Rectangle 7"/>
          <p:cNvSpPr/>
          <p:nvPr/>
        </p:nvSpPr>
        <p:spPr>
          <a:xfrm>
            <a:off x="566928" y="1481328"/>
            <a:ext cx="3127248" cy="4535424"/>
          </a:xfrm>
          <a:prstGeom prst="roundRect">
            <a:avLst>
              <a:gd name="adj" fmla="val 5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1645920"/>
            <a:ext cx="2651760" cy="914400"/>
          </a:xfrm>
          <a:prstGeom prst="rect">
            <a:avLst/>
          </a:prstGeom>
          <a:noFill/>
        </p:spPr>
        <p:txBody>
          <a:bodyPr wrap="square" lIns="0" rIns="0" tIns="0" bIns="0" anchor="t">
            <a:spAutoFit/>
          </a:bodyPr>
          <a:lstStyle/>
          <a:p>
            <a:pPr algn="l">
              <a:lnSpc>
                <a:spcPct val="85000"/>
              </a:lnSpc>
              <a:spcBef>
                <a:spcPts val="0"/>
              </a:spcBef>
              <a:spcAft>
                <a:spcPts val="0"/>
              </a:spcAft>
            </a:pPr>
            <a:r>
              <a:rPr sz="4400" b="1" i="0">
                <a:solidFill>
                  <a:srgbClr val="C87A1E"/>
                </a:solidFill>
                <a:latin typeface="Calibri"/>
              </a:rPr>
              <a:t>01</a:t>
            </a:r>
          </a:p>
        </p:txBody>
      </p:sp>
      <p:sp>
        <p:nvSpPr>
          <p:cNvPr id="10" name="TextBox 9"/>
          <p:cNvSpPr txBox="1"/>
          <p:nvPr/>
        </p:nvSpPr>
        <p:spPr>
          <a:xfrm>
            <a:off x="804672" y="2468880"/>
            <a:ext cx="2651760" cy="3383280"/>
          </a:xfrm>
          <a:prstGeom prst="rect">
            <a:avLst/>
          </a:prstGeom>
          <a:noFill/>
        </p:spPr>
        <p:txBody>
          <a:bodyPr wrap="square" lIns="0" rIns="0" tIns="0" bIns="0" anchor="t">
            <a:spAutoFit/>
          </a:bodyPr>
          <a:lstStyle/>
          <a:p>
            <a:pPr algn="l">
              <a:lnSpc>
                <a:spcPct val="95000"/>
              </a:lnSpc>
              <a:spcBef>
                <a:spcPts val="0"/>
              </a:spcBef>
              <a:spcAft>
                <a:spcPts val="800"/>
              </a:spcAft>
            </a:pPr>
            <a:r>
              <a:rPr sz="1550" b="1" i="0">
                <a:solidFill>
                  <a:srgbClr val="FFFFFF"/>
                </a:solidFill>
                <a:latin typeface="Calibri"/>
              </a:rPr>
              <a:t>Data Pipeline and
Feature Engineering</a:t>
            </a:r>
          </a:p>
          <a:p>
            <a:pPr algn="l">
              <a:spcBef>
                <a:spcPts val="0"/>
              </a:spcBef>
              <a:spcAft>
                <a:spcPts val="400"/>
              </a:spcAft>
            </a:pPr>
            <a:r>
              <a:rPr sz="900" b="1" i="0" spc="120">
                <a:solidFill>
                  <a:srgbClr val="C87A1E"/>
                </a:solidFill>
                <a:latin typeface="Calibri"/>
              </a:rPr>
              <a:t>MAIN RESPONSIBILITY</a:t>
            </a:r>
          </a:p>
          <a:p>
            <a:pPr algn="l">
              <a:spcBef>
                <a:spcPts val="0"/>
              </a:spcBef>
              <a:spcAft>
                <a:spcPts val="800"/>
              </a:spcAft>
            </a:pPr>
            <a:r>
              <a:rPr sz="1100" b="0" i="0">
                <a:solidFill>
                  <a:srgbClr val="C8DFD1"/>
                </a:solidFill>
                <a:latin typeface="Calibri"/>
              </a:rPr>
              <a:t>Collect, clean, reconcile, transform and integrate heterogeneous agricultural data into a reliable machine-learning dataset.</a:t>
            </a:r>
          </a:p>
          <a:p>
            <a:pPr algn="l">
              <a:spcBef>
                <a:spcPts val="0"/>
              </a:spcBef>
              <a:spcAft>
                <a:spcPts val="400"/>
              </a:spcAft>
            </a:pPr>
            <a:r>
              <a:rPr sz="900" b="1" i="0" spc="120">
                <a:solidFill>
                  <a:srgbClr val="C87A1E"/>
                </a:solidFill>
                <a:latin typeface="Calibri"/>
              </a:rPr>
              <a:t>OWNER</a:t>
            </a:r>
          </a:p>
          <a:p>
            <a:pPr algn="l">
              <a:spcBef>
                <a:spcPts val="0"/>
              </a:spcBef>
              <a:spcAft>
                <a:spcPts val="0"/>
              </a:spcAft>
            </a:pPr>
            <a:r>
              <a:rPr sz="1100" b="1" i="0">
                <a:solidFill>
                  <a:srgbClr val="FFFFFF"/>
                </a:solidFill>
                <a:latin typeface="Calibri"/>
              </a:rPr>
              <a:t>Sharuja B.  ·  214192G</a:t>
            </a:r>
          </a:p>
        </p:txBody>
      </p:sp>
      <p:sp>
        <p:nvSpPr>
          <p:cNvPr id="11" name="Rectangle 10"/>
          <p:cNvSpPr/>
          <p:nvPr/>
        </p:nvSpPr>
        <p:spPr>
          <a:xfrm>
            <a:off x="804672" y="5230368"/>
            <a:ext cx="2651760" cy="10972"/>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4672" y="5358384"/>
            <a:ext cx="2651760" cy="548640"/>
          </a:xfrm>
          <a:prstGeom prst="rect">
            <a:avLst/>
          </a:prstGeom>
          <a:noFill/>
        </p:spPr>
        <p:txBody>
          <a:bodyPr wrap="square" lIns="0" rIns="0" tIns="0" bIns="0" anchor="t">
            <a:spAutoFit/>
          </a:bodyPr>
          <a:lstStyle/>
          <a:p>
            <a:pPr algn="l">
              <a:lnSpc>
                <a:spcPct val="102000"/>
              </a:lnSpc>
              <a:spcBef>
                <a:spcPts val="0"/>
              </a:spcBef>
              <a:spcAft>
                <a:spcPts val="0"/>
              </a:spcAft>
            </a:pPr>
            <a:r>
              <a:rPr sz="950" b="0" i="0">
                <a:solidFill>
                  <a:srgbClr val="BFD7C6"/>
                </a:solidFill>
                <a:latin typeface="Calibri"/>
              </a:rPr>
              <a:t>Eight raw source files reduced to one analysis dataset at the district–season–year grain.</a:t>
            </a:r>
          </a:p>
        </p:txBody>
      </p:sp>
      <p:sp>
        <p:nvSpPr>
          <p:cNvPr id="13" name="Rounded Rectangle 12"/>
          <p:cNvSpPr/>
          <p:nvPr/>
        </p:nvSpPr>
        <p:spPr>
          <a:xfrm>
            <a:off x="4005072" y="1481328"/>
            <a:ext cx="3672687" cy="2130552"/>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4224528" y="1700784"/>
            <a:ext cx="384048" cy="384048"/>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400" b="1" i="0">
                <a:solidFill>
                  <a:srgbClr val="FFFFFF"/>
                </a:solidFill>
                <a:latin typeface="Calibri"/>
              </a:rPr>
              <a:t>Y</a:t>
            </a:r>
          </a:p>
        </p:txBody>
      </p:sp>
      <p:sp>
        <p:nvSpPr>
          <p:cNvPr id="15" name="TextBox 14"/>
          <p:cNvSpPr txBox="1"/>
          <p:nvPr/>
        </p:nvSpPr>
        <p:spPr>
          <a:xfrm>
            <a:off x="4718304" y="1719072"/>
            <a:ext cx="2758287" cy="457200"/>
          </a:xfrm>
          <a:prstGeom prst="rect">
            <a:avLst/>
          </a:prstGeom>
          <a:noFill/>
        </p:spPr>
        <p:txBody>
          <a:bodyPr wrap="square" lIns="0" rIns="0" tIns="0" bIns="0" anchor="t">
            <a:spAutoFit/>
          </a:bodyPr>
          <a:lstStyle/>
          <a:p>
            <a:pPr algn="l">
              <a:lnSpc>
                <a:spcPct val="95000"/>
              </a:lnSpc>
              <a:spcBef>
                <a:spcPts val="0"/>
              </a:spcBef>
              <a:spcAft>
                <a:spcPts val="0"/>
              </a:spcAft>
            </a:pPr>
            <a:r>
              <a:rPr sz="1250" b="1" i="0">
                <a:solidFill>
                  <a:srgbClr val="0E3B2B"/>
                </a:solidFill>
                <a:latin typeface="Calibri"/>
              </a:rPr>
              <a:t>Historical yield &amp; cultivated extent</a:t>
            </a:r>
          </a:p>
        </p:txBody>
      </p:sp>
      <p:sp>
        <p:nvSpPr>
          <p:cNvPr id="16" name="TextBox 15"/>
          <p:cNvSpPr txBox="1"/>
          <p:nvPr/>
        </p:nvSpPr>
        <p:spPr>
          <a:xfrm>
            <a:off x="4224528" y="2322576"/>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  Department of Census and Statistics</a:t>
            </a:r>
          </a:p>
        </p:txBody>
      </p:sp>
      <p:sp>
        <p:nvSpPr>
          <p:cNvPr id="17" name="TextBox 16"/>
          <p:cNvSpPr txBox="1"/>
          <p:nvPr/>
        </p:nvSpPr>
        <p:spPr>
          <a:xfrm>
            <a:off x="4224528" y="2706624"/>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  FAOSTAT</a:t>
            </a:r>
          </a:p>
        </p:txBody>
      </p:sp>
      <p:sp>
        <p:nvSpPr>
          <p:cNvPr id="18" name="TextBox 17"/>
          <p:cNvSpPr txBox="1"/>
          <p:nvPr/>
        </p:nvSpPr>
        <p:spPr>
          <a:xfrm>
            <a:off x="4224528" y="3090672"/>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6B7A70"/>
                </a:solidFill>
                <a:latin typeface="Calibri"/>
              </a:rPr>
              <a:t>—  District · season · year — prediction target</a:t>
            </a:r>
          </a:p>
        </p:txBody>
      </p:sp>
      <p:sp>
        <p:nvSpPr>
          <p:cNvPr id="19" name="Rounded Rectangle 18"/>
          <p:cNvSpPr/>
          <p:nvPr/>
        </p:nvSpPr>
        <p:spPr>
          <a:xfrm>
            <a:off x="7952079" y="1481328"/>
            <a:ext cx="3672687" cy="2130552"/>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171535" y="1700784"/>
            <a:ext cx="384048" cy="384048"/>
          </a:xfrm>
          <a:prstGeom prst="ellipse">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400" b="1" i="0">
                <a:solidFill>
                  <a:srgbClr val="FFFFFF"/>
                </a:solidFill>
                <a:latin typeface="Calibri"/>
              </a:rPr>
              <a:t>W</a:t>
            </a:r>
          </a:p>
        </p:txBody>
      </p:sp>
      <p:sp>
        <p:nvSpPr>
          <p:cNvPr id="21" name="TextBox 20"/>
          <p:cNvSpPr txBox="1"/>
          <p:nvPr/>
        </p:nvSpPr>
        <p:spPr>
          <a:xfrm>
            <a:off x="8665311" y="1719072"/>
            <a:ext cx="2758287" cy="457200"/>
          </a:xfrm>
          <a:prstGeom prst="rect">
            <a:avLst/>
          </a:prstGeom>
          <a:noFill/>
        </p:spPr>
        <p:txBody>
          <a:bodyPr wrap="square" lIns="0" rIns="0" tIns="0" bIns="0" anchor="t">
            <a:spAutoFit/>
          </a:bodyPr>
          <a:lstStyle/>
          <a:p>
            <a:pPr algn="l">
              <a:lnSpc>
                <a:spcPct val="95000"/>
              </a:lnSpc>
              <a:spcBef>
                <a:spcPts val="0"/>
              </a:spcBef>
              <a:spcAft>
                <a:spcPts val="0"/>
              </a:spcAft>
            </a:pPr>
            <a:r>
              <a:rPr sz="1250" b="1" i="0">
                <a:solidFill>
                  <a:srgbClr val="0E3B2B"/>
                </a:solidFill>
                <a:latin typeface="Calibri"/>
              </a:rPr>
              <a:t>Daily weather</a:t>
            </a:r>
          </a:p>
        </p:txBody>
      </p:sp>
      <p:sp>
        <p:nvSpPr>
          <p:cNvPr id="22" name="TextBox 21"/>
          <p:cNvSpPr txBox="1"/>
          <p:nvPr/>
        </p:nvSpPr>
        <p:spPr>
          <a:xfrm>
            <a:off x="8171535" y="2322576"/>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  NASA POWER reanalysis</a:t>
            </a:r>
          </a:p>
        </p:txBody>
      </p:sp>
      <p:sp>
        <p:nvSpPr>
          <p:cNvPr id="23" name="TextBox 22"/>
          <p:cNvSpPr txBox="1"/>
          <p:nvPr/>
        </p:nvSpPr>
        <p:spPr>
          <a:xfrm>
            <a:off x="8171535" y="2706624"/>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  CHIRPS rainfall</a:t>
            </a:r>
          </a:p>
        </p:txBody>
      </p:sp>
      <p:sp>
        <p:nvSpPr>
          <p:cNvPr id="24" name="TextBox 23"/>
          <p:cNvSpPr txBox="1"/>
          <p:nvPr/>
        </p:nvSpPr>
        <p:spPr>
          <a:xfrm>
            <a:off x="8171535" y="3090672"/>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6B7A70"/>
                </a:solidFill>
                <a:latin typeface="Calibri"/>
              </a:rPr>
              <a:t>—  Temperature · rainfall · humidity · radiation</a:t>
            </a:r>
          </a:p>
        </p:txBody>
      </p:sp>
      <p:sp>
        <p:nvSpPr>
          <p:cNvPr id="25" name="Rounded Rectangle 24"/>
          <p:cNvSpPr/>
          <p:nvPr/>
        </p:nvSpPr>
        <p:spPr>
          <a:xfrm>
            <a:off x="4005072" y="3886200"/>
            <a:ext cx="3672687" cy="2130552"/>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4224528" y="4105656"/>
            <a:ext cx="384048" cy="384048"/>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400" b="1" i="0">
                <a:solidFill>
                  <a:srgbClr val="FFFFFF"/>
                </a:solidFill>
                <a:latin typeface="Calibri"/>
              </a:rPr>
              <a:t>S</a:t>
            </a:r>
          </a:p>
        </p:txBody>
      </p:sp>
      <p:sp>
        <p:nvSpPr>
          <p:cNvPr id="27" name="TextBox 26"/>
          <p:cNvSpPr txBox="1"/>
          <p:nvPr/>
        </p:nvSpPr>
        <p:spPr>
          <a:xfrm>
            <a:off x="4718304" y="4123944"/>
            <a:ext cx="2758287" cy="457200"/>
          </a:xfrm>
          <a:prstGeom prst="rect">
            <a:avLst/>
          </a:prstGeom>
          <a:noFill/>
        </p:spPr>
        <p:txBody>
          <a:bodyPr wrap="square" lIns="0" rIns="0" tIns="0" bIns="0" anchor="t">
            <a:spAutoFit/>
          </a:bodyPr>
          <a:lstStyle/>
          <a:p>
            <a:pPr algn="l">
              <a:lnSpc>
                <a:spcPct val="95000"/>
              </a:lnSpc>
              <a:spcBef>
                <a:spcPts val="0"/>
              </a:spcBef>
              <a:spcAft>
                <a:spcPts val="0"/>
              </a:spcAft>
            </a:pPr>
            <a:r>
              <a:rPr sz="1250" b="1" i="0">
                <a:solidFill>
                  <a:srgbClr val="0E3B2B"/>
                </a:solidFill>
                <a:latin typeface="Calibri"/>
              </a:rPr>
              <a:t>Soil properties</a:t>
            </a:r>
          </a:p>
        </p:txBody>
      </p:sp>
      <p:sp>
        <p:nvSpPr>
          <p:cNvPr id="28" name="TextBox 27"/>
          <p:cNvSpPr txBox="1"/>
          <p:nvPr/>
        </p:nvSpPr>
        <p:spPr>
          <a:xfrm>
            <a:off x="4224528" y="4727448"/>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  ISRIC SoilGrids 250 m</a:t>
            </a:r>
          </a:p>
        </p:txBody>
      </p:sp>
      <p:sp>
        <p:nvSpPr>
          <p:cNvPr id="29" name="TextBox 28"/>
          <p:cNvSpPr txBox="1"/>
          <p:nvPr/>
        </p:nvSpPr>
        <p:spPr>
          <a:xfrm>
            <a:off x="4224528" y="5111496"/>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  Static per district</a:t>
            </a:r>
          </a:p>
        </p:txBody>
      </p:sp>
      <p:sp>
        <p:nvSpPr>
          <p:cNvPr id="30" name="TextBox 29"/>
          <p:cNvSpPr txBox="1"/>
          <p:nvPr/>
        </p:nvSpPr>
        <p:spPr>
          <a:xfrm>
            <a:off x="4224528" y="5495544"/>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6B7A70"/>
                </a:solidFill>
                <a:latin typeface="Calibri"/>
              </a:rPr>
              <a:t>—  pH · organic carbon · clay · sand</a:t>
            </a:r>
          </a:p>
        </p:txBody>
      </p:sp>
      <p:sp>
        <p:nvSpPr>
          <p:cNvPr id="31" name="Rounded Rectangle 30"/>
          <p:cNvSpPr/>
          <p:nvPr/>
        </p:nvSpPr>
        <p:spPr>
          <a:xfrm>
            <a:off x="7952079" y="3886200"/>
            <a:ext cx="3672687" cy="2130552"/>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8171535" y="4105656"/>
            <a:ext cx="384048" cy="384048"/>
          </a:xfrm>
          <a:prstGeom prst="ellipse">
            <a:avLst/>
          </a:prstGeom>
          <a:solidFill>
            <a:srgbClr val="2A6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400" b="1" i="0">
                <a:solidFill>
                  <a:srgbClr val="FFFFFF"/>
                </a:solidFill>
                <a:latin typeface="Calibri"/>
              </a:rPr>
              <a:t>V</a:t>
            </a:r>
          </a:p>
        </p:txBody>
      </p:sp>
      <p:sp>
        <p:nvSpPr>
          <p:cNvPr id="33" name="TextBox 32"/>
          <p:cNvSpPr txBox="1"/>
          <p:nvPr/>
        </p:nvSpPr>
        <p:spPr>
          <a:xfrm>
            <a:off x="8665311" y="4123944"/>
            <a:ext cx="2758287" cy="457200"/>
          </a:xfrm>
          <a:prstGeom prst="rect">
            <a:avLst/>
          </a:prstGeom>
          <a:noFill/>
        </p:spPr>
        <p:txBody>
          <a:bodyPr wrap="square" lIns="0" rIns="0" tIns="0" bIns="0" anchor="t">
            <a:spAutoFit/>
          </a:bodyPr>
          <a:lstStyle/>
          <a:p>
            <a:pPr algn="l">
              <a:lnSpc>
                <a:spcPct val="95000"/>
              </a:lnSpc>
              <a:spcBef>
                <a:spcPts val="0"/>
              </a:spcBef>
              <a:spcAft>
                <a:spcPts val="0"/>
              </a:spcAft>
            </a:pPr>
            <a:r>
              <a:rPr sz="1250" b="1" i="0">
                <a:solidFill>
                  <a:srgbClr val="0E3B2B"/>
                </a:solidFill>
                <a:latin typeface="Calibri"/>
              </a:rPr>
              <a:t>Satellite-derived indices</a:t>
            </a:r>
          </a:p>
        </p:txBody>
      </p:sp>
      <p:sp>
        <p:nvSpPr>
          <p:cNvPr id="34" name="TextBox 33"/>
          <p:cNvSpPr txBox="1"/>
          <p:nvPr/>
        </p:nvSpPr>
        <p:spPr>
          <a:xfrm>
            <a:off x="8171535" y="4727448"/>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  MODIS MOD13 / MOD11 products</a:t>
            </a:r>
          </a:p>
        </p:txBody>
      </p:sp>
      <p:sp>
        <p:nvSpPr>
          <p:cNvPr id="35" name="TextBox 34"/>
          <p:cNvSpPr txBox="1"/>
          <p:nvPr/>
        </p:nvSpPr>
        <p:spPr>
          <a:xfrm>
            <a:off x="8171535" y="5111496"/>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3A4A40"/>
                </a:solidFill>
                <a:latin typeface="Calibri"/>
              </a:rPr>
              <a:t>—  Reduced server-side in Google Earth Engine</a:t>
            </a:r>
          </a:p>
        </p:txBody>
      </p:sp>
      <p:sp>
        <p:nvSpPr>
          <p:cNvPr id="36" name="TextBox 35"/>
          <p:cNvSpPr txBox="1"/>
          <p:nvPr/>
        </p:nvSpPr>
        <p:spPr>
          <a:xfrm>
            <a:off x="8171535" y="5495544"/>
            <a:ext cx="3233775" cy="365760"/>
          </a:xfrm>
          <a:prstGeom prst="rect">
            <a:avLst/>
          </a:prstGeom>
          <a:noFill/>
        </p:spPr>
        <p:txBody>
          <a:bodyPr wrap="square" lIns="0" rIns="0" tIns="0" bIns="0" anchor="t">
            <a:spAutoFit/>
          </a:bodyPr>
          <a:lstStyle/>
          <a:p>
            <a:pPr algn="l">
              <a:lnSpc>
                <a:spcPct val="95000"/>
              </a:lnSpc>
              <a:spcBef>
                <a:spcPts val="0"/>
              </a:spcBef>
              <a:spcAft>
                <a:spcPts val="0"/>
              </a:spcAft>
            </a:pPr>
            <a:r>
              <a:rPr sz="1050" b="0" i="0">
                <a:solidFill>
                  <a:srgbClr val="6B7A70"/>
                </a:solidFill>
                <a:latin typeface="Calibri"/>
              </a:rPr>
              <a:t>—  NDVI · EVI · NDWI · day/night LST</a:t>
            </a:r>
          </a:p>
        </p:txBody>
      </p:sp>
      <p:sp>
        <p:nvSpPr>
          <p:cNvPr id="37" name="Rectangle 36"/>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1  ·  Agro AI  ·  Big Onion Yield Prediction  ·  University of Moratuwa</a:t>
            </a:r>
          </a:p>
        </p:txBody>
      </p:sp>
      <p:sp>
        <p:nvSpPr>
          <p:cNvPr id="39" name="TextBox 38"/>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Sharuja B.   |   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1</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Data Processing and Feature Engineering</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One reproducible path from raw files to model-ready features</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1  ·  Data Pipeline</a:t>
            </a:r>
          </a:p>
        </p:txBody>
      </p:sp>
      <p:sp>
        <p:nvSpPr>
          <p:cNvPr id="8" name="Rounded Rectangle 7"/>
          <p:cNvSpPr/>
          <p:nvPr/>
        </p:nvSpPr>
        <p:spPr>
          <a:xfrm>
            <a:off x="566928" y="1444752"/>
            <a:ext cx="2531287" cy="658368"/>
          </a:xfrm>
          <a:prstGeom prst="roundRect">
            <a:avLst>
              <a:gd name="adj" fmla="val 1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92000"/>
              </a:lnSpc>
              <a:spcBef>
                <a:spcPts val="0"/>
              </a:spcBef>
              <a:spcAft>
                <a:spcPts val="0"/>
              </a:spcAft>
            </a:pPr>
            <a:r>
              <a:rPr sz="1100" b="1" i="0">
                <a:solidFill>
                  <a:srgbClr val="0E3B2B"/>
                </a:solidFill>
                <a:latin typeface="Calibri"/>
              </a:rPr>
              <a:t>1.  Raw data collection</a:t>
            </a:r>
          </a:p>
        </p:txBody>
      </p:sp>
      <p:sp>
        <p:nvSpPr>
          <p:cNvPr id="9" name="Right Arrow 8"/>
          <p:cNvSpPr/>
          <p:nvPr/>
        </p:nvSpPr>
        <p:spPr>
          <a:xfrm>
            <a:off x="3125647" y="1700784"/>
            <a:ext cx="237744"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3409111" y="1444752"/>
            <a:ext cx="2531287" cy="658368"/>
          </a:xfrm>
          <a:prstGeom prst="roundRect">
            <a:avLst>
              <a:gd name="adj" fmla="val 1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92000"/>
              </a:lnSpc>
              <a:spcBef>
                <a:spcPts val="0"/>
              </a:spcBef>
              <a:spcAft>
                <a:spcPts val="0"/>
              </a:spcAft>
            </a:pPr>
            <a:r>
              <a:rPr sz="1100" b="1" i="0">
                <a:solidFill>
                  <a:srgbClr val="0E3B2B"/>
                </a:solidFill>
                <a:latin typeface="Calibri"/>
              </a:rPr>
              <a:t>2.  District &amp; year matching</a:t>
            </a:r>
          </a:p>
        </p:txBody>
      </p:sp>
      <p:sp>
        <p:nvSpPr>
          <p:cNvPr id="11" name="Right Arrow 10"/>
          <p:cNvSpPr/>
          <p:nvPr/>
        </p:nvSpPr>
        <p:spPr>
          <a:xfrm>
            <a:off x="5967831" y="1700784"/>
            <a:ext cx="237744"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251295" y="1444752"/>
            <a:ext cx="2531287" cy="658368"/>
          </a:xfrm>
          <a:prstGeom prst="roundRect">
            <a:avLst>
              <a:gd name="adj" fmla="val 1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92000"/>
              </a:lnSpc>
              <a:spcBef>
                <a:spcPts val="0"/>
              </a:spcBef>
              <a:spcAft>
                <a:spcPts val="0"/>
              </a:spcAft>
            </a:pPr>
            <a:r>
              <a:rPr sz="1100" b="1" i="0">
                <a:solidFill>
                  <a:srgbClr val="0E3B2B"/>
                </a:solidFill>
                <a:latin typeface="Calibri"/>
              </a:rPr>
              <a:t>3.  Seasonal filtering</a:t>
            </a:r>
          </a:p>
        </p:txBody>
      </p:sp>
      <p:sp>
        <p:nvSpPr>
          <p:cNvPr id="13" name="Right Arrow 12"/>
          <p:cNvSpPr/>
          <p:nvPr/>
        </p:nvSpPr>
        <p:spPr>
          <a:xfrm>
            <a:off x="8810015" y="1700784"/>
            <a:ext cx="237744"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9093479" y="1444752"/>
            <a:ext cx="2531287" cy="658368"/>
          </a:xfrm>
          <a:prstGeom prst="roundRect">
            <a:avLst>
              <a:gd name="adj" fmla="val 1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92000"/>
              </a:lnSpc>
              <a:spcBef>
                <a:spcPts val="0"/>
              </a:spcBef>
              <a:spcAft>
                <a:spcPts val="0"/>
              </a:spcAft>
            </a:pPr>
            <a:r>
              <a:rPr sz="1100" b="1" i="0">
                <a:solidFill>
                  <a:srgbClr val="0E3B2B"/>
                </a:solidFill>
                <a:latin typeface="Calibri"/>
              </a:rPr>
              <a:t>4.  Data cleaning</a:t>
            </a:r>
          </a:p>
        </p:txBody>
      </p:sp>
      <p:sp>
        <p:nvSpPr>
          <p:cNvPr id="15" name="Down Arrow 14"/>
          <p:cNvSpPr/>
          <p:nvPr/>
        </p:nvSpPr>
        <p:spPr>
          <a:xfrm>
            <a:off x="10285971" y="2121408"/>
            <a:ext cx="146304" cy="14630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66928" y="2286000"/>
            <a:ext cx="2531287" cy="658368"/>
          </a:xfrm>
          <a:prstGeom prst="roundRect">
            <a:avLst>
              <a:gd name="adj" fmla="val 1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92000"/>
              </a:lnSpc>
              <a:spcBef>
                <a:spcPts val="0"/>
              </a:spcBef>
              <a:spcAft>
                <a:spcPts val="0"/>
              </a:spcAft>
            </a:pPr>
            <a:r>
              <a:rPr sz="1100" b="1" i="0">
                <a:solidFill>
                  <a:srgbClr val="0E3B2B"/>
                </a:solidFill>
                <a:latin typeface="Calibri"/>
              </a:rPr>
              <a:t>5.  Missing-value handling</a:t>
            </a:r>
          </a:p>
        </p:txBody>
      </p:sp>
      <p:sp>
        <p:nvSpPr>
          <p:cNvPr id="17" name="Right Arrow 16"/>
          <p:cNvSpPr/>
          <p:nvPr/>
        </p:nvSpPr>
        <p:spPr>
          <a:xfrm>
            <a:off x="3125647" y="2542032"/>
            <a:ext cx="237744"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3409111" y="2286000"/>
            <a:ext cx="2531287" cy="658368"/>
          </a:xfrm>
          <a:prstGeom prst="roundRect">
            <a:avLst>
              <a:gd name="adj" fmla="val 1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92000"/>
              </a:lnSpc>
              <a:spcBef>
                <a:spcPts val="0"/>
              </a:spcBef>
              <a:spcAft>
                <a:spcPts val="0"/>
              </a:spcAft>
            </a:pPr>
            <a:r>
              <a:rPr sz="1100" b="1" i="0">
                <a:solidFill>
                  <a:srgbClr val="0E3B2B"/>
                </a:solidFill>
                <a:latin typeface="Calibri"/>
              </a:rPr>
              <a:t>6.  Aggregation</a:t>
            </a:r>
          </a:p>
        </p:txBody>
      </p:sp>
      <p:sp>
        <p:nvSpPr>
          <p:cNvPr id="19" name="Right Arrow 18"/>
          <p:cNvSpPr/>
          <p:nvPr/>
        </p:nvSpPr>
        <p:spPr>
          <a:xfrm>
            <a:off x="5967831" y="2542032"/>
            <a:ext cx="237744"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251295" y="2286000"/>
            <a:ext cx="2531287" cy="658368"/>
          </a:xfrm>
          <a:prstGeom prst="roundRect">
            <a:avLst>
              <a:gd name="adj" fmla="val 1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92000"/>
              </a:lnSpc>
              <a:spcBef>
                <a:spcPts val="0"/>
              </a:spcBef>
              <a:spcAft>
                <a:spcPts val="0"/>
              </a:spcAft>
            </a:pPr>
            <a:r>
              <a:rPr sz="1100" b="1" i="0">
                <a:solidFill>
                  <a:srgbClr val="0E3B2B"/>
                </a:solidFill>
                <a:latin typeface="Calibri"/>
              </a:rPr>
              <a:t>7.  Feature engineering</a:t>
            </a:r>
          </a:p>
        </p:txBody>
      </p:sp>
      <p:sp>
        <p:nvSpPr>
          <p:cNvPr id="21" name="Right Arrow 20"/>
          <p:cNvSpPr/>
          <p:nvPr/>
        </p:nvSpPr>
        <p:spPr>
          <a:xfrm>
            <a:off x="8810015" y="2542032"/>
            <a:ext cx="237744" cy="146304"/>
          </a:xfrm>
          <a:prstGeom prst="right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9093479" y="2286000"/>
            <a:ext cx="2531287" cy="658368"/>
          </a:xfrm>
          <a:prstGeom prst="roundRect">
            <a:avLst>
              <a:gd name="adj" fmla="val 1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lnSpc>
                <a:spcPct val="92000"/>
              </a:lnSpc>
              <a:spcBef>
                <a:spcPts val="0"/>
              </a:spcBef>
              <a:spcAft>
                <a:spcPts val="0"/>
              </a:spcAft>
            </a:pPr>
            <a:r>
              <a:rPr sz="1100" b="1" i="0">
                <a:solidFill>
                  <a:srgbClr val="FFFFFF"/>
                </a:solidFill>
                <a:latin typeface="Calibri"/>
              </a:rPr>
              <a:t>8.  Final dataset</a:t>
            </a:r>
          </a:p>
        </p:txBody>
      </p:sp>
      <p:sp>
        <p:nvSpPr>
          <p:cNvPr id="23" name="Rounded Rectangle 22"/>
          <p:cNvSpPr/>
          <p:nvPr/>
        </p:nvSpPr>
        <p:spPr>
          <a:xfrm>
            <a:off x="566928" y="3310128"/>
            <a:ext cx="5138928" cy="1298448"/>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8096" y="3419856"/>
            <a:ext cx="4754880" cy="1097280"/>
          </a:xfrm>
          <a:prstGeom prst="rect">
            <a:avLst/>
          </a:prstGeom>
          <a:noFill/>
        </p:spPr>
        <p:txBody>
          <a:bodyPr wrap="square" lIns="0" rIns="0" tIns="0" bIns="0" anchor="t">
            <a:spAutoFit/>
          </a:bodyPr>
          <a:lstStyle/>
          <a:p>
            <a:pPr algn="l">
              <a:spcBef>
                <a:spcPts val="0"/>
              </a:spcBef>
              <a:spcAft>
                <a:spcPts val="500"/>
              </a:spcAft>
            </a:pPr>
            <a:r>
              <a:rPr sz="1200" b="1" i="0">
                <a:solidFill>
                  <a:srgbClr val="0E3B2B"/>
                </a:solidFill>
                <a:latin typeface="Calibri"/>
              </a:rPr>
              <a:t>Sources disagree on grain, format and identifiers</a:t>
            </a:r>
          </a:p>
          <a:p>
            <a:pPr algn="l">
              <a:lnSpc>
                <a:spcPct val="102000"/>
              </a:lnSpc>
              <a:spcBef>
                <a:spcPts val="0"/>
              </a:spcBef>
              <a:spcAft>
                <a:spcPts val="600"/>
              </a:spcAft>
            </a:pPr>
            <a:r>
              <a:rPr sz="1050" b="0" i="0">
                <a:solidFill>
                  <a:srgbClr val="3A4A40"/>
                </a:solidFill>
                <a:latin typeface="Calibri"/>
              </a:rPr>
              <a:t>Weather is daily  ·  yield is seasonal or yearly  ·  satellite arrives as time-based composites  ·  soil is static  ·  district names and identifiers differ between sources.</a:t>
            </a:r>
          </a:p>
          <a:p>
            <a:pPr algn="l">
              <a:lnSpc>
                <a:spcPct val="102000"/>
              </a:lnSpc>
              <a:spcBef>
                <a:spcPts val="0"/>
              </a:spcBef>
              <a:spcAft>
                <a:spcPts val="0"/>
              </a:spcAft>
            </a:pPr>
            <a:r>
              <a:rPr sz="1050" b="1" i="0">
                <a:solidFill>
                  <a:srgbClr val="2F7D4F"/>
                </a:solidFill>
                <a:latin typeface="Calibri"/>
              </a:rPr>
              <a:t>Nothing can simply be joined — every stream is reconciled to the common key before any modelling begins.</a:t>
            </a:r>
          </a:p>
        </p:txBody>
      </p:sp>
      <p:sp>
        <p:nvSpPr>
          <p:cNvPr id="25" name="Rounded Rectangle 24"/>
          <p:cNvSpPr/>
          <p:nvPr/>
        </p:nvSpPr>
        <p:spPr>
          <a:xfrm>
            <a:off x="5980176" y="3310128"/>
            <a:ext cx="5644591" cy="1298448"/>
          </a:xfrm>
          <a:prstGeom prst="roundRect">
            <a:avLst>
              <a:gd name="adj" fmla="val 6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181344" y="3401568"/>
            <a:ext cx="5242255" cy="256032"/>
          </a:xfrm>
          <a:prstGeom prst="rect">
            <a:avLst/>
          </a:prstGeom>
          <a:noFill/>
        </p:spPr>
        <p:txBody>
          <a:bodyPr wrap="square" lIns="0" rIns="0" tIns="0" bIns="0" anchor="t">
            <a:spAutoFit/>
          </a:bodyPr>
          <a:lstStyle/>
          <a:p>
            <a:pPr algn="l">
              <a:spcBef>
                <a:spcPts val="0"/>
              </a:spcBef>
              <a:spcAft>
                <a:spcPts val="0"/>
              </a:spcAft>
            </a:pPr>
            <a:r>
              <a:rPr sz="1200" b="1" i="0">
                <a:solidFill>
                  <a:srgbClr val="0E3B2B"/>
                </a:solidFill>
                <a:latin typeface="Calibri"/>
              </a:rPr>
              <a:t>Everything is reduced to one common key</a:t>
            </a:r>
          </a:p>
        </p:txBody>
      </p:sp>
      <p:sp>
        <p:nvSpPr>
          <p:cNvPr id="27" name="Rounded Rectangle 26"/>
          <p:cNvSpPr/>
          <p:nvPr/>
        </p:nvSpPr>
        <p:spPr>
          <a:xfrm>
            <a:off x="6181344" y="3712463"/>
            <a:ext cx="1649882" cy="3840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0000"/>
              </a:lnSpc>
              <a:spcBef>
                <a:spcPts val="0"/>
              </a:spcBef>
              <a:spcAft>
                <a:spcPts val="0"/>
              </a:spcAft>
            </a:pPr>
            <a:r>
              <a:rPr sz="950" b="0" i="0">
                <a:solidFill>
                  <a:srgbClr val="6B7A70"/>
                </a:solidFill>
                <a:latin typeface="Calibri"/>
              </a:rPr>
              <a:t>Weather · daily</a:t>
            </a:r>
          </a:p>
        </p:txBody>
      </p:sp>
      <p:sp>
        <p:nvSpPr>
          <p:cNvPr id="28" name="Rounded Rectangle 27"/>
          <p:cNvSpPr/>
          <p:nvPr/>
        </p:nvSpPr>
        <p:spPr>
          <a:xfrm>
            <a:off x="7977530" y="3712463"/>
            <a:ext cx="1649882" cy="3840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0000"/>
              </a:lnSpc>
              <a:spcBef>
                <a:spcPts val="0"/>
              </a:spcBef>
              <a:spcAft>
                <a:spcPts val="0"/>
              </a:spcAft>
            </a:pPr>
            <a:r>
              <a:rPr sz="950" b="0" i="0">
                <a:solidFill>
                  <a:srgbClr val="6B7A70"/>
                </a:solidFill>
                <a:latin typeface="Calibri"/>
              </a:rPr>
              <a:t>Satellite · composites</a:t>
            </a:r>
          </a:p>
        </p:txBody>
      </p:sp>
      <p:sp>
        <p:nvSpPr>
          <p:cNvPr id="29" name="Rounded Rectangle 28"/>
          <p:cNvSpPr/>
          <p:nvPr/>
        </p:nvSpPr>
        <p:spPr>
          <a:xfrm>
            <a:off x="9773716" y="3712463"/>
            <a:ext cx="1649882" cy="384048"/>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lnSpc>
                <a:spcPct val="90000"/>
              </a:lnSpc>
              <a:spcBef>
                <a:spcPts val="0"/>
              </a:spcBef>
              <a:spcAft>
                <a:spcPts val="0"/>
              </a:spcAft>
            </a:pPr>
            <a:r>
              <a:rPr sz="950" b="0" i="0">
                <a:solidFill>
                  <a:srgbClr val="6B7A70"/>
                </a:solidFill>
                <a:latin typeface="Calibri"/>
              </a:rPr>
              <a:t>Soil · static</a:t>
            </a:r>
          </a:p>
        </p:txBody>
      </p:sp>
      <p:sp>
        <p:nvSpPr>
          <p:cNvPr id="30" name="Down Arrow 29"/>
          <p:cNvSpPr/>
          <p:nvPr/>
        </p:nvSpPr>
        <p:spPr>
          <a:xfrm>
            <a:off x="8729319" y="4133087"/>
            <a:ext cx="146304" cy="128016"/>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6181344" y="4279392"/>
            <a:ext cx="5242255" cy="274320"/>
          </a:xfrm>
          <a:prstGeom prst="roundRect">
            <a:avLst>
              <a:gd name="adj" fmla="val 9000"/>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27432" bIns="27432"/>
          <a:lstStyle/>
          <a:p>
            <a:pPr algn="ctr">
              <a:spcBef>
                <a:spcPts val="0"/>
              </a:spcBef>
              <a:spcAft>
                <a:spcPts val="0"/>
              </a:spcAft>
            </a:pPr>
            <a:r>
              <a:rPr sz="1200" b="1" i="0">
                <a:solidFill>
                  <a:srgbClr val="FFFFFF"/>
                </a:solidFill>
                <a:latin typeface="Calibri"/>
              </a:rPr>
              <a:t>District  —  Season  —  Year</a:t>
            </a:r>
          </a:p>
        </p:txBody>
      </p:sp>
      <p:sp>
        <p:nvSpPr>
          <p:cNvPr id="32" name="TextBox 31"/>
          <p:cNvSpPr txBox="1"/>
          <p:nvPr/>
        </p:nvSpPr>
        <p:spPr>
          <a:xfrm>
            <a:off x="566928" y="4700016"/>
            <a:ext cx="7498079" cy="256032"/>
          </a:xfrm>
          <a:prstGeom prst="rect">
            <a:avLst/>
          </a:prstGeom>
          <a:noFill/>
        </p:spPr>
        <p:txBody>
          <a:bodyPr wrap="square" lIns="0" rIns="0" tIns="0" bIns="0" anchor="t">
            <a:spAutoFit/>
          </a:bodyPr>
          <a:lstStyle/>
          <a:p>
            <a:pPr algn="l">
              <a:spcBef>
                <a:spcPts val="0"/>
              </a:spcBef>
              <a:spcAft>
                <a:spcPts val="0"/>
              </a:spcAft>
            </a:pPr>
            <a:r>
              <a:rPr sz="1000" b="1" i="0" spc="140">
                <a:solidFill>
                  <a:srgbClr val="2F7D4F"/>
                </a:solidFill>
                <a:latin typeface="Calibri"/>
              </a:rPr>
              <a:t>PREDICTIVE FEATURE CATEGORIES</a:t>
            </a:r>
          </a:p>
        </p:txBody>
      </p:sp>
      <p:sp>
        <p:nvSpPr>
          <p:cNvPr id="33" name="Rounded Rectangle 32"/>
          <p:cNvSpPr/>
          <p:nvPr/>
        </p:nvSpPr>
        <p:spPr>
          <a:xfrm>
            <a:off x="566928" y="497433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Weather aggregates</a:t>
            </a:r>
          </a:p>
        </p:txBody>
      </p:sp>
      <p:sp>
        <p:nvSpPr>
          <p:cNvPr id="34" name="Rounded Rectangle 33"/>
          <p:cNvSpPr/>
          <p:nvPr/>
        </p:nvSpPr>
        <p:spPr>
          <a:xfrm>
            <a:off x="3090672" y="497433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Rainfall &amp; water-stress indicators</a:t>
            </a:r>
          </a:p>
        </p:txBody>
      </p:sp>
      <p:sp>
        <p:nvSpPr>
          <p:cNvPr id="35" name="Rounded Rectangle 34"/>
          <p:cNvSpPr/>
          <p:nvPr/>
        </p:nvSpPr>
        <p:spPr>
          <a:xfrm>
            <a:off x="5614416" y="497433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Temperature &amp; heat-stress indicators</a:t>
            </a:r>
          </a:p>
        </p:txBody>
      </p:sp>
      <p:sp>
        <p:nvSpPr>
          <p:cNvPr id="36" name="Rounded Rectangle 35"/>
          <p:cNvSpPr/>
          <p:nvPr/>
        </p:nvSpPr>
        <p:spPr>
          <a:xfrm>
            <a:off x="566928" y="538581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Growing degree days</a:t>
            </a:r>
          </a:p>
        </p:txBody>
      </p:sp>
      <p:sp>
        <p:nvSpPr>
          <p:cNvPr id="37" name="Rounded Rectangle 36"/>
          <p:cNvSpPr/>
          <p:nvPr/>
        </p:nvSpPr>
        <p:spPr>
          <a:xfrm>
            <a:off x="3090672" y="538581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Satellite vegetation indices</a:t>
            </a:r>
          </a:p>
        </p:txBody>
      </p:sp>
      <p:sp>
        <p:nvSpPr>
          <p:cNvPr id="38" name="Rounded Rectangle 37"/>
          <p:cNvSpPr/>
          <p:nvPr/>
        </p:nvSpPr>
        <p:spPr>
          <a:xfrm>
            <a:off x="5614416" y="538581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Land-surface temperature</a:t>
            </a:r>
          </a:p>
        </p:txBody>
      </p:sp>
      <p:sp>
        <p:nvSpPr>
          <p:cNvPr id="39" name="Rounded Rectangle 38"/>
          <p:cNvSpPr/>
          <p:nvPr/>
        </p:nvSpPr>
        <p:spPr>
          <a:xfrm>
            <a:off x="566928" y="579729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Soil properties</a:t>
            </a:r>
          </a:p>
        </p:txBody>
      </p:sp>
      <p:sp>
        <p:nvSpPr>
          <p:cNvPr id="40" name="Rounded Rectangle 39"/>
          <p:cNvSpPr/>
          <p:nvPr/>
        </p:nvSpPr>
        <p:spPr>
          <a:xfrm>
            <a:off x="3090672" y="579729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Historical yield features</a:t>
            </a:r>
          </a:p>
        </p:txBody>
      </p:sp>
      <p:sp>
        <p:nvSpPr>
          <p:cNvPr id="41" name="Rounded Rectangle 40"/>
          <p:cNvSpPr/>
          <p:nvPr/>
        </p:nvSpPr>
        <p:spPr>
          <a:xfrm>
            <a:off x="5614416" y="5797296"/>
            <a:ext cx="2377439" cy="310896"/>
          </a:xfrm>
          <a:prstGeom prst="roundRect">
            <a:avLst>
              <a:gd name="adj" fmla="val 40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3A4A40"/>
                </a:solidFill>
                <a:latin typeface="Calibri"/>
              </a:rPr>
              <a:t>Agronomic interaction terms</a:t>
            </a:r>
          </a:p>
        </p:txBody>
      </p:sp>
      <p:sp>
        <p:nvSpPr>
          <p:cNvPr id="42" name="Rounded Rectangle 41"/>
          <p:cNvSpPr/>
          <p:nvPr/>
        </p:nvSpPr>
        <p:spPr>
          <a:xfrm>
            <a:off x="8266175" y="4700016"/>
            <a:ext cx="3358591" cy="1408176"/>
          </a:xfrm>
          <a:prstGeom prst="roundRect">
            <a:avLst>
              <a:gd name="adj" fmla="val 7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449055" y="4974336"/>
            <a:ext cx="2992831" cy="914400"/>
          </a:xfrm>
          <a:prstGeom prst="rect">
            <a:avLst/>
          </a:prstGeom>
          <a:noFill/>
        </p:spPr>
        <p:txBody>
          <a:bodyPr wrap="square" lIns="0" rIns="0" tIns="0" bIns="0" anchor="t">
            <a:spAutoFit/>
          </a:bodyPr>
          <a:lstStyle/>
          <a:p>
            <a:pPr algn="l">
              <a:lnSpc>
                <a:spcPct val="85000"/>
              </a:lnSpc>
              <a:spcBef>
                <a:spcPts val="0"/>
              </a:spcBef>
              <a:spcAft>
                <a:spcPts val="0"/>
              </a:spcAft>
            </a:pPr>
            <a:r>
              <a:rPr sz="3000" b="1" i="0">
                <a:solidFill>
                  <a:srgbClr val="C87A1E"/>
                </a:solidFill>
                <a:latin typeface="Calibri"/>
              </a:rPr>
              <a:t>≈ 32</a:t>
            </a:r>
          </a:p>
          <a:p>
            <a:pPr algn="l">
              <a:lnSpc>
                <a:spcPct val="98000"/>
              </a:lnSpc>
              <a:spcBef>
                <a:spcPts val="0"/>
              </a:spcBef>
              <a:spcAft>
                <a:spcPts val="0"/>
              </a:spcAft>
            </a:pPr>
            <a:r>
              <a:rPr sz="1050" b="0" i="0">
                <a:solidFill>
                  <a:srgbClr val="C8DFD1"/>
                </a:solidFill>
                <a:latin typeface="Calibri"/>
              </a:rPr>
              <a:t>predictive features constructed per district-season-year</a:t>
            </a:r>
          </a:p>
        </p:txBody>
      </p:sp>
      <p:sp>
        <p:nvSpPr>
          <p:cNvPr id="44" name="Rectangle 43"/>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1  ·  Agro AI  ·  Big Onion Yield Prediction  ·  University of Moratuwa</a:t>
            </a:r>
          </a:p>
        </p:txBody>
      </p:sp>
      <p:sp>
        <p:nvSpPr>
          <p:cNvPr id="46" name="TextBox 45"/>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Sharuja B.   |   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1</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Data Scarcity and Augmentation</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Treating training-set size as a design variable, not a fixed limit</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1  ·  Data Pipeline</a:t>
            </a:r>
          </a:p>
        </p:txBody>
      </p:sp>
      <p:sp>
        <p:nvSpPr>
          <p:cNvPr id="8" name="Rounded Rectangle 7"/>
          <p:cNvSpPr/>
          <p:nvPr/>
        </p:nvSpPr>
        <p:spPr>
          <a:xfrm>
            <a:off x="566928" y="1444752"/>
            <a:ext cx="3478682" cy="1883664"/>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444752"/>
            <a:ext cx="3478682" cy="50292"/>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1609344"/>
            <a:ext cx="3076346" cy="1133856"/>
          </a:xfrm>
          <a:prstGeom prst="rect">
            <a:avLst/>
          </a:prstGeom>
          <a:noFill/>
        </p:spPr>
        <p:txBody>
          <a:bodyPr wrap="square" lIns="0" rIns="0" tIns="0" bIns="0" anchor="t">
            <a:spAutoFit/>
          </a:bodyPr>
          <a:lstStyle/>
          <a:p>
            <a:pPr algn="l">
              <a:lnSpc>
                <a:spcPct val="95000"/>
              </a:lnSpc>
              <a:spcBef>
                <a:spcPts val="0"/>
              </a:spcBef>
              <a:spcAft>
                <a:spcPts val="600"/>
              </a:spcAft>
            </a:pPr>
            <a:r>
              <a:rPr sz="1250" b="1" i="0">
                <a:solidFill>
                  <a:srgbClr val="0E3B2B"/>
                </a:solidFill>
                <a:latin typeface="Calibri"/>
              </a:rPr>
              <a:t>CTGAN synthetic generation</a:t>
            </a:r>
          </a:p>
          <a:p>
            <a:pPr algn="l">
              <a:lnSpc>
                <a:spcPct val="100000"/>
              </a:lnSpc>
              <a:spcBef>
                <a:spcPts val="0"/>
              </a:spcBef>
              <a:spcAft>
                <a:spcPts val="0"/>
              </a:spcAft>
            </a:pPr>
            <a:r>
              <a:rPr sz="1000" b="0" i="0">
                <a:solidFill>
                  <a:srgbClr val="3A4A40"/>
                </a:solidFill>
                <a:latin typeface="Calibri"/>
              </a:rPr>
              <a:t>A conditional tabular GAN learns the joint distribution of predictors and target, then samples new rows from it.</a:t>
            </a:r>
          </a:p>
        </p:txBody>
      </p:sp>
      <p:sp>
        <p:nvSpPr>
          <p:cNvPr id="11" name="Rectangle 10"/>
          <p:cNvSpPr/>
          <p:nvPr/>
        </p:nvSpPr>
        <p:spPr>
          <a:xfrm>
            <a:off x="768096" y="2779776"/>
            <a:ext cx="3076346"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68096" y="2843784"/>
            <a:ext cx="3076346" cy="420624"/>
          </a:xfrm>
          <a:prstGeom prst="rect">
            <a:avLst/>
          </a:prstGeom>
          <a:noFill/>
        </p:spPr>
        <p:txBody>
          <a:bodyPr wrap="square" lIns="0" rIns="0" tIns="0" bIns="0" anchor="t">
            <a:spAutoFit/>
          </a:bodyPr>
          <a:lstStyle/>
          <a:p>
            <a:pPr algn="l">
              <a:lnSpc>
                <a:spcPct val="100000"/>
              </a:lnSpc>
              <a:spcBef>
                <a:spcPts val="0"/>
              </a:spcBef>
              <a:spcAft>
                <a:spcPts val="0"/>
              </a:spcAft>
            </a:pPr>
            <a:r>
              <a:rPr sz="950" b="1" i="1">
                <a:solidFill>
                  <a:srgbClr val="6B7A70"/>
                </a:solidFill>
                <a:latin typeface="Calibri"/>
              </a:rPr>
              <a:t>Most expressive — but needs many real records to learn a trustworthy distribution.</a:t>
            </a:r>
          </a:p>
        </p:txBody>
      </p:sp>
      <p:sp>
        <p:nvSpPr>
          <p:cNvPr id="13" name="Rounded Rectangle 12"/>
          <p:cNvSpPr/>
          <p:nvPr/>
        </p:nvSpPr>
        <p:spPr>
          <a:xfrm>
            <a:off x="4356506" y="1444752"/>
            <a:ext cx="3478682" cy="1883664"/>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56506" y="1444752"/>
            <a:ext cx="3478682" cy="50292"/>
          </a:xfrm>
          <a:prstGeom prst="rect">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557674" y="1609344"/>
            <a:ext cx="3076346" cy="1133856"/>
          </a:xfrm>
          <a:prstGeom prst="rect">
            <a:avLst/>
          </a:prstGeom>
          <a:noFill/>
        </p:spPr>
        <p:txBody>
          <a:bodyPr wrap="square" lIns="0" rIns="0" tIns="0" bIns="0" anchor="t">
            <a:spAutoFit/>
          </a:bodyPr>
          <a:lstStyle/>
          <a:p>
            <a:pPr algn="l">
              <a:lnSpc>
                <a:spcPct val="95000"/>
              </a:lnSpc>
              <a:spcBef>
                <a:spcPts val="0"/>
              </a:spcBef>
              <a:spcAft>
                <a:spcPts val="600"/>
              </a:spcAft>
            </a:pPr>
            <a:r>
              <a:rPr sz="1250" b="1" i="0">
                <a:solidFill>
                  <a:srgbClr val="0E3B2B"/>
                </a:solidFill>
                <a:latin typeface="Calibri"/>
              </a:rPr>
              <a:t>Physics-based proxy</a:t>
            </a:r>
          </a:p>
          <a:p>
            <a:pPr algn="l">
              <a:lnSpc>
                <a:spcPct val="100000"/>
              </a:lnSpc>
              <a:spcBef>
                <a:spcPts val="0"/>
              </a:spcBef>
              <a:spcAft>
                <a:spcPts val="0"/>
              </a:spcAft>
            </a:pPr>
            <a:r>
              <a:rPr sz="1000" b="0" i="0">
                <a:solidFill>
                  <a:srgbClr val="3A4A40"/>
                </a:solidFill>
                <a:latin typeface="Calibri"/>
              </a:rPr>
              <a:t>Environmental predictors of real records are perturbed within physically plausible bounds; yield follows a lightweight agronomic response.</a:t>
            </a:r>
          </a:p>
        </p:txBody>
      </p:sp>
      <p:sp>
        <p:nvSpPr>
          <p:cNvPr id="16" name="Rectangle 15"/>
          <p:cNvSpPr/>
          <p:nvPr/>
        </p:nvSpPr>
        <p:spPr>
          <a:xfrm>
            <a:off x="4557674" y="2779776"/>
            <a:ext cx="3076346"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57674" y="2843784"/>
            <a:ext cx="3076346" cy="420624"/>
          </a:xfrm>
          <a:prstGeom prst="rect">
            <a:avLst/>
          </a:prstGeom>
          <a:noFill/>
        </p:spPr>
        <p:txBody>
          <a:bodyPr wrap="square" lIns="0" rIns="0" tIns="0" bIns="0" anchor="t">
            <a:spAutoFit/>
          </a:bodyPr>
          <a:lstStyle/>
          <a:p>
            <a:pPr algn="l">
              <a:lnSpc>
                <a:spcPct val="100000"/>
              </a:lnSpc>
              <a:spcBef>
                <a:spcPts val="0"/>
              </a:spcBef>
              <a:spcAft>
                <a:spcPts val="0"/>
              </a:spcAft>
            </a:pPr>
            <a:r>
              <a:rPr sz="950" b="1" i="1">
                <a:solidFill>
                  <a:srgbClr val="6B7A70"/>
                </a:solidFill>
                <a:latin typeface="Calibri"/>
              </a:rPr>
              <a:t>Generated samples respect biological limits by construction.</a:t>
            </a:r>
          </a:p>
        </p:txBody>
      </p:sp>
      <p:sp>
        <p:nvSpPr>
          <p:cNvPr id="18" name="Rounded Rectangle 17"/>
          <p:cNvSpPr/>
          <p:nvPr/>
        </p:nvSpPr>
        <p:spPr>
          <a:xfrm>
            <a:off x="8146084" y="1444752"/>
            <a:ext cx="3478682" cy="1883664"/>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146084" y="1444752"/>
            <a:ext cx="3478682" cy="50292"/>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347252" y="1609344"/>
            <a:ext cx="3076346" cy="1133856"/>
          </a:xfrm>
          <a:prstGeom prst="rect">
            <a:avLst/>
          </a:prstGeom>
          <a:noFill/>
        </p:spPr>
        <p:txBody>
          <a:bodyPr wrap="square" lIns="0" rIns="0" tIns="0" bIns="0" anchor="t">
            <a:spAutoFit/>
          </a:bodyPr>
          <a:lstStyle/>
          <a:p>
            <a:pPr algn="l">
              <a:lnSpc>
                <a:spcPct val="95000"/>
              </a:lnSpc>
              <a:spcBef>
                <a:spcPts val="0"/>
              </a:spcBef>
              <a:spcAft>
                <a:spcPts val="600"/>
              </a:spcAft>
            </a:pPr>
            <a:r>
              <a:rPr sz="1250" b="1" i="0">
                <a:solidFill>
                  <a:srgbClr val="0E3B2B"/>
                </a:solidFill>
                <a:latin typeface="Calibri"/>
              </a:rPr>
              <a:t>Bootstrap + Gaussian noise</a:t>
            </a:r>
          </a:p>
          <a:p>
            <a:pPr algn="l">
              <a:lnSpc>
                <a:spcPct val="100000"/>
              </a:lnSpc>
              <a:spcBef>
                <a:spcPts val="0"/>
              </a:spcBef>
              <a:spcAft>
                <a:spcPts val="0"/>
              </a:spcAft>
            </a:pPr>
            <a:r>
              <a:rPr sz="1000" b="0" i="0">
                <a:solidFill>
                  <a:srgbClr val="3A4A40"/>
                </a:solidFill>
                <a:latin typeface="Calibri"/>
              </a:rPr>
              <a:t>Draws with replacement from existing records and perturbs continuous features by a small variance.</a:t>
            </a:r>
          </a:p>
        </p:txBody>
      </p:sp>
      <p:sp>
        <p:nvSpPr>
          <p:cNvPr id="21" name="Rectangle 20"/>
          <p:cNvSpPr/>
          <p:nvPr/>
        </p:nvSpPr>
        <p:spPr>
          <a:xfrm>
            <a:off x="8347252" y="2779776"/>
            <a:ext cx="3076346"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47252" y="2843784"/>
            <a:ext cx="3076346" cy="420624"/>
          </a:xfrm>
          <a:prstGeom prst="rect">
            <a:avLst/>
          </a:prstGeom>
          <a:noFill/>
        </p:spPr>
        <p:txBody>
          <a:bodyPr wrap="square" lIns="0" rIns="0" tIns="0" bIns="0" anchor="t">
            <a:spAutoFit/>
          </a:bodyPr>
          <a:lstStyle/>
          <a:p>
            <a:pPr algn="l">
              <a:lnSpc>
                <a:spcPct val="100000"/>
              </a:lnSpc>
              <a:spcBef>
                <a:spcPts val="0"/>
              </a:spcBef>
              <a:spcAft>
                <a:spcPts val="0"/>
              </a:spcAft>
            </a:pPr>
            <a:r>
              <a:rPr sz="950" b="1" i="1">
                <a:solidFill>
                  <a:srgbClr val="6B7A70"/>
                </a:solidFill>
                <a:latin typeface="Calibri"/>
              </a:rPr>
              <a:t>Stays closest to the empirical data distribution.</a:t>
            </a:r>
          </a:p>
        </p:txBody>
      </p:sp>
      <p:sp>
        <p:nvSpPr>
          <p:cNvPr id="23" name="Rounded Rectangle 22"/>
          <p:cNvSpPr/>
          <p:nvPr/>
        </p:nvSpPr>
        <p:spPr>
          <a:xfrm>
            <a:off x="566928" y="3511296"/>
            <a:ext cx="11057839" cy="749808"/>
          </a:xfrm>
          <a:prstGeom prst="roundRect">
            <a:avLst>
              <a:gd name="adj" fmla="val 16000"/>
            </a:avLst>
          </a:prstGeom>
          <a:solidFill>
            <a:srgbClr val="FBEFDC"/>
          </a:solidFill>
          <a:ln w="12700">
            <a:solidFill>
              <a:srgbClr val="ECD6A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768096" y="3648456"/>
            <a:ext cx="475488" cy="475488"/>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700" b="1" i="0">
                <a:solidFill>
                  <a:srgbClr val="FFFFFF"/>
                </a:solidFill>
                <a:latin typeface="Calibri"/>
              </a:rPr>
              <a:t>!</a:t>
            </a:r>
          </a:p>
        </p:txBody>
      </p:sp>
      <p:sp>
        <p:nvSpPr>
          <p:cNvPr id="25" name="TextBox 24"/>
          <p:cNvSpPr txBox="1"/>
          <p:nvPr/>
        </p:nvSpPr>
        <p:spPr>
          <a:xfrm>
            <a:off x="1408176" y="3639312"/>
            <a:ext cx="9960559" cy="548640"/>
          </a:xfrm>
          <a:prstGeom prst="rect">
            <a:avLst/>
          </a:prstGeom>
          <a:noFill/>
        </p:spPr>
        <p:txBody>
          <a:bodyPr wrap="square" lIns="0" rIns="0" tIns="0" bIns="0" anchor="t">
            <a:spAutoFit/>
          </a:bodyPr>
          <a:lstStyle/>
          <a:p>
            <a:pPr algn="l">
              <a:spcBef>
                <a:spcPts val="0"/>
              </a:spcBef>
              <a:spcAft>
                <a:spcPts val="200"/>
              </a:spcAft>
            </a:pPr>
            <a:r>
              <a:rPr sz="1250" b="1" i="0">
                <a:solidFill>
                  <a:srgbClr val="9B5A12"/>
                </a:solidFill>
                <a:latin typeface="Calibri"/>
              </a:rPr>
              <a:t>Leakage guard  —  augmentation is applied only inside each training fold</a:t>
            </a:r>
          </a:p>
          <a:p>
            <a:pPr algn="l">
              <a:spcBef>
                <a:spcPts val="0"/>
              </a:spcBef>
              <a:spcAft>
                <a:spcPts val="0"/>
              </a:spcAft>
            </a:pPr>
            <a:r>
              <a:rPr sz="1000" b="0" i="0">
                <a:solidFill>
                  <a:srgbClr val="9B5A12"/>
                </a:solidFill>
                <a:latin typeface="Calibri"/>
              </a:rPr>
              <a:t>The held-out year always consists exclusively of real, unaugmented records, so reported accuracy can never be inflated by a synthetic row resembling the answer.</a:t>
            </a:r>
          </a:p>
        </p:txBody>
      </p:sp>
      <p:sp>
        <p:nvSpPr>
          <p:cNvPr id="26" name="TextBox 25"/>
          <p:cNvSpPr txBox="1"/>
          <p:nvPr/>
        </p:nvSpPr>
        <p:spPr>
          <a:xfrm>
            <a:off x="566928" y="4425696"/>
            <a:ext cx="11057839" cy="256032"/>
          </a:xfrm>
          <a:prstGeom prst="rect">
            <a:avLst/>
          </a:prstGeom>
          <a:noFill/>
        </p:spPr>
        <p:txBody>
          <a:bodyPr wrap="square" lIns="0" rIns="0" tIns="0" bIns="0" anchor="t">
            <a:spAutoFit/>
          </a:bodyPr>
          <a:lstStyle/>
          <a:p>
            <a:pPr algn="l">
              <a:spcBef>
                <a:spcPts val="0"/>
              </a:spcBef>
              <a:spcAft>
                <a:spcPts val="0"/>
              </a:spcAft>
            </a:pPr>
            <a:r>
              <a:rPr sz="1000" b="1" i="0" spc="140">
                <a:solidFill>
                  <a:srgbClr val="2F7D4F"/>
                </a:solidFill>
                <a:latin typeface="Calibri"/>
              </a:rPr>
              <a:t>MODULE 1 FEATURES</a:t>
            </a:r>
          </a:p>
        </p:txBody>
      </p:sp>
      <p:sp>
        <p:nvSpPr>
          <p:cNvPr id="27" name="Rounded Rectangle 26"/>
          <p:cNvSpPr/>
          <p:nvPr/>
        </p:nvSpPr>
        <p:spPr>
          <a:xfrm>
            <a:off x="566928" y="4700016"/>
            <a:ext cx="210183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Multi-source data integration</a:t>
            </a:r>
          </a:p>
        </p:txBody>
      </p:sp>
      <p:sp>
        <p:nvSpPr>
          <p:cNvPr id="28" name="Rounded Rectangle 27"/>
          <p:cNvSpPr/>
          <p:nvPr/>
        </p:nvSpPr>
        <p:spPr>
          <a:xfrm>
            <a:off x="2805927" y="4700016"/>
            <a:ext cx="210183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Automated preprocessing</a:t>
            </a:r>
          </a:p>
        </p:txBody>
      </p:sp>
      <p:sp>
        <p:nvSpPr>
          <p:cNvPr id="29" name="Rounded Rectangle 28"/>
          <p:cNvSpPr/>
          <p:nvPr/>
        </p:nvSpPr>
        <p:spPr>
          <a:xfrm>
            <a:off x="5044927" y="4700016"/>
            <a:ext cx="210183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Physical-range validation</a:t>
            </a:r>
          </a:p>
        </p:txBody>
      </p:sp>
      <p:sp>
        <p:nvSpPr>
          <p:cNvPr id="30" name="Rounded Rectangle 29"/>
          <p:cNvSpPr/>
          <p:nvPr/>
        </p:nvSpPr>
        <p:spPr>
          <a:xfrm>
            <a:off x="7283927" y="4700016"/>
            <a:ext cx="210183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Missing-data treatment</a:t>
            </a:r>
          </a:p>
        </p:txBody>
      </p:sp>
      <p:sp>
        <p:nvSpPr>
          <p:cNvPr id="31" name="Rounded Rectangle 30"/>
          <p:cNvSpPr/>
          <p:nvPr/>
        </p:nvSpPr>
        <p:spPr>
          <a:xfrm>
            <a:off x="9522927" y="4700016"/>
            <a:ext cx="210183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Seasonal alignment</a:t>
            </a:r>
          </a:p>
        </p:txBody>
      </p:sp>
      <p:sp>
        <p:nvSpPr>
          <p:cNvPr id="32" name="Rounded Rectangle 31"/>
          <p:cNvSpPr/>
          <p:nvPr/>
        </p:nvSpPr>
        <p:spPr>
          <a:xfrm>
            <a:off x="566928" y="5138928"/>
            <a:ext cx="266158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Data-source reconciliation</a:t>
            </a:r>
          </a:p>
        </p:txBody>
      </p:sp>
      <p:sp>
        <p:nvSpPr>
          <p:cNvPr id="33" name="Rounded Rectangle 32"/>
          <p:cNvSpPr/>
          <p:nvPr/>
        </p:nvSpPr>
        <p:spPr>
          <a:xfrm>
            <a:off x="3365677" y="5138928"/>
            <a:ext cx="266158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Synthetic data augmentation</a:t>
            </a:r>
          </a:p>
        </p:txBody>
      </p:sp>
      <p:sp>
        <p:nvSpPr>
          <p:cNvPr id="34" name="Rounded Rectangle 33"/>
          <p:cNvSpPr/>
          <p:nvPr/>
        </p:nvSpPr>
        <p:spPr>
          <a:xfrm>
            <a:off x="6164427" y="5138928"/>
            <a:ext cx="266158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Reproducible feature generation</a:t>
            </a:r>
          </a:p>
        </p:txBody>
      </p:sp>
      <p:sp>
        <p:nvSpPr>
          <p:cNvPr id="35" name="Rounded Rectangle 34"/>
          <p:cNvSpPr/>
          <p:nvPr/>
        </p:nvSpPr>
        <p:spPr>
          <a:xfrm>
            <a:off x="8963177" y="5138928"/>
            <a:ext cx="2661589" cy="347472"/>
          </a:xfrm>
          <a:prstGeom prst="roundRect">
            <a:avLst>
              <a:gd name="adj" fmla="val 4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0" i="0">
                <a:solidFill>
                  <a:srgbClr val="0E3B2B"/>
                </a:solidFill>
                <a:latin typeface="Calibri"/>
              </a:rPr>
              <a:t>Train/test leakage prevention</a:t>
            </a:r>
          </a:p>
        </p:txBody>
      </p:sp>
      <p:sp>
        <p:nvSpPr>
          <p:cNvPr id="36" name="Rounded Rectangle 35"/>
          <p:cNvSpPr/>
          <p:nvPr/>
        </p:nvSpPr>
        <p:spPr>
          <a:xfrm>
            <a:off x="566928" y="5632704"/>
            <a:ext cx="11057839" cy="548640"/>
          </a:xfrm>
          <a:prstGeom prst="roundRect">
            <a:avLst>
              <a:gd name="adj" fmla="val 18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lstStyle/>
          <a:p>
            <a:pPr algn="ctr">
              <a:spcBef>
                <a:spcPts val="0"/>
              </a:spcBef>
              <a:spcAft>
                <a:spcPts val="0"/>
              </a:spcAft>
            </a:pPr>
            <a:r>
              <a:rPr sz="1200" b="1" i="0">
                <a:solidFill>
                  <a:srgbClr val="FFFFFF"/>
                </a:solidFill>
                <a:latin typeface="Calibri"/>
              </a:rPr>
              <a:t>MODULE 1 OUTPUT   ·   a cleaned, validated, feature-engineered and reproducible dataset, ready for the prediction engine</a:t>
            </a:r>
          </a:p>
        </p:txBody>
      </p:sp>
      <p:sp>
        <p:nvSpPr>
          <p:cNvPr id="37" name="Rectangle 36"/>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1  ·  Agro AI  ·  Big Onion Yield Prediction  ·  University of Moratuwa</a:t>
            </a:r>
          </a:p>
        </p:txBody>
      </p:sp>
      <p:sp>
        <p:nvSpPr>
          <p:cNvPr id="39" name="TextBox 38"/>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Sharuja B.   |   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2</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ML / DL Prediction and Evaluation Engine</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Four modelling philosophies, one identical protocol</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2  ·  Prediction Engine</a:t>
            </a:r>
          </a:p>
        </p:txBody>
      </p:sp>
      <p:sp>
        <p:nvSpPr>
          <p:cNvPr id="8" name="Rounded Rectangle 7"/>
          <p:cNvSpPr/>
          <p:nvPr/>
        </p:nvSpPr>
        <p:spPr>
          <a:xfrm>
            <a:off x="566928" y="1444752"/>
            <a:ext cx="11057839" cy="566928"/>
          </a:xfrm>
          <a:prstGeom prst="roundRect">
            <a:avLst>
              <a:gd name="adj" fmla="val 14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86384" y="1517904"/>
            <a:ext cx="10600639" cy="457200"/>
          </a:xfrm>
          <a:prstGeom prst="rect">
            <a:avLst/>
          </a:prstGeom>
          <a:noFill/>
        </p:spPr>
        <p:txBody>
          <a:bodyPr wrap="square" lIns="0" rIns="0" tIns="0" bIns="0" anchor="t">
            <a:spAutoFit/>
          </a:bodyPr>
          <a:lstStyle/>
          <a:p>
            <a:pPr algn="l">
              <a:spcBef>
                <a:spcPts val="0"/>
              </a:spcBef>
              <a:spcAft>
                <a:spcPts val="0"/>
              </a:spcAft>
            </a:pPr>
            <a:r>
              <a:rPr sz="1150" b="1" i="0">
                <a:solidFill>
                  <a:srgbClr val="FFFFFF"/>
                </a:solidFill>
                <a:latin typeface="Calibri"/>
              </a:rPr>
              <a:t>MAIN RESPONSIBILITY   ·   train, compare, evaluate, combine and calibrate different prediction models   ·   owner: Arkam B.H.M. (214019K)</a:t>
            </a:r>
          </a:p>
        </p:txBody>
      </p:sp>
      <p:sp>
        <p:nvSpPr>
          <p:cNvPr id="10" name="Rounded Rectangle 9"/>
          <p:cNvSpPr/>
          <p:nvPr/>
        </p:nvSpPr>
        <p:spPr>
          <a:xfrm>
            <a:off x="566928" y="2212848"/>
            <a:ext cx="3478682" cy="3054096"/>
          </a:xfrm>
          <a:prstGeom prst="roundRect">
            <a:avLst>
              <a:gd name="adj" fmla="val 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212848"/>
            <a:ext cx="3478682" cy="54864"/>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86384" y="2395728"/>
            <a:ext cx="3039770" cy="329184"/>
          </a:xfrm>
          <a:prstGeom prst="rect">
            <a:avLst/>
          </a:prstGeom>
          <a:noFill/>
        </p:spPr>
        <p:txBody>
          <a:bodyPr wrap="square" lIns="0" rIns="0" tIns="0" bIns="0" anchor="t">
            <a:spAutoFit/>
          </a:bodyPr>
          <a:lstStyle/>
          <a:p>
            <a:pPr algn="l">
              <a:spcBef>
                <a:spcPts val="0"/>
              </a:spcBef>
              <a:spcAft>
                <a:spcPts val="0"/>
              </a:spcAft>
            </a:pPr>
            <a:r>
              <a:rPr sz="1300" b="1" i="0">
                <a:solidFill>
                  <a:srgbClr val="0E3B2B"/>
                </a:solidFill>
                <a:latin typeface="Calibri"/>
              </a:rPr>
              <a:t>Classical machine learning</a:t>
            </a:r>
          </a:p>
        </p:txBody>
      </p:sp>
      <p:sp>
        <p:nvSpPr>
          <p:cNvPr id="13" name="Rounded Rectangle 12"/>
          <p:cNvSpPr/>
          <p:nvPr/>
        </p:nvSpPr>
        <p:spPr>
          <a:xfrm>
            <a:off x="786384" y="2779776"/>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Random Forest</a:t>
            </a:r>
          </a:p>
        </p:txBody>
      </p:sp>
      <p:sp>
        <p:nvSpPr>
          <p:cNvPr id="14" name="Rounded Rectangle 13"/>
          <p:cNvSpPr/>
          <p:nvPr/>
        </p:nvSpPr>
        <p:spPr>
          <a:xfrm>
            <a:off x="786384" y="3182112"/>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XGBoost</a:t>
            </a:r>
          </a:p>
        </p:txBody>
      </p:sp>
      <p:sp>
        <p:nvSpPr>
          <p:cNvPr id="15" name="Rounded Rectangle 14"/>
          <p:cNvSpPr/>
          <p:nvPr/>
        </p:nvSpPr>
        <p:spPr>
          <a:xfrm>
            <a:off x="786384" y="3584448"/>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Support Vector Regression</a:t>
            </a:r>
          </a:p>
        </p:txBody>
      </p:sp>
      <p:sp>
        <p:nvSpPr>
          <p:cNvPr id="16" name="Rectangle 15"/>
          <p:cNvSpPr/>
          <p:nvPr/>
        </p:nvSpPr>
        <p:spPr>
          <a:xfrm>
            <a:off x="786384" y="4462272"/>
            <a:ext cx="3039770"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86384" y="4535424"/>
            <a:ext cx="3039770" cy="585216"/>
          </a:xfrm>
          <a:prstGeom prst="rect">
            <a:avLst/>
          </a:prstGeom>
          <a:noFill/>
        </p:spPr>
        <p:txBody>
          <a:bodyPr wrap="square" lIns="0" rIns="0" tIns="0" bIns="0" anchor="t">
            <a:spAutoFit/>
          </a:bodyPr>
          <a:lstStyle/>
          <a:p>
            <a:pPr algn="l">
              <a:lnSpc>
                <a:spcPct val="102000"/>
              </a:lnSpc>
              <a:spcBef>
                <a:spcPts val="0"/>
              </a:spcBef>
              <a:spcAft>
                <a:spcPts val="0"/>
              </a:spcAft>
            </a:pPr>
            <a:r>
              <a:rPr sz="1000" b="0" i="1">
                <a:solidFill>
                  <a:srgbClr val="6B7A70"/>
                </a:solidFill>
                <a:latin typeface="Calibri"/>
              </a:rPr>
              <a:t>Suited to structured, tabular agricultural data and robust at small sample sizes.</a:t>
            </a:r>
          </a:p>
        </p:txBody>
      </p:sp>
      <p:sp>
        <p:nvSpPr>
          <p:cNvPr id="18" name="Rounded Rectangle 17"/>
          <p:cNvSpPr/>
          <p:nvPr/>
        </p:nvSpPr>
        <p:spPr>
          <a:xfrm>
            <a:off x="4356506" y="2212848"/>
            <a:ext cx="3478682" cy="3054096"/>
          </a:xfrm>
          <a:prstGeom prst="roundRect">
            <a:avLst>
              <a:gd name="adj" fmla="val 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356506" y="2212848"/>
            <a:ext cx="3478682" cy="54864"/>
          </a:xfrm>
          <a:prstGeom prst="rect">
            <a:avLst/>
          </a:prstGeom>
          <a:solidFill>
            <a:srgbClr val="2A6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5962" y="2395728"/>
            <a:ext cx="3039770" cy="329184"/>
          </a:xfrm>
          <a:prstGeom prst="rect">
            <a:avLst/>
          </a:prstGeom>
          <a:noFill/>
        </p:spPr>
        <p:txBody>
          <a:bodyPr wrap="square" lIns="0" rIns="0" tIns="0" bIns="0" anchor="t">
            <a:spAutoFit/>
          </a:bodyPr>
          <a:lstStyle/>
          <a:p>
            <a:pPr algn="l">
              <a:spcBef>
                <a:spcPts val="0"/>
              </a:spcBef>
              <a:spcAft>
                <a:spcPts val="0"/>
              </a:spcAft>
            </a:pPr>
            <a:r>
              <a:rPr sz="1300" b="1" i="0">
                <a:solidFill>
                  <a:srgbClr val="0E3B2B"/>
                </a:solidFill>
                <a:latin typeface="Calibri"/>
              </a:rPr>
              <a:t>Deep learning</a:t>
            </a:r>
          </a:p>
        </p:txBody>
      </p:sp>
      <p:sp>
        <p:nvSpPr>
          <p:cNvPr id="21" name="Rounded Rectangle 20"/>
          <p:cNvSpPr/>
          <p:nvPr/>
        </p:nvSpPr>
        <p:spPr>
          <a:xfrm>
            <a:off x="4575962" y="2779776"/>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LSTM</a:t>
            </a:r>
          </a:p>
        </p:txBody>
      </p:sp>
      <p:sp>
        <p:nvSpPr>
          <p:cNvPr id="22" name="Rounded Rectangle 21"/>
          <p:cNvSpPr/>
          <p:nvPr/>
        </p:nvSpPr>
        <p:spPr>
          <a:xfrm>
            <a:off x="4575962" y="3182112"/>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Bidirectional LSTM</a:t>
            </a:r>
          </a:p>
        </p:txBody>
      </p:sp>
      <p:sp>
        <p:nvSpPr>
          <p:cNvPr id="23" name="Rounded Rectangle 22"/>
          <p:cNvSpPr/>
          <p:nvPr/>
        </p:nvSpPr>
        <p:spPr>
          <a:xfrm>
            <a:off x="4575962" y="3584448"/>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1D-CNN</a:t>
            </a:r>
          </a:p>
        </p:txBody>
      </p:sp>
      <p:sp>
        <p:nvSpPr>
          <p:cNvPr id="24" name="Rounded Rectangle 23"/>
          <p:cNvSpPr/>
          <p:nvPr/>
        </p:nvSpPr>
        <p:spPr>
          <a:xfrm>
            <a:off x="4575962" y="3986784"/>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Hybrid CNN-LSTM</a:t>
            </a:r>
          </a:p>
        </p:txBody>
      </p:sp>
      <p:sp>
        <p:nvSpPr>
          <p:cNvPr id="25" name="Rectangle 24"/>
          <p:cNvSpPr/>
          <p:nvPr/>
        </p:nvSpPr>
        <p:spPr>
          <a:xfrm>
            <a:off x="4575962" y="4462272"/>
            <a:ext cx="3039770"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5962" y="4535424"/>
            <a:ext cx="3039770" cy="585216"/>
          </a:xfrm>
          <a:prstGeom prst="rect">
            <a:avLst/>
          </a:prstGeom>
          <a:noFill/>
        </p:spPr>
        <p:txBody>
          <a:bodyPr wrap="square" lIns="0" rIns="0" tIns="0" bIns="0" anchor="t">
            <a:spAutoFit/>
          </a:bodyPr>
          <a:lstStyle/>
          <a:p>
            <a:pPr algn="l">
              <a:lnSpc>
                <a:spcPct val="102000"/>
              </a:lnSpc>
              <a:spcBef>
                <a:spcPts val="0"/>
              </a:spcBef>
              <a:spcAft>
                <a:spcPts val="0"/>
              </a:spcAft>
            </a:pPr>
            <a:r>
              <a:rPr sz="1000" b="0" i="1">
                <a:solidFill>
                  <a:srgbClr val="6B7A70"/>
                </a:solidFill>
                <a:latin typeface="Calibri"/>
              </a:rPr>
              <a:t>Analyse the growing season as a sequence, where timing of an event matters as much as its size.</a:t>
            </a:r>
          </a:p>
        </p:txBody>
      </p:sp>
      <p:sp>
        <p:nvSpPr>
          <p:cNvPr id="27" name="Rounded Rectangle 26"/>
          <p:cNvSpPr/>
          <p:nvPr/>
        </p:nvSpPr>
        <p:spPr>
          <a:xfrm>
            <a:off x="8146084" y="2212848"/>
            <a:ext cx="3478682" cy="3054096"/>
          </a:xfrm>
          <a:prstGeom prst="roundRect">
            <a:avLst>
              <a:gd name="adj" fmla="val 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8146084" y="2212848"/>
            <a:ext cx="3478682" cy="54864"/>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365540" y="2395728"/>
            <a:ext cx="3039770" cy="329184"/>
          </a:xfrm>
          <a:prstGeom prst="rect">
            <a:avLst/>
          </a:prstGeom>
          <a:noFill/>
        </p:spPr>
        <p:txBody>
          <a:bodyPr wrap="square" lIns="0" rIns="0" tIns="0" bIns="0" anchor="t">
            <a:spAutoFit/>
          </a:bodyPr>
          <a:lstStyle/>
          <a:p>
            <a:pPr algn="l">
              <a:spcBef>
                <a:spcPts val="0"/>
              </a:spcBef>
              <a:spcAft>
                <a:spcPts val="0"/>
              </a:spcAft>
            </a:pPr>
            <a:r>
              <a:rPr sz="1300" b="1" i="0">
                <a:solidFill>
                  <a:srgbClr val="0E3B2B"/>
                </a:solidFill>
                <a:latin typeface="Calibri"/>
              </a:rPr>
              <a:t>Interpretable &amp; hybrid</a:t>
            </a:r>
          </a:p>
        </p:txBody>
      </p:sp>
      <p:sp>
        <p:nvSpPr>
          <p:cNvPr id="30" name="Rounded Rectangle 29"/>
          <p:cNvSpPr/>
          <p:nvPr/>
        </p:nvSpPr>
        <p:spPr>
          <a:xfrm>
            <a:off x="8365540" y="2779776"/>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Symbolic Regression</a:t>
            </a:r>
          </a:p>
        </p:txBody>
      </p:sp>
      <p:sp>
        <p:nvSpPr>
          <p:cNvPr id="31" name="Rounded Rectangle 30"/>
          <p:cNvSpPr/>
          <p:nvPr/>
        </p:nvSpPr>
        <p:spPr>
          <a:xfrm>
            <a:off x="8365540" y="3182112"/>
            <a:ext cx="3039770" cy="347472"/>
          </a:xfrm>
          <a:prstGeom prst="roundRect">
            <a:avLst>
              <a:gd name="adj" fmla="val 3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50" b="1" i="0">
                <a:solidFill>
                  <a:srgbClr val="0E3B2B"/>
                </a:solidFill>
                <a:latin typeface="Calibri"/>
              </a:rPr>
              <a:t>Physics-Informed Residual Model</a:t>
            </a:r>
          </a:p>
        </p:txBody>
      </p:sp>
      <p:sp>
        <p:nvSpPr>
          <p:cNvPr id="32" name="Rectangle 31"/>
          <p:cNvSpPr/>
          <p:nvPr/>
        </p:nvSpPr>
        <p:spPr>
          <a:xfrm>
            <a:off x="8365540" y="4462272"/>
            <a:ext cx="3039770"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365540" y="4535424"/>
            <a:ext cx="3039770" cy="585216"/>
          </a:xfrm>
          <a:prstGeom prst="rect">
            <a:avLst/>
          </a:prstGeom>
          <a:noFill/>
        </p:spPr>
        <p:txBody>
          <a:bodyPr wrap="square" lIns="0" rIns="0" tIns="0" bIns="0" anchor="t">
            <a:spAutoFit/>
          </a:bodyPr>
          <a:lstStyle/>
          <a:p>
            <a:pPr algn="l">
              <a:lnSpc>
                <a:spcPct val="102000"/>
              </a:lnSpc>
              <a:spcBef>
                <a:spcPts val="0"/>
              </a:spcBef>
              <a:spcAft>
                <a:spcPts val="0"/>
              </a:spcAft>
            </a:pPr>
            <a:r>
              <a:rPr sz="1000" b="0" i="1">
                <a:solidFill>
                  <a:srgbClr val="6B7A70"/>
                </a:solidFill>
                <a:latin typeface="Calibri"/>
              </a:rPr>
              <a:t>Symbolic regression yields a readable equation; the physics model fuses agronomy with machine learning.</a:t>
            </a:r>
          </a:p>
        </p:txBody>
      </p:sp>
      <p:sp>
        <p:nvSpPr>
          <p:cNvPr id="34" name="Rounded Rectangle 33"/>
          <p:cNvSpPr/>
          <p:nvPr/>
        </p:nvSpPr>
        <p:spPr>
          <a:xfrm>
            <a:off x="566928" y="5468112"/>
            <a:ext cx="11057839" cy="676656"/>
          </a:xfrm>
          <a:prstGeom prst="roundRect">
            <a:avLst>
              <a:gd name="adj" fmla="val 14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8288" bIns="18288"/>
          <a:lstStyle/>
          <a:p>
            <a:pPr algn="ctr">
              <a:spcBef>
                <a:spcPts val="0"/>
              </a:spcBef>
              <a:spcAft>
                <a:spcPts val="0"/>
              </a:spcAft>
            </a:pPr>
            <a:r>
              <a:rPr sz="1150" b="1" i="0">
                <a:solidFill>
                  <a:srgbClr val="0E3B2B"/>
                </a:solidFill>
                <a:latin typeface="Calibri"/>
              </a:rPr>
              <a:t>All nine base models are trained on the same dataset under the same evaluation protocol with fixed seeds — so the comparison between families is meaningful rather than a leaderboard artefact.</a:t>
            </a:r>
          </a:p>
        </p:txBody>
      </p:sp>
      <p:sp>
        <p:nvSpPr>
          <p:cNvPr id="35" name="Rectangle 34"/>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2  ·  Agro AI  ·  Big Onion Yield Prediction  ·  University of Moratuwa</a:t>
            </a:r>
          </a:p>
        </p:txBody>
      </p:sp>
      <p:sp>
        <p:nvSpPr>
          <p:cNvPr id="37" name="TextBox 36"/>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Arkam B.H.M.   |   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2</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Prediction Pipeline and Ensemble</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From engineered dataset to a single combined forecast</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2  ·  Prediction Engine</a:t>
            </a:r>
          </a:p>
        </p:txBody>
      </p:sp>
      <p:sp>
        <p:nvSpPr>
          <p:cNvPr id="8" name="Rounded Rectangle 7"/>
          <p:cNvSpPr/>
          <p:nvPr/>
        </p:nvSpPr>
        <p:spPr>
          <a:xfrm>
            <a:off x="566928" y="1444752"/>
            <a:ext cx="4846320" cy="603504"/>
          </a:xfrm>
          <a:prstGeom prst="roundRect">
            <a:avLst>
              <a:gd name="adj" fmla="val 14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75488" rIns="109728" tIns="18288" bIns="18288"/>
          <a:lstStyle/>
          <a:p>
            <a:pPr algn="l">
              <a:spcBef>
                <a:spcPts val="0"/>
              </a:spcBef>
              <a:spcAft>
                <a:spcPts val="0"/>
              </a:spcAft>
            </a:pPr>
            <a:r>
              <a:rPr sz="1150" b="1" i="0">
                <a:solidFill>
                  <a:srgbClr val="0E3B2B"/>
                </a:solidFill>
                <a:latin typeface="Calibri"/>
              </a:rPr>
              <a:t>Engineered dataset</a:t>
            </a:r>
          </a:p>
        </p:txBody>
      </p:sp>
      <p:sp>
        <p:nvSpPr>
          <p:cNvPr id="9" name="Oval 8"/>
          <p:cNvSpPr/>
          <p:nvPr/>
        </p:nvSpPr>
        <p:spPr>
          <a:xfrm>
            <a:off x="694944" y="1591056"/>
            <a:ext cx="310896" cy="310896"/>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050" b="1" i="0">
                <a:solidFill>
                  <a:srgbClr val="FFFFFF"/>
                </a:solidFill>
                <a:latin typeface="Calibri"/>
              </a:rPr>
              <a:t>1</a:t>
            </a:r>
          </a:p>
        </p:txBody>
      </p:sp>
      <p:sp>
        <p:nvSpPr>
          <p:cNvPr id="10" name="Down Arrow 9"/>
          <p:cNvSpPr/>
          <p:nvPr/>
        </p:nvSpPr>
        <p:spPr>
          <a:xfrm>
            <a:off x="2916936" y="2061972"/>
            <a:ext cx="146304" cy="14630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66928" y="2221992"/>
            <a:ext cx="4846320" cy="603504"/>
          </a:xfrm>
          <a:prstGeom prst="roundRect">
            <a:avLst>
              <a:gd name="adj" fmla="val 14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475488" rIns="109728" tIns="18288" bIns="18288"/>
          <a:lstStyle/>
          <a:p>
            <a:pPr algn="l">
              <a:spcBef>
                <a:spcPts val="0"/>
              </a:spcBef>
              <a:spcAft>
                <a:spcPts val="0"/>
              </a:spcAft>
            </a:pPr>
            <a:r>
              <a:rPr sz="1150" b="1" i="0">
                <a:solidFill>
                  <a:srgbClr val="0E3B2B"/>
                </a:solidFill>
                <a:latin typeface="Calibri"/>
              </a:rPr>
              <a:t>Train multiple models</a:t>
            </a:r>
          </a:p>
        </p:txBody>
      </p:sp>
      <p:sp>
        <p:nvSpPr>
          <p:cNvPr id="12" name="Oval 11"/>
          <p:cNvSpPr/>
          <p:nvPr/>
        </p:nvSpPr>
        <p:spPr>
          <a:xfrm>
            <a:off x="694944" y="2368296"/>
            <a:ext cx="310896" cy="310896"/>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050" b="1" i="0">
                <a:solidFill>
                  <a:srgbClr val="FFFFFF"/>
                </a:solidFill>
                <a:latin typeface="Calibri"/>
              </a:rPr>
              <a:t>2</a:t>
            </a:r>
          </a:p>
        </p:txBody>
      </p:sp>
      <p:sp>
        <p:nvSpPr>
          <p:cNvPr id="13" name="Down Arrow 12"/>
          <p:cNvSpPr/>
          <p:nvPr/>
        </p:nvSpPr>
        <p:spPr>
          <a:xfrm>
            <a:off x="2916936" y="2839212"/>
            <a:ext cx="146304" cy="14630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66928" y="2999232"/>
            <a:ext cx="4846320" cy="603504"/>
          </a:xfrm>
          <a:prstGeom prst="roundRect">
            <a:avLst>
              <a:gd name="adj" fmla="val 14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475488" rIns="109728" tIns="18288" bIns="18288"/>
          <a:lstStyle/>
          <a:p>
            <a:pPr algn="l">
              <a:spcBef>
                <a:spcPts val="0"/>
              </a:spcBef>
              <a:spcAft>
                <a:spcPts val="0"/>
              </a:spcAft>
            </a:pPr>
            <a:r>
              <a:rPr sz="1150" b="1" i="0">
                <a:solidFill>
                  <a:srgbClr val="0E3B2B"/>
                </a:solidFill>
                <a:latin typeface="Calibri"/>
              </a:rPr>
              <a:t>Generate out-of-fold predictions</a:t>
            </a:r>
          </a:p>
        </p:txBody>
      </p:sp>
      <p:sp>
        <p:nvSpPr>
          <p:cNvPr id="15" name="Oval 14"/>
          <p:cNvSpPr/>
          <p:nvPr/>
        </p:nvSpPr>
        <p:spPr>
          <a:xfrm>
            <a:off x="694944" y="3145536"/>
            <a:ext cx="310896" cy="310896"/>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050" b="1" i="0">
                <a:solidFill>
                  <a:srgbClr val="FFFFFF"/>
                </a:solidFill>
                <a:latin typeface="Calibri"/>
              </a:rPr>
              <a:t>3</a:t>
            </a:r>
          </a:p>
        </p:txBody>
      </p:sp>
      <p:sp>
        <p:nvSpPr>
          <p:cNvPr id="16" name="Down Arrow 15"/>
          <p:cNvSpPr/>
          <p:nvPr/>
        </p:nvSpPr>
        <p:spPr>
          <a:xfrm>
            <a:off x="2916936" y="3616452"/>
            <a:ext cx="146304" cy="14630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66928" y="3776472"/>
            <a:ext cx="4846320" cy="603504"/>
          </a:xfrm>
          <a:prstGeom prst="roundRect">
            <a:avLst>
              <a:gd name="adj" fmla="val 14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475488" rIns="109728" tIns="18288" bIns="18288"/>
          <a:lstStyle/>
          <a:p>
            <a:pPr algn="l">
              <a:spcBef>
                <a:spcPts val="0"/>
              </a:spcBef>
              <a:spcAft>
                <a:spcPts val="0"/>
              </a:spcAft>
            </a:pPr>
            <a:r>
              <a:rPr sz="1150" b="1" i="0">
                <a:solidFill>
                  <a:srgbClr val="0E3B2B"/>
                </a:solidFill>
                <a:latin typeface="Calibri"/>
              </a:rPr>
              <a:t>Compare model performance</a:t>
            </a:r>
          </a:p>
        </p:txBody>
      </p:sp>
      <p:sp>
        <p:nvSpPr>
          <p:cNvPr id="18" name="Oval 17"/>
          <p:cNvSpPr/>
          <p:nvPr/>
        </p:nvSpPr>
        <p:spPr>
          <a:xfrm>
            <a:off x="694944" y="3922776"/>
            <a:ext cx="310896" cy="310896"/>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050" b="1" i="0">
                <a:solidFill>
                  <a:srgbClr val="FFFFFF"/>
                </a:solidFill>
                <a:latin typeface="Calibri"/>
              </a:rPr>
              <a:t>4</a:t>
            </a:r>
          </a:p>
        </p:txBody>
      </p:sp>
      <p:sp>
        <p:nvSpPr>
          <p:cNvPr id="19" name="Down Arrow 18"/>
          <p:cNvSpPr/>
          <p:nvPr/>
        </p:nvSpPr>
        <p:spPr>
          <a:xfrm>
            <a:off x="2916936" y="4393692"/>
            <a:ext cx="146304" cy="14630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66928" y="4553712"/>
            <a:ext cx="4846320" cy="603504"/>
          </a:xfrm>
          <a:prstGeom prst="roundRect">
            <a:avLst>
              <a:gd name="adj" fmla="val 14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475488" rIns="109728" tIns="18288" bIns="18288"/>
          <a:lstStyle/>
          <a:p>
            <a:pPr algn="l">
              <a:spcBef>
                <a:spcPts val="0"/>
              </a:spcBef>
              <a:spcAft>
                <a:spcPts val="0"/>
              </a:spcAft>
            </a:pPr>
            <a:r>
              <a:rPr sz="1150" b="1" i="0">
                <a:solidFill>
                  <a:srgbClr val="0E3B2B"/>
                </a:solidFill>
                <a:latin typeface="Calibri"/>
              </a:rPr>
              <a:t>Combine models through stacking</a:t>
            </a:r>
          </a:p>
        </p:txBody>
      </p:sp>
      <p:sp>
        <p:nvSpPr>
          <p:cNvPr id="21" name="Oval 20"/>
          <p:cNvSpPr/>
          <p:nvPr/>
        </p:nvSpPr>
        <p:spPr>
          <a:xfrm>
            <a:off x="694944" y="4700016"/>
            <a:ext cx="310896" cy="310896"/>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050" b="1" i="0">
                <a:solidFill>
                  <a:srgbClr val="FFFFFF"/>
                </a:solidFill>
                <a:latin typeface="Calibri"/>
              </a:rPr>
              <a:t>5</a:t>
            </a:r>
          </a:p>
        </p:txBody>
      </p:sp>
      <p:sp>
        <p:nvSpPr>
          <p:cNvPr id="22" name="Down Arrow 21"/>
          <p:cNvSpPr/>
          <p:nvPr/>
        </p:nvSpPr>
        <p:spPr>
          <a:xfrm>
            <a:off x="2916936" y="5170932"/>
            <a:ext cx="146304" cy="14630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66928" y="5330952"/>
            <a:ext cx="4846320" cy="603504"/>
          </a:xfrm>
          <a:prstGeom prst="roundRect">
            <a:avLst>
              <a:gd name="adj" fmla="val 14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75488" rIns="109728" tIns="18288" bIns="18288"/>
          <a:lstStyle/>
          <a:p>
            <a:pPr algn="l">
              <a:spcBef>
                <a:spcPts val="0"/>
              </a:spcBef>
              <a:spcAft>
                <a:spcPts val="0"/>
              </a:spcAft>
            </a:pPr>
            <a:r>
              <a:rPr sz="1150" b="1" i="0">
                <a:solidFill>
                  <a:srgbClr val="FFFFFF"/>
                </a:solidFill>
                <a:latin typeface="Calibri"/>
              </a:rPr>
              <a:t>Final yield prediction</a:t>
            </a:r>
          </a:p>
        </p:txBody>
      </p:sp>
      <p:sp>
        <p:nvSpPr>
          <p:cNvPr id="24" name="Oval 23"/>
          <p:cNvSpPr/>
          <p:nvPr/>
        </p:nvSpPr>
        <p:spPr>
          <a:xfrm>
            <a:off x="694944" y="5477256"/>
            <a:ext cx="310896" cy="310896"/>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050" b="1" i="0">
                <a:solidFill>
                  <a:srgbClr val="FFFFFF"/>
                </a:solidFill>
                <a:latin typeface="Calibri"/>
              </a:rPr>
              <a:t>6</a:t>
            </a:r>
          </a:p>
        </p:txBody>
      </p:sp>
      <p:sp>
        <p:nvSpPr>
          <p:cNvPr id="25" name="Rounded Rectangle 24"/>
          <p:cNvSpPr/>
          <p:nvPr/>
        </p:nvSpPr>
        <p:spPr>
          <a:xfrm>
            <a:off x="5797296" y="1444752"/>
            <a:ext cx="5827471" cy="2103120"/>
          </a:xfrm>
          <a:prstGeom prst="roundRect">
            <a:avLst>
              <a:gd name="adj" fmla="val 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16752" y="1554480"/>
            <a:ext cx="5388559" cy="274320"/>
          </a:xfrm>
          <a:prstGeom prst="rect">
            <a:avLst/>
          </a:prstGeom>
          <a:noFill/>
        </p:spPr>
        <p:txBody>
          <a:bodyPr wrap="square" lIns="0" rIns="0" tIns="0" bIns="0" anchor="t">
            <a:spAutoFit/>
          </a:bodyPr>
          <a:lstStyle/>
          <a:p>
            <a:pPr algn="l">
              <a:spcBef>
                <a:spcPts val="0"/>
              </a:spcBef>
              <a:spcAft>
                <a:spcPts val="0"/>
              </a:spcAft>
            </a:pPr>
            <a:r>
              <a:rPr sz="1300" b="1" i="0">
                <a:solidFill>
                  <a:srgbClr val="0E3B2B"/>
                </a:solidFill>
                <a:latin typeface="Calibri"/>
              </a:rPr>
              <a:t>Ensemble / stacking strategies</a:t>
            </a:r>
          </a:p>
        </p:txBody>
      </p:sp>
      <p:sp>
        <p:nvSpPr>
          <p:cNvPr id="27" name="Oval 26"/>
          <p:cNvSpPr/>
          <p:nvPr/>
        </p:nvSpPr>
        <p:spPr>
          <a:xfrm>
            <a:off x="6016752" y="1993392"/>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28" name="TextBox 27"/>
          <p:cNvSpPr txBox="1"/>
          <p:nvPr/>
        </p:nvSpPr>
        <p:spPr>
          <a:xfrm>
            <a:off x="6291072" y="1901952"/>
            <a:ext cx="5095951" cy="512064"/>
          </a:xfrm>
          <a:prstGeom prst="rect">
            <a:avLst/>
          </a:prstGeom>
          <a:noFill/>
        </p:spPr>
        <p:txBody>
          <a:bodyPr wrap="square" lIns="0" rIns="0" tIns="0" bIns="0" anchor="t">
            <a:spAutoFit/>
          </a:bodyPr>
          <a:lstStyle/>
          <a:p>
            <a:pPr algn="l">
              <a:spcBef>
                <a:spcPts val="0"/>
              </a:spcBef>
              <a:spcAft>
                <a:spcPts val="100"/>
              </a:spcAft>
            </a:pPr>
            <a:r>
              <a:rPr sz="1100" b="1" i="0">
                <a:solidFill>
                  <a:srgbClr val="0E3B2B"/>
                </a:solidFill>
                <a:latin typeface="Calibri"/>
              </a:rPr>
              <a:t>Equal-weight averaging</a:t>
            </a:r>
          </a:p>
          <a:p>
            <a:pPr algn="l">
              <a:lnSpc>
                <a:spcPct val="98000"/>
              </a:lnSpc>
              <a:spcBef>
                <a:spcPts val="0"/>
              </a:spcBef>
              <a:spcAft>
                <a:spcPts val="0"/>
              </a:spcAft>
            </a:pPr>
            <a:r>
              <a:rPr sz="950" b="0" i="0">
                <a:solidFill>
                  <a:srgbClr val="6B7A70"/>
                </a:solidFill>
                <a:latin typeface="Calibri"/>
              </a:rPr>
              <a:t>estimates nothing</a:t>
            </a:r>
          </a:p>
        </p:txBody>
      </p:sp>
      <p:sp>
        <p:nvSpPr>
          <p:cNvPr id="29" name="Oval 28"/>
          <p:cNvSpPr/>
          <p:nvPr/>
        </p:nvSpPr>
        <p:spPr>
          <a:xfrm>
            <a:off x="6016752" y="2523744"/>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30" name="TextBox 29"/>
          <p:cNvSpPr txBox="1"/>
          <p:nvPr/>
        </p:nvSpPr>
        <p:spPr>
          <a:xfrm>
            <a:off x="6291072" y="2432304"/>
            <a:ext cx="5095951" cy="512064"/>
          </a:xfrm>
          <a:prstGeom prst="rect">
            <a:avLst/>
          </a:prstGeom>
          <a:noFill/>
        </p:spPr>
        <p:txBody>
          <a:bodyPr wrap="square" lIns="0" rIns="0" tIns="0" bIns="0" anchor="t">
            <a:spAutoFit/>
          </a:bodyPr>
          <a:lstStyle/>
          <a:p>
            <a:pPr algn="l">
              <a:spcBef>
                <a:spcPts val="0"/>
              </a:spcBef>
              <a:spcAft>
                <a:spcPts val="100"/>
              </a:spcAft>
            </a:pPr>
            <a:r>
              <a:rPr sz="1100" b="1" i="0">
                <a:solidFill>
                  <a:srgbClr val="0E3B2B"/>
                </a:solidFill>
                <a:latin typeface="Calibri"/>
              </a:rPr>
              <a:t>Inverse-RMSE weighting</a:t>
            </a:r>
          </a:p>
          <a:p>
            <a:pPr algn="l">
              <a:lnSpc>
                <a:spcPct val="98000"/>
              </a:lnSpc>
              <a:spcBef>
                <a:spcPts val="0"/>
              </a:spcBef>
              <a:spcAft>
                <a:spcPts val="0"/>
              </a:spcAft>
            </a:pPr>
            <a:r>
              <a:rPr sz="950" b="0" i="0">
                <a:solidFill>
                  <a:srgbClr val="6B7A70"/>
                </a:solidFill>
                <a:latin typeface="Calibri"/>
              </a:rPr>
              <a:t>estimates one reliability scalar per model</a:t>
            </a:r>
          </a:p>
        </p:txBody>
      </p:sp>
      <p:sp>
        <p:nvSpPr>
          <p:cNvPr id="31" name="Oval 30"/>
          <p:cNvSpPr/>
          <p:nvPr/>
        </p:nvSpPr>
        <p:spPr>
          <a:xfrm>
            <a:off x="6016752" y="3054096"/>
            <a:ext cx="182880" cy="18288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100" b="1" i="0">
                <a:solidFill>
                  <a:srgbClr val="FFFFFF"/>
                </a:solidFill>
                <a:latin typeface="Calibri"/>
              </a:rPr>
              <a:t>•</a:t>
            </a:r>
          </a:p>
        </p:txBody>
      </p:sp>
      <p:sp>
        <p:nvSpPr>
          <p:cNvPr id="32" name="TextBox 31"/>
          <p:cNvSpPr txBox="1"/>
          <p:nvPr/>
        </p:nvSpPr>
        <p:spPr>
          <a:xfrm>
            <a:off x="6291072" y="2962656"/>
            <a:ext cx="5095951" cy="512064"/>
          </a:xfrm>
          <a:prstGeom prst="rect">
            <a:avLst/>
          </a:prstGeom>
          <a:noFill/>
        </p:spPr>
        <p:txBody>
          <a:bodyPr wrap="square" lIns="0" rIns="0" tIns="0" bIns="0" anchor="t">
            <a:spAutoFit/>
          </a:bodyPr>
          <a:lstStyle/>
          <a:p>
            <a:pPr algn="l">
              <a:spcBef>
                <a:spcPts val="0"/>
              </a:spcBef>
              <a:spcAft>
                <a:spcPts val="100"/>
              </a:spcAft>
            </a:pPr>
            <a:r>
              <a:rPr sz="1100" b="1" i="0">
                <a:solidFill>
                  <a:srgbClr val="0E3B2B"/>
                </a:solidFill>
                <a:latin typeface="Calibri"/>
              </a:rPr>
              <a:t>Constrained convex weighting</a:t>
            </a:r>
          </a:p>
          <a:p>
            <a:pPr algn="l">
              <a:lnSpc>
                <a:spcPct val="98000"/>
              </a:lnSpc>
              <a:spcBef>
                <a:spcPts val="0"/>
              </a:spcBef>
              <a:spcAft>
                <a:spcPts val="0"/>
              </a:spcAft>
            </a:pPr>
            <a:r>
              <a:rPr sz="950" b="0" i="0">
                <a:solidFill>
                  <a:srgbClr val="6B7A70"/>
                </a:solidFill>
                <a:latin typeface="Calibri"/>
              </a:rPr>
              <a:t>non-negative weights summing to one, so the blend cannot be driven outside the base predictions</a:t>
            </a:r>
          </a:p>
        </p:txBody>
      </p:sp>
      <p:sp>
        <p:nvSpPr>
          <p:cNvPr id="33" name="Rounded Rectangle 32"/>
          <p:cNvSpPr/>
          <p:nvPr/>
        </p:nvSpPr>
        <p:spPr>
          <a:xfrm>
            <a:off x="5797296" y="3712463"/>
            <a:ext cx="5827471" cy="1700784"/>
          </a:xfrm>
          <a:prstGeom prst="roundRect">
            <a:avLst>
              <a:gd name="adj" fmla="val 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016752" y="3822191"/>
            <a:ext cx="5388559" cy="274320"/>
          </a:xfrm>
          <a:prstGeom prst="rect">
            <a:avLst/>
          </a:prstGeom>
          <a:noFill/>
        </p:spPr>
        <p:txBody>
          <a:bodyPr wrap="square" lIns="0" rIns="0" tIns="0" bIns="0" anchor="t">
            <a:spAutoFit/>
          </a:bodyPr>
          <a:lstStyle/>
          <a:p>
            <a:pPr algn="l">
              <a:spcBef>
                <a:spcPts val="0"/>
              </a:spcBef>
              <a:spcAft>
                <a:spcPts val="0"/>
              </a:spcAft>
            </a:pPr>
            <a:r>
              <a:rPr sz="1300" b="1" i="0">
                <a:solidFill>
                  <a:srgbClr val="0E3B2B"/>
                </a:solidFill>
                <a:latin typeface="Calibri"/>
              </a:rPr>
              <a:t>Module outputs</a:t>
            </a:r>
          </a:p>
        </p:txBody>
      </p:sp>
      <p:sp>
        <p:nvSpPr>
          <p:cNvPr id="35" name="Rounded Rectangle 34"/>
          <p:cNvSpPr/>
          <p:nvPr/>
        </p:nvSpPr>
        <p:spPr>
          <a:xfrm>
            <a:off x="6016752" y="4169663"/>
            <a:ext cx="5388559"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3A4A40"/>
                </a:solidFill>
                <a:latin typeface="Calibri"/>
              </a:rPr>
              <a:t>Predicted yield in metric tons per hectare</a:t>
            </a:r>
          </a:p>
        </p:txBody>
      </p:sp>
      <p:sp>
        <p:nvSpPr>
          <p:cNvPr id="36" name="Rounded Rectangle 35"/>
          <p:cNvSpPr/>
          <p:nvPr/>
        </p:nvSpPr>
        <p:spPr>
          <a:xfrm>
            <a:off x="6016752" y="4462272"/>
            <a:ext cx="5388559"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3A4A40"/>
                </a:solidFill>
                <a:latin typeface="Calibri"/>
              </a:rPr>
              <a:t>Best single model or ensemble prediction</a:t>
            </a:r>
          </a:p>
        </p:txBody>
      </p:sp>
      <p:sp>
        <p:nvSpPr>
          <p:cNvPr id="37" name="Rounded Rectangle 36"/>
          <p:cNvSpPr/>
          <p:nvPr/>
        </p:nvSpPr>
        <p:spPr>
          <a:xfrm>
            <a:off x="6016752" y="4754879"/>
            <a:ext cx="5388559"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3A4A40"/>
                </a:solidFill>
                <a:latin typeface="Calibri"/>
              </a:rPr>
              <a:t>Persisted trained model artefacts</a:t>
            </a:r>
          </a:p>
        </p:txBody>
      </p:sp>
      <p:sp>
        <p:nvSpPr>
          <p:cNvPr id="38" name="Rounded Rectangle 37"/>
          <p:cNvSpPr/>
          <p:nvPr/>
        </p:nvSpPr>
        <p:spPr>
          <a:xfrm>
            <a:off x="6016752" y="5047488"/>
            <a:ext cx="5388559"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l">
              <a:lnSpc>
                <a:spcPct val="92000"/>
              </a:lnSpc>
              <a:spcBef>
                <a:spcPts val="0"/>
              </a:spcBef>
              <a:spcAft>
                <a:spcPts val="0"/>
              </a:spcAft>
            </a:pPr>
            <a:r>
              <a:rPr sz="1000" b="0" i="0">
                <a:solidFill>
                  <a:srgbClr val="3A4A40"/>
                </a:solidFill>
                <a:latin typeface="Calibri"/>
              </a:rPr>
              <a:t>Model-comparison results across all families</a:t>
            </a:r>
          </a:p>
        </p:txBody>
      </p:sp>
      <p:sp>
        <p:nvSpPr>
          <p:cNvPr id="39" name="Rounded Rectangle 38"/>
          <p:cNvSpPr/>
          <p:nvPr/>
        </p:nvSpPr>
        <p:spPr>
          <a:xfrm>
            <a:off x="5797296" y="5577840"/>
            <a:ext cx="5827471" cy="566928"/>
          </a:xfrm>
          <a:prstGeom prst="roundRect">
            <a:avLst>
              <a:gd name="adj" fmla="val 16000"/>
            </a:avLst>
          </a:prstGeom>
          <a:solidFill>
            <a:srgbClr val="FBEFDC"/>
          </a:solidFill>
          <a:ln w="12700">
            <a:solidFill>
              <a:srgbClr val="ECD6AF"/>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8288" bIns="18288"/>
          <a:lstStyle/>
          <a:p>
            <a:pPr algn="l">
              <a:lnSpc>
                <a:spcPct val="100000"/>
              </a:lnSpc>
              <a:spcBef>
                <a:spcPts val="0"/>
              </a:spcBef>
              <a:spcAft>
                <a:spcPts val="0"/>
              </a:spcAft>
            </a:pPr>
            <a:r>
              <a:rPr sz="1000" b="1" i="0">
                <a:solidFill>
                  <a:srgbClr val="9B5A12"/>
                </a:solidFill>
                <a:latin typeface="Calibri"/>
              </a:rPr>
              <a:t>The meta-learner is fitted only on out-of-fold predictions, so it learns from realistic errors — never from a model's own training residuals.</a:t>
            </a:r>
          </a:p>
        </p:txBody>
      </p:sp>
      <p:sp>
        <p:nvSpPr>
          <p:cNvPr id="40" name="Rectangle 39"/>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2  ·  Agro AI  ·  Big Onion Yield Prediction  ·  University of Moratuwa</a:t>
            </a:r>
          </a:p>
        </p:txBody>
      </p:sp>
      <p:sp>
        <p:nvSpPr>
          <p:cNvPr id="42" name="TextBox 41"/>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Arkam B.H.M.   |   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2</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Honest Evaluation and Uncertainty</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Leave-One-Year-Out validation and distribution-free intervals</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2  ·  Prediction Engine</a:t>
            </a:r>
          </a:p>
        </p:txBody>
      </p:sp>
      <p:sp>
        <p:nvSpPr>
          <p:cNvPr id="8" name="TextBox 7"/>
          <p:cNvSpPr txBox="1"/>
          <p:nvPr/>
        </p:nvSpPr>
        <p:spPr>
          <a:xfrm>
            <a:off x="566928" y="1426464"/>
            <a:ext cx="6035040" cy="237744"/>
          </a:xfrm>
          <a:prstGeom prst="rect">
            <a:avLst/>
          </a:prstGeom>
          <a:noFill/>
        </p:spPr>
        <p:txBody>
          <a:bodyPr wrap="square" lIns="0" rIns="0" tIns="0" bIns="0" anchor="t">
            <a:spAutoFit/>
          </a:bodyPr>
          <a:lstStyle/>
          <a:p>
            <a:pPr algn="l">
              <a:spcBef>
                <a:spcPts val="0"/>
              </a:spcBef>
              <a:spcAft>
                <a:spcPts val="0"/>
              </a:spcAft>
            </a:pPr>
            <a:r>
              <a:rPr sz="1000" b="1" i="0" spc="130">
                <a:solidFill>
                  <a:srgbClr val="2F7D4F"/>
                </a:solidFill>
                <a:latin typeface="Calibri"/>
              </a:rPr>
              <a:t>LEAVE-ONE-YEAR-OUT CROSS-VALIDATION</a:t>
            </a:r>
          </a:p>
        </p:txBody>
      </p:sp>
      <p:sp>
        <p:nvSpPr>
          <p:cNvPr id="9" name="Rectangle 8"/>
          <p:cNvSpPr/>
          <p:nvPr/>
        </p:nvSpPr>
        <p:spPr>
          <a:xfrm>
            <a:off x="1527048" y="1700784"/>
            <a:ext cx="603504"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a:solidFill>
                  <a:srgbClr val="6B7A70"/>
                </a:solidFill>
                <a:latin typeface="Calibri"/>
              </a:rPr>
              <a:t>2019</a:t>
            </a:r>
          </a:p>
        </p:txBody>
      </p:sp>
      <p:sp>
        <p:nvSpPr>
          <p:cNvPr id="10" name="Rectangle 9"/>
          <p:cNvSpPr/>
          <p:nvPr/>
        </p:nvSpPr>
        <p:spPr>
          <a:xfrm>
            <a:off x="2199132" y="1700784"/>
            <a:ext cx="603504"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a:solidFill>
                  <a:srgbClr val="6B7A70"/>
                </a:solidFill>
                <a:latin typeface="Calibri"/>
              </a:rPr>
              <a:t>2020</a:t>
            </a:r>
          </a:p>
        </p:txBody>
      </p:sp>
      <p:sp>
        <p:nvSpPr>
          <p:cNvPr id="11" name="Rectangle 10"/>
          <p:cNvSpPr/>
          <p:nvPr/>
        </p:nvSpPr>
        <p:spPr>
          <a:xfrm>
            <a:off x="2871215" y="1700784"/>
            <a:ext cx="603504"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a:solidFill>
                  <a:srgbClr val="6B7A70"/>
                </a:solidFill>
                <a:latin typeface="Calibri"/>
              </a:rPr>
              <a:t>2021</a:t>
            </a:r>
          </a:p>
        </p:txBody>
      </p:sp>
      <p:sp>
        <p:nvSpPr>
          <p:cNvPr id="12" name="Rectangle 11"/>
          <p:cNvSpPr/>
          <p:nvPr/>
        </p:nvSpPr>
        <p:spPr>
          <a:xfrm>
            <a:off x="3543300" y="1700784"/>
            <a:ext cx="603504"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a:solidFill>
                  <a:srgbClr val="6B7A70"/>
                </a:solidFill>
                <a:latin typeface="Calibri"/>
              </a:rPr>
              <a:t>2022</a:t>
            </a:r>
          </a:p>
        </p:txBody>
      </p:sp>
      <p:sp>
        <p:nvSpPr>
          <p:cNvPr id="13" name="Rectangle 12"/>
          <p:cNvSpPr/>
          <p:nvPr/>
        </p:nvSpPr>
        <p:spPr>
          <a:xfrm>
            <a:off x="4215383" y="1700784"/>
            <a:ext cx="603504"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a:solidFill>
                  <a:srgbClr val="6B7A70"/>
                </a:solidFill>
                <a:latin typeface="Calibri"/>
              </a:rPr>
              <a:t>2023</a:t>
            </a:r>
          </a:p>
        </p:txBody>
      </p:sp>
      <p:sp>
        <p:nvSpPr>
          <p:cNvPr id="14" name="Rectangle 13"/>
          <p:cNvSpPr/>
          <p:nvPr/>
        </p:nvSpPr>
        <p:spPr>
          <a:xfrm>
            <a:off x="4887468" y="1700784"/>
            <a:ext cx="603504"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a:solidFill>
                  <a:srgbClr val="6B7A70"/>
                </a:solidFill>
                <a:latin typeface="Calibri"/>
              </a:rPr>
              <a:t>2024</a:t>
            </a:r>
          </a:p>
        </p:txBody>
      </p:sp>
      <p:sp>
        <p:nvSpPr>
          <p:cNvPr id="15" name="Rectangle 14"/>
          <p:cNvSpPr/>
          <p:nvPr/>
        </p:nvSpPr>
        <p:spPr>
          <a:xfrm>
            <a:off x="5559552" y="1700784"/>
            <a:ext cx="603504"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a:solidFill>
                  <a:srgbClr val="6B7A70"/>
                </a:solidFill>
                <a:latin typeface="Calibri"/>
              </a:rPr>
              <a:t>2025</a:t>
            </a:r>
          </a:p>
        </p:txBody>
      </p:sp>
      <p:sp>
        <p:nvSpPr>
          <p:cNvPr id="16" name="TextBox 15"/>
          <p:cNvSpPr txBox="1"/>
          <p:nvPr/>
        </p:nvSpPr>
        <p:spPr>
          <a:xfrm>
            <a:off x="566928" y="2039112"/>
            <a:ext cx="914400" cy="256032"/>
          </a:xfrm>
          <a:prstGeom prst="rect">
            <a:avLst/>
          </a:prstGeom>
          <a:noFill/>
        </p:spPr>
        <p:txBody>
          <a:bodyPr wrap="square" lIns="0" rIns="0" tIns="0" bIns="0" anchor="t">
            <a:spAutoFit/>
          </a:bodyPr>
          <a:lstStyle/>
          <a:p>
            <a:pPr algn="l">
              <a:spcBef>
                <a:spcPts val="0"/>
              </a:spcBef>
              <a:spcAft>
                <a:spcPts val="0"/>
              </a:spcAft>
            </a:pPr>
            <a:r>
              <a:rPr sz="950" b="1" i="0">
                <a:solidFill>
                  <a:srgbClr val="0E3B2B"/>
                </a:solidFill>
                <a:latin typeface="Calibri"/>
              </a:rPr>
              <a:t>Fold 1</a:t>
            </a:r>
          </a:p>
        </p:txBody>
      </p:sp>
      <p:sp>
        <p:nvSpPr>
          <p:cNvPr id="17" name="Rounded Rectangle 16"/>
          <p:cNvSpPr/>
          <p:nvPr/>
        </p:nvSpPr>
        <p:spPr>
          <a:xfrm>
            <a:off x="1527048" y="2011680"/>
            <a:ext cx="603504" cy="274320"/>
          </a:xfrm>
          <a:prstGeom prst="roundRect">
            <a:avLst>
              <a:gd name="adj" fmla="val 20000"/>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FFFFFF"/>
                </a:solidFill>
                <a:latin typeface="Calibri"/>
              </a:rPr>
              <a:t>Test</a:t>
            </a:r>
          </a:p>
        </p:txBody>
      </p:sp>
      <p:sp>
        <p:nvSpPr>
          <p:cNvPr id="18" name="Rounded Rectangle 17"/>
          <p:cNvSpPr/>
          <p:nvPr/>
        </p:nvSpPr>
        <p:spPr>
          <a:xfrm>
            <a:off x="2199132" y="20116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19" name="Rounded Rectangle 18"/>
          <p:cNvSpPr/>
          <p:nvPr/>
        </p:nvSpPr>
        <p:spPr>
          <a:xfrm>
            <a:off x="2871215" y="20116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20" name="Rounded Rectangle 19"/>
          <p:cNvSpPr/>
          <p:nvPr/>
        </p:nvSpPr>
        <p:spPr>
          <a:xfrm>
            <a:off x="3543300" y="20116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21" name="Rounded Rectangle 20"/>
          <p:cNvSpPr/>
          <p:nvPr/>
        </p:nvSpPr>
        <p:spPr>
          <a:xfrm>
            <a:off x="4215383" y="20116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22" name="Rounded Rectangle 21"/>
          <p:cNvSpPr/>
          <p:nvPr/>
        </p:nvSpPr>
        <p:spPr>
          <a:xfrm>
            <a:off x="4887468" y="20116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23" name="Rounded Rectangle 22"/>
          <p:cNvSpPr/>
          <p:nvPr/>
        </p:nvSpPr>
        <p:spPr>
          <a:xfrm>
            <a:off x="5559552" y="20116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24" name="TextBox 23"/>
          <p:cNvSpPr txBox="1"/>
          <p:nvPr/>
        </p:nvSpPr>
        <p:spPr>
          <a:xfrm>
            <a:off x="566928" y="2382012"/>
            <a:ext cx="914400" cy="256032"/>
          </a:xfrm>
          <a:prstGeom prst="rect">
            <a:avLst/>
          </a:prstGeom>
          <a:noFill/>
        </p:spPr>
        <p:txBody>
          <a:bodyPr wrap="square" lIns="0" rIns="0" tIns="0" bIns="0" anchor="t">
            <a:spAutoFit/>
          </a:bodyPr>
          <a:lstStyle/>
          <a:p>
            <a:pPr algn="l">
              <a:spcBef>
                <a:spcPts val="0"/>
              </a:spcBef>
              <a:spcAft>
                <a:spcPts val="0"/>
              </a:spcAft>
            </a:pPr>
            <a:r>
              <a:rPr sz="950" b="1" i="0">
                <a:solidFill>
                  <a:srgbClr val="0E3B2B"/>
                </a:solidFill>
                <a:latin typeface="Calibri"/>
              </a:rPr>
              <a:t>Fold 2</a:t>
            </a:r>
          </a:p>
        </p:txBody>
      </p:sp>
      <p:sp>
        <p:nvSpPr>
          <p:cNvPr id="25" name="Rounded Rectangle 24"/>
          <p:cNvSpPr/>
          <p:nvPr/>
        </p:nvSpPr>
        <p:spPr>
          <a:xfrm>
            <a:off x="1527048" y="23545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26" name="Rounded Rectangle 25"/>
          <p:cNvSpPr/>
          <p:nvPr/>
        </p:nvSpPr>
        <p:spPr>
          <a:xfrm>
            <a:off x="2199132" y="2354580"/>
            <a:ext cx="603504" cy="274320"/>
          </a:xfrm>
          <a:prstGeom prst="roundRect">
            <a:avLst>
              <a:gd name="adj" fmla="val 20000"/>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FFFFFF"/>
                </a:solidFill>
                <a:latin typeface="Calibri"/>
              </a:rPr>
              <a:t>Test</a:t>
            </a:r>
          </a:p>
        </p:txBody>
      </p:sp>
      <p:sp>
        <p:nvSpPr>
          <p:cNvPr id="27" name="Rounded Rectangle 26"/>
          <p:cNvSpPr/>
          <p:nvPr/>
        </p:nvSpPr>
        <p:spPr>
          <a:xfrm>
            <a:off x="2871215" y="23545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28" name="Rounded Rectangle 27"/>
          <p:cNvSpPr/>
          <p:nvPr/>
        </p:nvSpPr>
        <p:spPr>
          <a:xfrm>
            <a:off x="3543300" y="23545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29" name="Rounded Rectangle 28"/>
          <p:cNvSpPr/>
          <p:nvPr/>
        </p:nvSpPr>
        <p:spPr>
          <a:xfrm>
            <a:off x="4215383" y="23545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30" name="Rounded Rectangle 29"/>
          <p:cNvSpPr/>
          <p:nvPr/>
        </p:nvSpPr>
        <p:spPr>
          <a:xfrm>
            <a:off x="4887468" y="23545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31" name="Rounded Rectangle 30"/>
          <p:cNvSpPr/>
          <p:nvPr/>
        </p:nvSpPr>
        <p:spPr>
          <a:xfrm>
            <a:off x="5559552" y="23545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32" name="TextBox 31"/>
          <p:cNvSpPr txBox="1"/>
          <p:nvPr/>
        </p:nvSpPr>
        <p:spPr>
          <a:xfrm>
            <a:off x="566928" y="2724912"/>
            <a:ext cx="914400" cy="256032"/>
          </a:xfrm>
          <a:prstGeom prst="rect">
            <a:avLst/>
          </a:prstGeom>
          <a:noFill/>
        </p:spPr>
        <p:txBody>
          <a:bodyPr wrap="square" lIns="0" rIns="0" tIns="0" bIns="0" anchor="t">
            <a:spAutoFit/>
          </a:bodyPr>
          <a:lstStyle/>
          <a:p>
            <a:pPr algn="l">
              <a:spcBef>
                <a:spcPts val="0"/>
              </a:spcBef>
              <a:spcAft>
                <a:spcPts val="0"/>
              </a:spcAft>
            </a:pPr>
            <a:r>
              <a:rPr sz="950" b="1" i="0">
                <a:solidFill>
                  <a:srgbClr val="0E3B2B"/>
                </a:solidFill>
                <a:latin typeface="Calibri"/>
              </a:rPr>
              <a:t>Fold 3</a:t>
            </a:r>
          </a:p>
        </p:txBody>
      </p:sp>
      <p:sp>
        <p:nvSpPr>
          <p:cNvPr id="33" name="Rounded Rectangle 32"/>
          <p:cNvSpPr/>
          <p:nvPr/>
        </p:nvSpPr>
        <p:spPr>
          <a:xfrm>
            <a:off x="1527048" y="26974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34" name="Rounded Rectangle 33"/>
          <p:cNvSpPr/>
          <p:nvPr/>
        </p:nvSpPr>
        <p:spPr>
          <a:xfrm>
            <a:off x="2199132" y="26974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35" name="Rounded Rectangle 34"/>
          <p:cNvSpPr/>
          <p:nvPr/>
        </p:nvSpPr>
        <p:spPr>
          <a:xfrm>
            <a:off x="2871215" y="2697480"/>
            <a:ext cx="603504" cy="274320"/>
          </a:xfrm>
          <a:prstGeom prst="roundRect">
            <a:avLst>
              <a:gd name="adj" fmla="val 20000"/>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FFFFFF"/>
                </a:solidFill>
                <a:latin typeface="Calibri"/>
              </a:rPr>
              <a:t>Test</a:t>
            </a:r>
          </a:p>
        </p:txBody>
      </p:sp>
      <p:sp>
        <p:nvSpPr>
          <p:cNvPr id="36" name="Rounded Rectangle 35"/>
          <p:cNvSpPr/>
          <p:nvPr/>
        </p:nvSpPr>
        <p:spPr>
          <a:xfrm>
            <a:off x="3543300" y="26974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37" name="Rounded Rectangle 36"/>
          <p:cNvSpPr/>
          <p:nvPr/>
        </p:nvSpPr>
        <p:spPr>
          <a:xfrm>
            <a:off x="4215383" y="26974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38" name="Rounded Rectangle 37"/>
          <p:cNvSpPr/>
          <p:nvPr/>
        </p:nvSpPr>
        <p:spPr>
          <a:xfrm>
            <a:off x="4887468" y="26974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39" name="Rounded Rectangle 38"/>
          <p:cNvSpPr/>
          <p:nvPr/>
        </p:nvSpPr>
        <p:spPr>
          <a:xfrm>
            <a:off x="5559552" y="26974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40" name="TextBox 39"/>
          <p:cNvSpPr txBox="1"/>
          <p:nvPr/>
        </p:nvSpPr>
        <p:spPr>
          <a:xfrm>
            <a:off x="566928" y="3067812"/>
            <a:ext cx="914400" cy="256032"/>
          </a:xfrm>
          <a:prstGeom prst="rect">
            <a:avLst/>
          </a:prstGeom>
          <a:noFill/>
        </p:spPr>
        <p:txBody>
          <a:bodyPr wrap="square" lIns="0" rIns="0" tIns="0" bIns="0" anchor="t">
            <a:spAutoFit/>
          </a:bodyPr>
          <a:lstStyle/>
          <a:p>
            <a:pPr algn="l">
              <a:spcBef>
                <a:spcPts val="0"/>
              </a:spcBef>
              <a:spcAft>
                <a:spcPts val="0"/>
              </a:spcAft>
            </a:pPr>
            <a:r>
              <a:rPr sz="950" b="1" i="0">
                <a:solidFill>
                  <a:srgbClr val="0E3B2B"/>
                </a:solidFill>
                <a:latin typeface="Calibri"/>
              </a:rPr>
              <a:t>...</a:t>
            </a:r>
          </a:p>
        </p:txBody>
      </p:sp>
      <p:sp>
        <p:nvSpPr>
          <p:cNvPr id="41" name="TextBox 40"/>
          <p:cNvSpPr txBox="1"/>
          <p:nvPr/>
        </p:nvSpPr>
        <p:spPr>
          <a:xfrm>
            <a:off x="1527048" y="3058668"/>
            <a:ext cx="4937760" cy="256032"/>
          </a:xfrm>
          <a:prstGeom prst="rect">
            <a:avLst/>
          </a:prstGeom>
          <a:noFill/>
        </p:spPr>
        <p:txBody>
          <a:bodyPr wrap="square" lIns="0" rIns="0" tIns="0" bIns="0" anchor="t">
            <a:spAutoFit/>
          </a:bodyPr>
          <a:lstStyle/>
          <a:p>
            <a:pPr algn="ctr">
              <a:spcBef>
                <a:spcPts val="0"/>
              </a:spcBef>
              <a:spcAft>
                <a:spcPts val="0"/>
              </a:spcAft>
            </a:pPr>
            <a:r>
              <a:rPr sz="950" b="0" i="0">
                <a:solidFill>
                  <a:srgbClr val="6B7A70"/>
                </a:solidFill>
                <a:latin typeface="Calibri"/>
              </a:rPr>
              <a:t>·  ·  ·   rotate through every year   ·  ·  ·</a:t>
            </a:r>
          </a:p>
        </p:txBody>
      </p:sp>
      <p:sp>
        <p:nvSpPr>
          <p:cNvPr id="42" name="TextBox 41"/>
          <p:cNvSpPr txBox="1"/>
          <p:nvPr/>
        </p:nvSpPr>
        <p:spPr>
          <a:xfrm>
            <a:off x="566928" y="3410712"/>
            <a:ext cx="914400" cy="256032"/>
          </a:xfrm>
          <a:prstGeom prst="rect">
            <a:avLst/>
          </a:prstGeom>
          <a:noFill/>
        </p:spPr>
        <p:txBody>
          <a:bodyPr wrap="square" lIns="0" rIns="0" tIns="0" bIns="0" anchor="t">
            <a:spAutoFit/>
          </a:bodyPr>
          <a:lstStyle/>
          <a:p>
            <a:pPr algn="l">
              <a:spcBef>
                <a:spcPts val="0"/>
              </a:spcBef>
              <a:spcAft>
                <a:spcPts val="0"/>
              </a:spcAft>
            </a:pPr>
            <a:r>
              <a:rPr sz="950" b="1" i="0">
                <a:solidFill>
                  <a:srgbClr val="0E3B2B"/>
                </a:solidFill>
                <a:latin typeface="Calibri"/>
              </a:rPr>
              <a:t>Fold 7</a:t>
            </a:r>
          </a:p>
        </p:txBody>
      </p:sp>
      <p:sp>
        <p:nvSpPr>
          <p:cNvPr id="43" name="Rounded Rectangle 42"/>
          <p:cNvSpPr/>
          <p:nvPr/>
        </p:nvSpPr>
        <p:spPr>
          <a:xfrm>
            <a:off x="1527048" y="33832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44" name="Rounded Rectangle 43"/>
          <p:cNvSpPr/>
          <p:nvPr/>
        </p:nvSpPr>
        <p:spPr>
          <a:xfrm>
            <a:off x="2199132" y="33832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45" name="Rounded Rectangle 44"/>
          <p:cNvSpPr/>
          <p:nvPr/>
        </p:nvSpPr>
        <p:spPr>
          <a:xfrm>
            <a:off x="2871215" y="33832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46" name="Rounded Rectangle 45"/>
          <p:cNvSpPr/>
          <p:nvPr/>
        </p:nvSpPr>
        <p:spPr>
          <a:xfrm>
            <a:off x="3543300" y="33832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47" name="Rounded Rectangle 46"/>
          <p:cNvSpPr/>
          <p:nvPr/>
        </p:nvSpPr>
        <p:spPr>
          <a:xfrm>
            <a:off x="4215383" y="33832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48" name="Rounded Rectangle 47"/>
          <p:cNvSpPr/>
          <p:nvPr/>
        </p:nvSpPr>
        <p:spPr>
          <a:xfrm>
            <a:off x="4887468" y="3383280"/>
            <a:ext cx="603504" cy="274320"/>
          </a:xfrm>
          <a:prstGeom prst="roundRect">
            <a:avLst>
              <a:gd name="adj" fmla="val 2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2F7D4F"/>
                </a:solidFill>
                <a:latin typeface="Calibri"/>
              </a:rPr>
              <a:t>Train</a:t>
            </a:r>
          </a:p>
        </p:txBody>
      </p:sp>
      <p:sp>
        <p:nvSpPr>
          <p:cNvPr id="49" name="Rounded Rectangle 48"/>
          <p:cNvSpPr/>
          <p:nvPr/>
        </p:nvSpPr>
        <p:spPr>
          <a:xfrm>
            <a:off x="5559552" y="3383280"/>
            <a:ext cx="603504" cy="274320"/>
          </a:xfrm>
          <a:prstGeom prst="roundRect">
            <a:avLst>
              <a:gd name="adj" fmla="val 20000"/>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850" b="1" i="0">
                <a:solidFill>
                  <a:srgbClr val="FFFFFF"/>
                </a:solidFill>
                <a:latin typeface="Calibri"/>
              </a:rPr>
              <a:t>Test</a:t>
            </a:r>
          </a:p>
        </p:txBody>
      </p:sp>
      <p:sp>
        <p:nvSpPr>
          <p:cNvPr id="50" name="Rounded Rectangle 49"/>
          <p:cNvSpPr/>
          <p:nvPr/>
        </p:nvSpPr>
        <p:spPr>
          <a:xfrm>
            <a:off x="6505955" y="1426464"/>
            <a:ext cx="5118811" cy="1298448"/>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6707123" y="1517904"/>
            <a:ext cx="4716475" cy="1133856"/>
          </a:xfrm>
          <a:prstGeom prst="rect">
            <a:avLst/>
          </a:prstGeom>
          <a:noFill/>
        </p:spPr>
        <p:txBody>
          <a:bodyPr wrap="square" lIns="0" rIns="0" tIns="0" bIns="0" anchor="t">
            <a:spAutoFit/>
          </a:bodyPr>
          <a:lstStyle/>
          <a:p>
            <a:pPr algn="l">
              <a:spcBef>
                <a:spcPts val="0"/>
              </a:spcBef>
              <a:spcAft>
                <a:spcPts val="400"/>
              </a:spcAft>
            </a:pPr>
            <a:r>
              <a:rPr sz="1200" b="1" i="0">
                <a:solidFill>
                  <a:srgbClr val="0E3B2B"/>
                </a:solidFill>
                <a:latin typeface="Calibri"/>
              </a:rPr>
              <a:t>Why not a random split?</a:t>
            </a:r>
          </a:p>
          <a:p>
            <a:pPr algn="l">
              <a:lnSpc>
                <a:spcPct val="100000"/>
              </a:lnSpc>
              <a:spcBef>
                <a:spcPts val="0"/>
              </a:spcBef>
              <a:spcAft>
                <a:spcPts val="0"/>
              </a:spcAft>
            </a:pPr>
            <a:r>
              <a:rPr sz="950" b="0" i="0">
                <a:solidFill>
                  <a:srgbClr val="3A4A40"/>
                </a:solidFill>
                <a:latin typeface="Calibri"/>
              </a:rPr>
              <a:t>Districts within a year share a weather regime, a monsoon anomaly and a national price environment. A random split puts records from the same year on both sides of the boundary — letting the model see the answer for a year it is then asked to predict, and reporting a score that would not survive deployment.</a:t>
            </a:r>
          </a:p>
        </p:txBody>
      </p:sp>
      <p:sp>
        <p:nvSpPr>
          <p:cNvPr id="52" name="TextBox 51"/>
          <p:cNvSpPr txBox="1"/>
          <p:nvPr/>
        </p:nvSpPr>
        <p:spPr>
          <a:xfrm>
            <a:off x="6524243" y="2834640"/>
            <a:ext cx="5118811" cy="237744"/>
          </a:xfrm>
          <a:prstGeom prst="rect">
            <a:avLst/>
          </a:prstGeom>
          <a:noFill/>
        </p:spPr>
        <p:txBody>
          <a:bodyPr wrap="square" lIns="0" rIns="0" tIns="0" bIns="0" anchor="t">
            <a:spAutoFit/>
          </a:bodyPr>
          <a:lstStyle/>
          <a:p>
            <a:pPr algn="l">
              <a:spcBef>
                <a:spcPts val="0"/>
              </a:spcBef>
              <a:spcAft>
                <a:spcPts val="0"/>
              </a:spcAft>
            </a:pPr>
            <a:r>
              <a:rPr sz="1000" b="1" i="0" spc="130">
                <a:solidFill>
                  <a:srgbClr val="2F7D4F"/>
                </a:solidFill>
                <a:latin typeface="Calibri"/>
              </a:rPr>
              <a:t>EVALUATION METRICS</a:t>
            </a:r>
          </a:p>
        </p:txBody>
      </p:sp>
      <p:sp>
        <p:nvSpPr>
          <p:cNvPr id="53" name="Rounded Rectangle 52"/>
          <p:cNvSpPr/>
          <p:nvPr/>
        </p:nvSpPr>
        <p:spPr>
          <a:xfrm>
            <a:off x="6505955" y="3108960"/>
            <a:ext cx="1197406" cy="310896"/>
          </a:xfrm>
          <a:prstGeom prst="roundRect">
            <a:avLst>
              <a:gd name="adj" fmla="val 5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1050" b="1" i="0">
                <a:solidFill>
                  <a:srgbClr val="0E3B2B"/>
                </a:solidFill>
                <a:latin typeface="Calibri"/>
              </a:rPr>
              <a:t>RMSE</a:t>
            </a:r>
          </a:p>
        </p:txBody>
      </p:sp>
      <p:sp>
        <p:nvSpPr>
          <p:cNvPr id="54" name="Rounded Rectangle 53"/>
          <p:cNvSpPr/>
          <p:nvPr/>
        </p:nvSpPr>
        <p:spPr>
          <a:xfrm>
            <a:off x="7813090" y="3108960"/>
            <a:ext cx="1197406" cy="310896"/>
          </a:xfrm>
          <a:prstGeom prst="roundRect">
            <a:avLst>
              <a:gd name="adj" fmla="val 5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1050" b="1" i="0">
                <a:solidFill>
                  <a:srgbClr val="0E3B2B"/>
                </a:solidFill>
                <a:latin typeface="Calibri"/>
              </a:rPr>
              <a:t>MAE</a:t>
            </a:r>
          </a:p>
        </p:txBody>
      </p:sp>
      <p:sp>
        <p:nvSpPr>
          <p:cNvPr id="55" name="Rounded Rectangle 54"/>
          <p:cNvSpPr/>
          <p:nvPr/>
        </p:nvSpPr>
        <p:spPr>
          <a:xfrm>
            <a:off x="9120225" y="3108960"/>
            <a:ext cx="1197406" cy="310896"/>
          </a:xfrm>
          <a:prstGeom prst="roundRect">
            <a:avLst>
              <a:gd name="adj" fmla="val 5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1050" b="1" i="0">
                <a:solidFill>
                  <a:srgbClr val="0E3B2B"/>
                </a:solidFill>
                <a:latin typeface="Calibri"/>
              </a:rPr>
              <a:t>R²</a:t>
            </a:r>
          </a:p>
        </p:txBody>
      </p:sp>
      <p:sp>
        <p:nvSpPr>
          <p:cNvPr id="56" name="Rounded Rectangle 55"/>
          <p:cNvSpPr/>
          <p:nvPr/>
        </p:nvSpPr>
        <p:spPr>
          <a:xfrm>
            <a:off x="10427360" y="3108960"/>
            <a:ext cx="1197406" cy="310896"/>
          </a:xfrm>
          <a:prstGeom prst="roundRect">
            <a:avLst>
              <a:gd name="adj" fmla="val 50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1050" b="1" i="0">
                <a:solidFill>
                  <a:srgbClr val="0E3B2B"/>
                </a:solidFill>
                <a:latin typeface="Calibri"/>
              </a:rPr>
              <a:t>MAPE</a:t>
            </a:r>
          </a:p>
        </p:txBody>
      </p:sp>
      <p:sp>
        <p:nvSpPr>
          <p:cNvPr id="57" name="Rounded Rectangle 56"/>
          <p:cNvSpPr/>
          <p:nvPr/>
        </p:nvSpPr>
        <p:spPr>
          <a:xfrm>
            <a:off x="6505955" y="3529584"/>
            <a:ext cx="5118811" cy="310896"/>
          </a:xfrm>
          <a:prstGeom prst="roundRect">
            <a:avLst>
              <a:gd name="adj" fmla="val 3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18288" bIns="18288"/>
          <a:lstStyle/>
          <a:p>
            <a:pPr algn="ctr">
              <a:lnSpc>
                <a:spcPct val="92000"/>
              </a:lnSpc>
              <a:spcBef>
                <a:spcPts val="0"/>
              </a:spcBef>
              <a:spcAft>
                <a:spcPts val="0"/>
              </a:spcAft>
            </a:pPr>
            <a:r>
              <a:rPr sz="950" b="1" i="0">
                <a:solidFill>
                  <a:srgbClr val="FFFFFF"/>
                </a:solidFill>
                <a:latin typeface="Calibri"/>
              </a:rPr>
              <a:t>Paired statistical significance testing on per-record residuals</a:t>
            </a:r>
          </a:p>
        </p:txBody>
      </p:sp>
      <p:sp>
        <p:nvSpPr>
          <p:cNvPr id="58" name="Rounded Rectangle 57"/>
          <p:cNvSpPr/>
          <p:nvPr/>
        </p:nvSpPr>
        <p:spPr>
          <a:xfrm>
            <a:off x="566928" y="3986784"/>
            <a:ext cx="11057839" cy="1426464"/>
          </a:xfrm>
          <a:prstGeom prst="roundRect">
            <a:avLst>
              <a:gd name="adj" fmla="val 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804672" y="4114800"/>
            <a:ext cx="5120640" cy="1188720"/>
          </a:xfrm>
          <a:prstGeom prst="rect">
            <a:avLst/>
          </a:prstGeom>
          <a:noFill/>
        </p:spPr>
        <p:txBody>
          <a:bodyPr wrap="square" lIns="0" rIns="0" tIns="0" bIns="0" anchor="t">
            <a:spAutoFit/>
          </a:bodyPr>
          <a:lstStyle/>
          <a:p>
            <a:pPr algn="l">
              <a:spcBef>
                <a:spcPts val="0"/>
              </a:spcBef>
              <a:spcAft>
                <a:spcPts val="500"/>
              </a:spcAft>
            </a:pPr>
            <a:r>
              <a:rPr sz="1300" b="1" i="0">
                <a:solidFill>
                  <a:srgbClr val="0E3B2B"/>
                </a:solidFill>
                <a:latin typeface="Calibri"/>
              </a:rPr>
              <a:t>Calibrated uncertainty — conformal prediction</a:t>
            </a:r>
          </a:p>
          <a:p>
            <a:pPr algn="l">
              <a:lnSpc>
                <a:spcPct val="102000"/>
              </a:lnSpc>
              <a:spcBef>
                <a:spcPts val="0"/>
              </a:spcBef>
              <a:spcAft>
                <a:spcPts val="0"/>
              </a:spcAft>
            </a:pPr>
            <a:r>
              <a:rPr sz="1000" b="0" i="0">
                <a:solidFill>
                  <a:srgbClr val="3A4A40"/>
                </a:solidFill>
                <a:latin typeface="Calibri"/>
              </a:rPr>
              <a:t>A single number invites false confidence. Split-conformal prediction is distribution-free: it assumes nothing about residuals being Gaussian or the model being correctly specified, and it attaches a lower and an upper yield boundary to every forecast — exactly what an import, resource or policy decision needs.</a:t>
            </a:r>
          </a:p>
        </p:txBody>
      </p:sp>
      <p:sp>
        <p:nvSpPr>
          <p:cNvPr id="60" name="TextBox 59"/>
          <p:cNvSpPr txBox="1"/>
          <p:nvPr/>
        </p:nvSpPr>
        <p:spPr>
          <a:xfrm>
            <a:off x="6035040" y="4133088"/>
            <a:ext cx="4617720" cy="237744"/>
          </a:xfrm>
          <a:prstGeom prst="rect">
            <a:avLst/>
          </a:prstGeom>
          <a:noFill/>
        </p:spPr>
        <p:txBody>
          <a:bodyPr wrap="square" lIns="0" rIns="0" tIns="0" bIns="0" anchor="t">
            <a:spAutoFit/>
          </a:bodyPr>
          <a:lstStyle/>
          <a:p>
            <a:pPr algn="l">
              <a:spcBef>
                <a:spcPts val="0"/>
              </a:spcBef>
              <a:spcAft>
                <a:spcPts val="0"/>
              </a:spcAft>
            </a:pPr>
            <a:r>
              <a:rPr sz="950" b="1" i="0" spc="130">
                <a:solidFill>
                  <a:srgbClr val="2F7D4F"/>
                </a:solidFill>
                <a:latin typeface="Calibri"/>
              </a:rPr>
              <a:t>EXAMPLE OUTPUT</a:t>
            </a:r>
          </a:p>
        </p:txBody>
      </p:sp>
      <p:sp>
        <p:nvSpPr>
          <p:cNvPr id="61" name="Rounded Rectangle 60"/>
          <p:cNvSpPr/>
          <p:nvPr/>
        </p:nvSpPr>
        <p:spPr>
          <a:xfrm>
            <a:off x="6035040" y="4553712"/>
            <a:ext cx="4617720" cy="201168"/>
          </a:xfrm>
          <a:prstGeom prst="roundRect">
            <a:avLst>
              <a:gd name="adj" fmla="val 50000"/>
            </a:avLst>
          </a:prstGeom>
          <a:solidFill>
            <a:srgbClr val="D3E3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ounded Rectangle 61"/>
          <p:cNvSpPr/>
          <p:nvPr/>
        </p:nvSpPr>
        <p:spPr>
          <a:xfrm>
            <a:off x="6903720" y="4553712"/>
            <a:ext cx="2331720" cy="201168"/>
          </a:xfrm>
          <a:prstGeom prst="roundRect">
            <a:avLst>
              <a:gd name="adj" fmla="val 50000"/>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Rectangle 62"/>
          <p:cNvSpPr/>
          <p:nvPr/>
        </p:nvSpPr>
        <p:spPr>
          <a:xfrm>
            <a:off x="7909559" y="4443984"/>
            <a:ext cx="82296" cy="420624"/>
          </a:xfrm>
          <a:prstGeom prst="rect">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6537959" y="4809744"/>
            <a:ext cx="914400" cy="237744"/>
          </a:xfrm>
          <a:prstGeom prst="rect">
            <a:avLst/>
          </a:prstGeom>
          <a:noFill/>
        </p:spPr>
        <p:txBody>
          <a:bodyPr wrap="square" lIns="0" rIns="0" tIns="0" bIns="0" anchor="t">
            <a:spAutoFit/>
          </a:bodyPr>
          <a:lstStyle/>
          <a:p>
            <a:pPr algn="ctr">
              <a:spcBef>
                <a:spcPts val="0"/>
              </a:spcBef>
              <a:spcAft>
                <a:spcPts val="0"/>
              </a:spcAft>
            </a:pPr>
            <a:r>
              <a:rPr sz="1000" b="1" i="0">
                <a:solidFill>
                  <a:srgbClr val="6B7A70"/>
                </a:solidFill>
                <a:latin typeface="Calibri"/>
              </a:rPr>
              <a:t>10.8</a:t>
            </a:r>
          </a:p>
        </p:txBody>
      </p:sp>
      <p:sp>
        <p:nvSpPr>
          <p:cNvPr id="65" name="TextBox 64"/>
          <p:cNvSpPr txBox="1"/>
          <p:nvPr/>
        </p:nvSpPr>
        <p:spPr>
          <a:xfrm>
            <a:off x="7498079" y="4809744"/>
            <a:ext cx="914400" cy="237744"/>
          </a:xfrm>
          <a:prstGeom prst="rect">
            <a:avLst/>
          </a:prstGeom>
          <a:noFill/>
        </p:spPr>
        <p:txBody>
          <a:bodyPr wrap="square" lIns="0" rIns="0" tIns="0" bIns="0" anchor="t">
            <a:spAutoFit/>
          </a:bodyPr>
          <a:lstStyle/>
          <a:p>
            <a:pPr algn="ctr">
              <a:spcBef>
                <a:spcPts val="0"/>
              </a:spcBef>
              <a:spcAft>
                <a:spcPts val="0"/>
              </a:spcAft>
            </a:pPr>
            <a:r>
              <a:rPr sz="1100" b="1" i="0">
                <a:solidFill>
                  <a:srgbClr val="0E3B2B"/>
                </a:solidFill>
                <a:latin typeface="Calibri"/>
              </a:rPr>
              <a:t>12.5</a:t>
            </a:r>
          </a:p>
        </p:txBody>
      </p:sp>
      <p:sp>
        <p:nvSpPr>
          <p:cNvPr id="66" name="TextBox 65"/>
          <p:cNvSpPr txBox="1"/>
          <p:nvPr/>
        </p:nvSpPr>
        <p:spPr>
          <a:xfrm>
            <a:off x="8778240" y="4809744"/>
            <a:ext cx="914400" cy="237744"/>
          </a:xfrm>
          <a:prstGeom prst="rect">
            <a:avLst/>
          </a:prstGeom>
          <a:noFill/>
        </p:spPr>
        <p:txBody>
          <a:bodyPr wrap="square" lIns="0" rIns="0" tIns="0" bIns="0" anchor="t">
            <a:spAutoFit/>
          </a:bodyPr>
          <a:lstStyle/>
          <a:p>
            <a:pPr algn="ctr">
              <a:spcBef>
                <a:spcPts val="0"/>
              </a:spcBef>
              <a:spcAft>
                <a:spcPts val="0"/>
              </a:spcAft>
            </a:pPr>
            <a:r>
              <a:rPr sz="1000" b="1" i="0">
                <a:solidFill>
                  <a:srgbClr val="6B7A70"/>
                </a:solidFill>
                <a:latin typeface="Calibri"/>
              </a:rPr>
              <a:t>14.2</a:t>
            </a:r>
          </a:p>
        </p:txBody>
      </p:sp>
      <p:sp>
        <p:nvSpPr>
          <p:cNvPr id="67" name="TextBox 66"/>
          <p:cNvSpPr txBox="1"/>
          <p:nvPr/>
        </p:nvSpPr>
        <p:spPr>
          <a:xfrm>
            <a:off x="6035040" y="5047488"/>
            <a:ext cx="4617720" cy="274320"/>
          </a:xfrm>
          <a:prstGeom prst="rect">
            <a:avLst/>
          </a:prstGeom>
          <a:noFill/>
        </p:spPr>
        <p:txBody>
          <a:bodyPr wrap="square" lIns="0" rIns="0" tIns="0" bIns="0" anchor="t">
            <a:spAutoFit/>
          </a:bodyPr>
          <a:lstStyle/>
          <a:p>
            <a:pPr algn="l">
              <a:spcBef>
                <a:spcPts val="0"/>
              </a:spcBef>
              <a:spcAft>
                <a:spcPts val="0"/>
              </a:spcAft>
            </a:pPr>
            <a:r>
              <a:rPr sz="1000" b="1" i="0">
                <a:solidFill>
                  <a:srgbClr val="0E3B2B"/>
                </a:solidFill>
                <a:latin typeface="Calibri"/>
              </a:rPr>
              <a:t>Predicted yield 12.5 MT/Ha   ·   prediction interval 10.8 – 14.2 MT/Ha</a:t>
            </a:r>
          </a:p>
        </p:txBody>
      </p:sp>
      <p:sp>
        <p:nvSpPr>
          <p:cNvPr id="68" name="TextBox 67"/>
          <p:cNvSpPr txBox="1"/>
          <p:nvPr/>
        </p:nvSpPr>
        <p:spPr>
          <a:xfrm>
            <a:off x="566928" y="5504688"/>
            <a:ext cx="11057839" cy="237744"/>
          </a:xfrm>
          <a:prstGeom prst="rect">
            <a:avLst/>
          </a:prstGeom>
          <a:noFill/>
        </p:spPr>
        <p:txBody>
          <a:bodyPr wrap="square" lIns="0" rIns="0" tIns="0" bIns="0" anchor="t">
            <a:spAutoFit/>
          </a:bodyPr>
          <a:lstStyle/>
          <a:p>
            <a:pPr algn="l">
              <a:spcBef>
                <a:spcPts val="0"/>
              </a:spcBef>
              <a:spcAft>
                <a:spcPts val="0"/>
              </a:spcAft>
            </a:pPr>
            <a:r>
              <a:rPr sz="1000" b="1" i="0" spc="140">
                <a:solidFill>
                  <a:srgbClr val="2F7D4F"/>
                </a:solidFill>
                <a:latin typeface="Calibri"/>
              </a:rPr>
              <a:t>MODULE 2 FEATURES</a:t>
            </a:r>
          </a:p>
        </p:txBody>
      </p:sp>
      <p:sp>
        <p:nvSpPr>
          <p:cNvPr id="69" name="Rounded Rectangle 68"/>
          <p:cNvSpPr/>
          <p:nvPr/>
        </p:nvSpPr>
        <p:spPr>
          <a:xfrm>
            <a:off x="566928" y="5760720"/>
            <a:ext cx="3503066" cy="457200"/>
          </a:xfrm>
          <a:prstGeom prst="roundRect">
            <a:avLst>
              <a:gd name="adj" fmla="val 14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713232" y="5815584"/>
            <a:ext cx="3210458" cy="365760"/>
          </a:xfrm>
          <a:prstGeom prst="rect">
            <a:avLst/>
          </a:prstGeom>
          <a:noFill/>
        </p:spPr>
        <p:txBody>
          <a:bodyPr wrap="square" lIns="0" rIns="0" tIns="0" bIns="0" anchor="t">
            <a:spAutoFit/>
          </a:bodyPr>
          <a:lstStyle/>
          <a:p>
            <a:pPr algn="ctr">
              <a:lnSpc>
                <a:spcPct val="100000"/>
              </a:lnSpc>
              <a:spcBef>
                <a:spcPts val="0"/>
              </a:spcBef>
              <a:spcAft>
                <a:spcPts val="0"/>
              </a:spcAft>
            </a:pPr>
            <a:r>
              <a:rPr sz="900" b="0" i="0">
                <a:solidFill>
                  <a:srgbClr val="3A4A40"/>
                </a:solidFill>
                <a:latin typeface="Calibri"/>
              </a:rPr>
              <a:t>Multiple-model comparison   ·   Small-data-aware modelling   ·   Physics-informed prediction</a:t>
            </a:r>
          </a:p>
        </p:txBody>
      </p:sp>
      <p:sp>
        <p:nvSpPr>
          <p:cNvPr id="71" name="Rounded Rectangle 70"/>
          <p:cNvSpPr/>
          <p:nvPr/>
        </p:nvSpPr>
        <p:spPr>
          <a:xfrm>
            <a:off x="4344314" y="5760720"/>
            <a:ext cx="3503066" cy="457200"/>
          </a:xfrm>
          <a:prstGeom prst="roundRect">
            <a:avLst>
              <a:gd name="adj" fmla="val 14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4490618" y="5815584"/>
            <a:ext cx="3210458" cy="365760"/>
          </a:xfrm>
          <a:prstGeom prst="rect">
            <a:avLst/>
          </a:prstGeom>
          <a:noFill/>
        </p:spPr>
        <p:txBody>
          <a:bodyPr wrap="square" lIns="0" rIns="0" tIns="0" bIns="0" anchor="t">
            <a:spAutoFit/>
          </a:bodyPr>
          <a:lstStyle/>
          <a:p>
            <a:pPr algn="ctr">
              <a:lnSpc>
                <a:spcPct val="100000"/>
              </a:lnSpc>
              <a:spcBef>
                <a:spcPts val="0"/>
              </a:spcBef>
              <a:spcAft>
                <a:spcPts val="0"/>
              </a:spcAft>
            </a:pPr>
            <a:r>
              <a:rPr sz="900" b="0" i="0">
                <a:solidFill>
                  <a:srgbClr val="3A4A40"/>
                </a:solidFill>
                <a:latin typeface="Calibri"/>
              </a:rPr>
              <a:t>Symbolic equation generation   ·   Ensemble stacking   ·   Leave-One-Year-Out validation</a:t>
            </a:r>
          </a:p>
        </p:txBody>
      </p:sp>
      <p:sp>
        <p:nvSpPr>
          <p:cNvPr id="73" name="Rounded Rectangle 72"/>
          <p:cNvSpPr/>
          <p:nvPr/>
        </p:nvSpPr>
        <p:spPr>
          <a:xfrm>
            <a:off x="8121700" y="5760720"/>
            <a:ext cx="3503066" cy="457200"/>
          </a:xfrm>
          <a:prstGeom prst="roundRect">
            <a:avLst>
              <a:gd name="adj" fmla="val 14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8268004" y="5815584"/>
            <a:ext cx="3210458" cy="365760"/>
          </a:xfrm>
          <a:prstGeom prst="rect">
            <a:avLst/>
          </a:prstGeom>
          <a:noFill/>
        </p:spPr>
        <p:txBody>
          <a:bodyPr wrap="square" lIns="0" rIns="0" tIns="0" bIns="0" anchor="t">
            <a:spAutoFit/>
          </a:bodyPr>
          <a:lstStyle/>
          <a:p>
            <a:pPr algn="ctr">
              <a:lnSpc>
                <a:spcPct val="100000"/>
              </a:lnSpc>
              <a:spcBef>
                <a:spcPts val="0"/>
              </a:spcBef>
              <a:spcAft>
                <a:spcPts val="0"/>
              </a:spcAft>
            </a:pPr>
            <a:r>
              <a:rPr sz="900" b="0" i="0">
                <a:solidFill>
                  <a:srgbClr val="3A4A40"/>
                </a:solidFill>
                <a:latin typeface="Calibri"/>
              </a:rPr>
              <a:t>Statistical significance testing   ·   Calibrated prediction intervals   ·   Reproducible model training</a:t>
            </a:r>
          </a:p>
        </p:txBody>
      </p:sp>
      <p:sp>
        <p:nvSpPr>
          <p:cNvPr id="75" name="Rectangle 74"/>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TextBox 75"/>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2  ·  Agro AI  ·  Big Onion Yield Prediction  ·  University of Moratuwa</a:t>
            </a:r>
          </a:p>
        </p:txBody>
      </p:sp>
      <p:sp>
        <p:nvSpPr>
          <p:cNvPr id="77" name="TextBox 76"/>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Arkam B.H.M.   |   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3</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Explainability — SHAP Attribution</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Turning a model output into a reason a district officer can act on</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3  ·  Decision Support</a:t>
            </a:r>
          </a:p>
        </p:txBody>
      </p:sp>
      <p:sp>
        <p:nvSpPr>
          <p:cNvPr id="8" name="Rounded Rectangle 7"/>
          <p:cNvSpPr/>
          <p:nvPr/>
        </p:nvSpPr>
        <p:spPr>
          <a:xfrm>
            <a:off x="566928" y="1444752"/>
            <a:ext cx="11057839" cy="530352"/>
          </a:xfrm>
          <a:prstGeom prst="roundRect">
            <a:avLst>
              <a:gd name="adj" fmla="val 14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86384" y="1508760"/>
            <a:ext cx="10600639" cy="420624"/>
          </a:xfrm>
          <a:prstGeom prst="rect">
            <a:avLst/>
          </a:prstGeom>
          <a:noFill/>
        </p:spPr>
        <p:txBody>
          <a:bodyPr wrap="square" lIns="0" rIns="0" tIns="0" bIns="0" anchor="t">
            <a:spAutoFit/>
          </a:bodyPr>
          <a:lstStyle/>
          <a:p>
            <a:pPr algn="l">
              <a:spcBef>
                <a:spcPts val="0"/>
              </a:spcBef>
              <a:spcAft>
                <a:spcPts val="0"/>
              </a:spcAft>
            </a:pPr>
            <a:r>
              <a:rPr sz="1100" b="1" i="0">
                <a:solidFill>
                  <a:srgbClr val="FFFFFF"/>
                </a:solidFill>
                <a:latin typeface="Calibri"/>
              </a:rPr>
              <a:t>MAIN RESPONSIBILITY   ·   transform technical model outputs into understandable, actionable information for non-technical agricultural stakeholders   ·   owner: Shathurya P. (214193K)</a:t>
            </a:r>
          </a:p>
        </p:txBody>
      </p:sp>
      <p:sp>
        <p:nvSpPr>
          <p:cNvPr id="10" name="Rounded Rectangle 9"/>
          <p:cNvSpPr/>
          <p:nvPr/>
        </p:nvSpPr>
        <p:spPr>
          <a:xfrm>
            <a:off x="566928" y="2139696"/>
            <a:ext cx="4754880" cy="1371600"/>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2267712"/>
            <a:ext cx="50292" cy="1115568"/>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68096" y="2276856"/>
            <a:ext cx="4352544" cy="1097280"/>
          </a:xfrm>
          <a:prstGeom prst="rect">
            <a:avLst/>
          </a:prstGeom>
          <a:noFill/>
        </p:spPr>
        <p:txBody>
          <a:bodyPr wrap="square" lIns="0" rIns="0" tIns="0" bIns="0" anchor="t">
            <a:spAutoFit/>
          </a:bodyPr>
          <a:lstStyle/>
          <a:p>
            <a:pPr algn="l">
              <a:spcBef>
                <a:spcPts val="0"/>
              </a:spcBef>
              <a:spcAft>
                <a:spcPts val="500"/>
              </a:spcAft>
            </a:pPr>
            <a:r>
              <a:rPr sz="1250" b="1" i="0">
                <a:solidFill>
                  <a:srgbClr val="0E3B2B"/>
                </a:solidFill>
                <a:latin typeface="Calibri"/>
              </a:rPr>
              <a:t>Global explanation</a:t>
            </a:r>
          </a:p>
          <a:p>
            <a:pPr algn="l">
              <a:lnSpc>
                <a:spcPct val="102000"/>
              </a:lnSpc>
              <a:spcBef>
                <a:spcPts val="0"/>
              </a:spcBef>
              <a:spcAft>
                <a:spcPts val="0"/>
              </a:spcAft>
            </a:pPr>
            <a:r>
              <a:rPr sz="1050" b="0" i="0">
                <a:solidFill>
                  <a:srgbClr val="3A4A40"/>
                </a:solidFill>
                <a:latin typeface="Calibri"/>
              </a:rPr>
              <a:t>A ranking of mean absolute attribution across all records — which predictors matter in general. Computed once and cached for the explainability view.</a:t>
            </a:r>
          </a:p>
        </p:txBody>
      </p:sp>
      <p:sp>
        <p:nvSpPr>
          <p:cNvPr id="13" name="Rounded Rectangle 12"/>
          <p:cNvSpPr/>
          <p:nvPr/>
        </p:nvSpPr>
        <p:spPr>
          <a:xfrm>
            <a:off x="566928" y="3657600"/>
            <a:ext cx="4754880" cy="1371600"/>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3785615"/>
            <a:ext cx="50292" cy="1115568"/>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68096" y="3794760"/>
            <a:ext cx="4352544" cy="1097280"/>
          </a:xfrm>
          <a:prstGeom prst="rect">
            <a:avLst/>
          </a:prstGeom>
          <a:noFill/>
        </p:spPr>
        <p:txBody>
          <a:bodyPr wrap="square" lIns="0" rIns="0" tIns="0" bIns="0" anchor="t">
            <a:spAutoFit/>
          </a:bodyPr>
          <a:lstStyle/>
          <a:p>
            <a:pPr algn="l">
              <a:spcBef>
                <a:spcPts val="0"/>
              </a:spcBef>
              <a:spcAft>
                <a:spcPts val="500"/>
              </a:spcAft>
            </a:pPr>
            <a:r>
              <a:rPr sz="1250" b="1" i="0">
                <a:solidFill>
                  <a:srgbClr val="0E3B2B"/>
                </a:solidFill>
                <a:latin typeface="Calibri"/>
              </a:rPr>
              <a:t>Local explanation</a:t>
            </a:r>
          </a:p>
          <a:p>
            <a:pPr algn="l">
              <a:lnSpc>
                <a:spcPct val="102000"/>
              </a:lnSpc>
              <a:spcBef>
                <a:spcPts val="0"/>
              </a:spcBef>
              <a:spcAft>
                <a:spcPts val="0"/>
              </a:spcAft>
            </a:pPr>
            <a:r>
              <a:rPr sz="1050" b="0" i="0">
                <a:solidFill>
                  <a:srgbClr val="3A4A40"/>
                </a:solidFill>
                <a:latin typeface="Calibri"/>
              </a:rPr>
              <a:t>Computed on demand against the submitted feature vector — why this district, in this year, came out high or low. This is what an agricultural officer actually needs.</a:t>
            </a:r>
          </a:p>
        </p:txBody>
      </p:sp>
      <p:sp>
        <p:nvSpPr>
          <p:cNvPr id="16" name="Rounded Rectangle 15"/>
          <p:cNvSpPr/>
          <p:nvPr/>
        </p:nvSpPr>
        <p:spPr>
          <a:xfrm>
            <a:off x="566928" y="5175504"/>
            <a:ext cx="4754880" cy="512064"/>
          </a:xfrm>
          <a:prstGeom prst="roundRect">
            <a:avLst>
              <a:gd name="adj" fmla="val 14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8096" y="5230368"/>
            <a:ext cx="4352544" cy="420624"/>
          </a:xfrm>
          <a:prstGeom prst="rect">
            <a:avLst/>
          </a:prstGeom>
          <a:noFill/>
        </p:spPr>
        <p:txBody>
          <a:bodyPr wrap="square" lIns="0" rIns="0" tIns="0" bIns="0" anchor="t">
            <a:spAutoFit/>
          </a:bodyPr>
          <a:lstStyle/>
          <a:p>
            <a:pPr algn="l">
              <a:spcBef>
                <a:spcPts val="0"/>
              </a:spcBef>
              <a:spcAft>
                <a:spcPts val="200"/>
              </a:spcAft>
            </a:pPr>
            <a:r>
              <a:rPr sz="1050" b="1" i="0">
                <a:solidFill>
                  <a:srgbClr val="2F7D4F"/>
                </a:solidFill>
                <a:latin typeface="Calibri"/>
              </a:rPr>
              <a:t>Positive contribution  →  increases the predicted yield</a:t>
            </a:r>
          </a:p>
          <a:p>
            <a:pPr algn="l">
              <a:spcBef>
                <a:spcPts val="0"/>
              </a:spcBef>
              <a:spcAft>
                <a:spcPts val="0"/>
              </a:spcAft>
            </a:pPr>
            <a:r>
              <a:rPr sz="1050" b="1" i="0">
                <a:solidFill>
                  <a:srgbClr val="9B5A12"/>
                </a:solidFill>
                <a:latin typeface="Calibri"/>
              </a:rPr>
              <a:t>Negative contribution  →  reduces the predicted yield</a:t>
            </a:r>
          </a:p>
        </p:txBody>
      </p:sp>
      <p:sp>
        <p:nvSpPr>
          <p:cNvPr id="18" name="Rounded Rectangle 17"/>
          <p:cNvSpPr/>
          <p:nvPr/>
        </p:nvSpPr>
        <p:spPr>
          <a:xfrm>
            <a:off x="5687568" y="2139696"/>
            <a:ext cx="5937199" cy="3547872"/>
          </a:xfrm>
          <a:prstGeom prst="roundRect">
            <a:avLst>
              <a:gd name="adj" fmla="val 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925312" y="2249424"/>
            <a:ext cx="5461711" cy="274320"/>
          </a:xfrm>
          <a:prstGeom prst="rect">
            <a:avLst/>
          </a:prstGeom>
          <a:noFill/>
        </p:spPr>
        <p:txBody>
          <a:bodyPr wrap="square" lIns="0" rIns="0" tIns="0" bIns="0" anchor="t">
            <a:spAutoFit/>
          </a:bodyPr>
          <a:lstStyle/>
          <a:p>
            <a:pPr algn="l">
              <a:spcBef>
                <a:spcPts val="0"/>
              </a:spcBef>
              <a:spcAft>
                <a:spcPts val="0"/>
              </a:spcAft>
            </a:pPr>
            <a:r>
              <a:rPr sz="1250" b="1" i="0">
                <a:solidFill>
                  <a:srgbClr val="0E3B2B"/>
                </a:solidFill>
                <a:latin typeface="Calibri"/>
              </a:rPr>
              <a:t>Local contributions for one district-year</a:t>
            </a:r>
          </a:p>
        </p:txBody>
      </p:sp>
      <p:sp>
        <p:nvSpPr>
          <p:cNvPr id="20" name="Rectangle 19"/>
          <p:cNvSpPr/>
          <p:nvPr/>
        </p:nvSpPr>
        <p:spPr>
          <a:xfrm>
            <a:off x="9262872" y="2688336"/>
            <a:ext cx="22860" cy="2450592"/>
          </a:xfrm>
          <a:prstGeom prst="rect">
            <a:avLst/>
          </a:prstGeom>
          <a:solidFill>
            <a:srgbClr val="7E8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061704" y="5138928"/>
            <a:ext cx="438912" cy="219456"/>
          </a:xfrm>
          <a:prstGeom prst="rect">
            <a:avLst/>
          </a:prstGeom>
          <a:noFill/>
        </p:spPr>
        <p:txBody>
          <a:bodyPr wrap="square" lIns="0" rIns="0" tIns="0" bIns="0" anchor="t">
            <a:spAutoFit/>
          </a:bodyPr>
          <a:lstStyle/>
          <a:p>
            <a:pPr algn="ctr">
              <a:spcBef>
                <a:spcPts val="0"/>
              </a:spcBef>
              <a:spcAft>
                <a:spcPts val="0"/>
              </a:spcAft>
            </a:pPr>
            <a:r>
              <a:rPr sz="900" b="0" i="0">
                <a:solidFill>
                  <a:srgbClr val="6B7A70"/>
                </a:solidFill>
                <a:latin typeface="Calibri"/>
              </a:rPr>
              <a:t>0</a:t>
            </a:r>
          </a:p>
        </p:txBody>
      </p:sp>
      <p:sp>
        <p:nvSpPr>
          <p:cNvPr id="22" name="TextBox 21"/>
          <p:cNvSpPr txBox="1"/>
          <p:nvPr/>
        </p:nvSpPr>
        <p:spPr>
          <a:xfrm>
            <a:off x="5925312" y="5138928"/>
            <a:ext cx="5461711" cy="219456"/>
          </a:xfrm>
          <a:prstGeom prst="rect">
            <a:avLst/>
          </a:prstGeom>
          <a:noFill/>
        </p:spPr>
        <p:txBody>
          <a:bodyPr wrap="square" lIns="0" rIns="0" tIns="0" bIns="0" anchor="t">
            <a:spAutoFit/>
          </a:bodyPr>
          <a:lstStyle/>
          <a:p>
            <a:pPr algn="r">
              <a:spcBef>
                <a:spcPts val="0"/>
              </a:spcBef>
              <a:spcAft>
                <a:spcPts val="0"/>
              </a:spcAft>
            </a:pPr>
            <a:r>
              <a:rPr sz="900" b="0" i="0">
                <a:solidFill>
                  <a:srgbClr val="6B7A70"/>
                </a:solidFill>
                <a:latin typeface="Calibri"/>
              </a:rPr>
              <a:t>contribution in MT / Ha</a:t>
            </a:r>
          </a:p>
        </p:txBody>
      </p:sp>
      <p:sp>
        <p:nvSpPr>
          <p:cNvPr id="23" name="TextBox 22"/>
          <p:cNvSpPr txBox="1"/>
          <p:nvPr/>
        </p:nvSpPr>
        <p:spPr>
          <a:xfrm>
            <a:off x="5870448" y="2871216"/>
            <a:ext cx="1719072" cy="384048"/>
          </a:xfrm>
          <a:prstGeom prst="rect">
            <a:avLst/>
          </a:prstGeom>
          <a:noFill/>
        </p:spPr>
        <p:txBody>
          <a:bodyPr wrap="square" lIns="0" rIns="0" tIns="0" bIns="0" anchor="t">
            <a:spAutoFit/>
          </a:bodyPr>
          <a:lstStyle/>
          <a:p>
            <a:pPr algn="r">
              <a:lnSpc>
                <a:spcPct val="95000"/>
              </a:lnSpc>
              <a:spcBef>
                <a:spcPts val="0"/>
              </a:spcBef>
              <a:spcAft>
                <a:spcPts val="0"/>
              </a:spcAft>
            </a:pPr>
            <a:r>
              <a:rPr sz="950" b="1" i="0">
                <a:solidFill>
                  <a:srgbClr val="0E3B2B"/>
                </a:solidFill>
                <a:latin typeface="Calibri"/>
              </a:rPr>
              <a:t>Adequate rainfall</a:t>
            </a:r>
          </a:p>
        </p:txBody>
      </p:sp>
      <p:sp>
        <p:nvSpPr>
          <p:cNvPr id="24" name="Rounded Rectangle 23"/>
          <p:cNvSpPr/>
          <p:nvPr/>
        </p:nvSpPr>
        <p:spPr>
          <a:xfrm>
            <a:off x="9281160" y="2880360"/>
            <a:ext cx="1755648" cy="310896"/>
          </a:xfrm>
          <a:prstGeom prst="roundRect">
            <a:avLst>
              <a:gd name="adj" fmla="val 22000"/>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 bIns="9144"/>
          <a:lstStyle/>
          <a:p>
            <a:pPr algn="r">
              <a:spcBef>
                <a:spcPts val="0"/>
              </a:spcBef>
              <a:spcAft>
                <a:spcPts val="0"/>
              </a:spcAft>
            </a:pPr>
            <a:r>
              <a:rPr sz="950" b="1" i="0">
                <a:solidFill>
                  <a:srgbClr val="FFFFFF"/>
                </a:solidFill>
                <a:latin typeface="Calibri"/>
              </a:rPr>
              <a:t>+0.8</a:t>
            </a:r>
          </a:p>
        </p:txBody>
      </p:sp>
      <p:sp>
        <p:nvSpPr>
          <p:cNvPr id="25" name="TextBox 24"/>
          <p:cNvSpPr txBox="1"/>
          <p:nvPr/>
        </p:nvSpPr>
        <p:spPr>
          <a:xfrm>
            <a:off x="5870448" y="3493008"/>
            <a:ext cx="1719072" cy="384048"/>
          </a:xfrm>
          <a:prstGeom prst="rect">
            <a:avLst/>
          </a:prstGeom>
          <a:noFill/>
        </p:spPr>
        <p:txBody>
          <a:bodyPr wrap="square" lIns="0" rIns="0" tIns="0" bIns="0" anchor="t">
            <a:spAutoFit/>
          </a:bodyPr>
          <a:lstStyle/>
          <a:p>
            <a:pPr algn="r">
              <a:lnSpc>
                <a:spcPct val="95000"/>
              </a:lnSpc>
              <a:spcBef>
                <a:spcPts val="0"/>
              </a:spcBef>
              <a:spcAft>
                <a:spcPts val="0"/>
              </a:spcAft>
            </a:pPr>
            <a:r>
              <a:rPr sz="950" b="1" i="0">
                <a:solidFill>
                  <a:srgbClr val="0E3B2B"/>
                </a:solidFill>
                <a:latin typeface="Calibri"/>
              </a:rPr>
              <a:t>Suitable growing degree days</a:t>
            </a:r>
          </a:p>
        </p:txBody>
      </p:sp>
      <p:sp>
        <p:nvSpPr>
          <p:cNvPr id="26" name="Rounded Rectangle 25"/>
          <p:cNvSpPr/>
          <p:nvPr/>
        </p:nvSpPr>
        <p:spPr>
          <a:xfrm>
            <a:off x="9281160" y="3502152"/>
            <a:ext cx="1097280" cy="310896"/>
          </a:xfrm>
          <a:prstGeom prst="roundRect">
            <a:avLst>
              <a:gd name="adj" fmla="val 22000"/>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 bIns="9144"/>
          <a:lstStyle/>
          <a:p>
            <a:pPr algn="r">
              <a:spcBef>
                <a:spcPts val="0"/>
              </a:spcBef>
              <a:spcAft>
                <a:spcPts val="0"/>
              </a:spcAft>
            </a:pPr>
            <a:r>
              <a:rPr sz="950" b="1" i="0">
                <a:solidFill>
                  <a:srgbClr val="FFFFFF"/>
                </a:solidFill>
                <a:latin typeface="Calibri"/>
              </a:rPr>
              <a:t>+0.5</a:t>
            </a:r>
          </a:p>
        </p:txBody>
      </p:sp>
      <p:sp>
        <p:nvSpPr>
          <p:cNvPr id="27" name="TextBox 26"/>
          <p:cNvSpPr txBox="1"/>
          <p:nvPr/>
        </p:nvSpPr>
        <p:spPr>
          <a:xfrm>
            <a:off x="5870448" y="4114800"/>
            <a:ext cx="1719072" cy="384048"/>
          </a:xfrm>
          <a:prstGeom prst="rect">
            <a:avLst/>
          </a:prstGeom>
          <a:noFill/>
        </p:spPr>
        <p:txBody>
          <a:bodyPr wrap="square" lIns="0" rIns="0" tIns="0" bIns="0" anchor="t">
            <a:spAutoFit/>
          </a:bodyPr>
          <a:lstStyle/>
          <a:p>
            <a:pPr algn="r">
              <a:lnSpc>
                <a:spcPct val="95000"/>
              </a:lnSpc>
              <a:spcBef>
                <a:spcPts val="0"/>
              </a:spcBef>
              <a:spcAft>
                <a:spcPts val="0"/>
              </a:spcAft>
            </a:pPr>
            <a:r>
              <a:rPr sz="950" b="1" i="0">
                <a:solidFill>
                  <a:srgbClr val="0E3B2B"/>
                </a:solidFill>
                <a:latin typeface="Calibri"/>
              </a:rPr>
              <a:t>High heat-stress days</a:t>
            </a:r>
          </a:p>
        </p:txBody>
      </p:sp>
      <p:sp>
        <p:nvSpPr>
          <p:cNvPr id="28" name="Rounded Rectangle 27"/>
          <p:cNvSpPr/>
          <p:nvPr/>
        </p:nvSpPr>
        <p:spPr>
          <a:xfrm>
            <a:off x="7744968" y="4123944"/>
            <a:ext cx="1536192" cy="310896"/>
          </a:xfrm>
          <a:prstGeom prst="roundRect">
            <a:avLst>
              <a:gd name="adj" fmla="val 22000"/>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 bIns="9144"/>
          <a:lstStyle/>
          <a:p>
            <a:pPr algn="l">
              <a:spcBef>
                <a:spcPts val="0"/>
              </a:spcBef>
              <a:spcAft>
                <a:spcPts val="0"/>
              </a:spcAft>
            </a:pPr>
            <a:r>
              <a:rPr sz="950" b="1" i="0">
                <a:solidFill>
                  <a:srgbClr val="FFFFFF"/>
                </a:solidFill>
                <a:latin typeface="Calibri"/>
              </a:rPr>
              <a:t>−0.7</a:t>
            </a:r>
          </a:p>
        </p:txBody>
      </p:sp>
      <p:sp>
        <p:nvSpPr>
          <p:cNvPr id="29" name="TextBox 28"/>
          <p:cNvSpPr txBox="1"/>
          <p:nvPr/>
        </p:nvSpPr>
        <p:spPr>
          <a:xfrm>
            <a:off x="5870448" y="4736592"/>
            <a:ext cx="1719072" cy="384048"/>
          </a:xfrm>
          <a:prstGeom prst="rect">
            <a:avLst/>
          </a:prstGeom>
          <a:noFill/>
        </p:spPr>
        <p:txBody>
          <a:bodyPr wrap="square" lIns="0" rIns="0" tIns="0" bIns="0" anchor="t">
            <a:spAutoFit/>
          </a:bodyPr>
          <a:lstStyle/>
          <a:p>
            <a:pPr algn="r">
              <a:lnSpc>
                <a:spcPct val="95000"/>
              </a:lnSpc>
              <a:spcBef>
                <a:spcPts val="0"/>
              </a:spcBef>
              <a:spcAft>
                <a:spcPts val="0"/>
              </a:spcAft>
            </a:pPr>
            <a:r>
              <a:rPr sz="950" b="1" i="0">
                <a:solidFill>
                  <a:srgbClr val="0E3B2B"/>
                </a:solidFill>
                <a:latin typeface="Calibri"/>
              </a:rPr>
              <a:t>Poor previous-year yield</a:t>
            </a:r>
          </a:p>
        </p:txBody>
      </p:sp>
      <p:sp>
        <p:nvSpPr>
          <p:cNvPr id="30" name="Rounded Rectangle 29"/>
          <p:cNvSpPr/>
          <p:nvPr/>
        </p:nvSpPr>
        <p:spPr>
          <a:xfrm>
            <a:off x="8622792" y="4745736"/>
            <a:ext cx="658368" cy="310896"/>
          </a:xfrm>
          <a:prstGeom prst="roundRect">
            <a:avLst>
              <a:gd name="adj" fmla="val 22000"/>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9144" bIns="9144"/>
          <a:lstStyle/>
          <a:p>
            <a:pPr algn="l">
              <a:spcBef>
                <a:spcPts val="0"/>
              </a:spcBef>
              <a:spcAft>
                <a:spcPts val="0"/>
              </a:spcAft>
            </a:pPr>
            <a:r>
              <a:rPr sz="950" b="1" i="0">
                <a:solidFill>
                  <a:srgbClr val="FFFFFF"/>
                </a:solidFill>
                <a:latin typeface="Calibri"/>
              </a:rPr>
              <a:t>−0.3</a:t>
            </a:r>
          </a:p>
        </p:txBody>
      </p:sp>
      <p:sp>
        <p:nvSpPr>
          <p:cNvPr id="31" name="TextBox 30"/>
          <p:cNvSpPr txBox="1"/>
          <p:nvPr/>
        </p:nvSpPr>
        <p:spPr>
          <a:xfrm>
            <a:off x="5925312" y="5413248"/>
            <a:ext cx="5461711" cy="274320"/>
          </a:xfrm>
          <a:prstGeom prst="rect">
            <a:avLst/>
          </a:prstGeom>
          <a:noFill/>
        </p:spPr>
        <p:txBody>
          <a:bodyPr wrap="square" lIns="0" rIns="0" tIns="0" bIns="0" anchor="t">
            <a:spAutoFit/>
          </a:bodyPr>
          <a:lstStyle/>
          <a:p>
            <a:pPr algn="l">
              <a:lnSpc>
                <a:spcPct val="100000"/>
              </a:lnSpc>
              <a:spcBef>
                <a:spcPts val="0"/>
              </a:spcBef>
              <a:spcAft>
                <a:spcPts val="0"/>
              </a:spcAft>
            </a:pPr>
            <a:r>
              <a:rPr sz="900" b="0" i="1">
                <a:solidFill>
                  <a:srgbClr val="6B7A70"/>
                </a:solidFill>
                <a:latin typeface="Calibri"/>
              </a:rPr>
              <a:t>Illustrative structure only — actual contributions are computed per district-year from the persisted tree model.</a:t>
            </a:r>
          </a:p>
        </p:txBody>
      </p:sp>
      <p:sp>
        <p:nvSpPr>
          <p:cNvPr id="32" name="Rectangle 31"/>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3  ·  Agro AI  ·  Big Onion Yield Prediction  ·  University of Moratuwa</a:t>
            </a:r>
          </a:p>
        </p:txBody>
      </p:sp>
      <p:sp>
        <p:nvSpPr>
          <p:cNvPr id="34" name="TextBox 33"/>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Shathurya P.   |   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3</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Explainability Reliability Index (ERI)</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How much confidence should the user place in the explanation?</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3  ·  Decision Support</a:t>
            </a:r>
          </a:p>
        </p:txBody>
      </p:sp>
      <p:sp>
        <p:nvSpPr>
          <p:cNvPr id="8" name="Rounded Rectangle 7"/>
          <p:cNvSpPr/>
          <p:nvPr/>
        </p:nvSpPr>
        <p:spPr>
          <a:xfrm>
            <a:off x="566928" y="1444752"/>
            <a:ext cx="3478682" cy="1371600"/>
          </a:xfrm>
          <a:prstGeom prst="roundRect">
            <a:avLst>
              <a:gd name="adj" fmla="val 7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786384" y="1627632"/>
            <a:ext cx="365760" cy="365760"/>
          </a:xfrm>
          <a:prstGeom prst="ellipse">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300" b="1" i="0">
                <a:solidFill>
                  <a:srgbClr val="FFFFFF"/>
                </a:solidFill>
                <a:latin typeface="Calibri"/>
              </a:rPr>
              <a:t>●</a:t>
            </a:r>
          </a:p>
        </p:txBody>
      </p:sp>
      <p:sp>
        <p:nvSpPr>
          <p:cNvPr id="10" name="TextBox 9"/>
          <p:cNvSpPr txBox="1"/>
          <p:nvPr/>
        </p:nvSpPr>
        <p:spPr>
          <a:xfrm>
            <a:off x="1261872" y="1645920"/>
            <a:ext cx="2564282" cy="329184"/>
          </a:xfrm>
          <a:prstGeom prst="rect">
            <a:avLst/>
          </a:prstGeom>
          <a:noFill/>
        </p:spPr>
        <p:txBody>
          <a:bodyPr wrap="square" lIns="0" rIns="0" tIns="0" bIns="0" anchor="t">
            <a:spAutoFit/>
          </a:bodyPr>
          <a:lstStyle/>
          <a:p>
            <a:pPr algn="l">
              <a:spcBef>
                <a:spcPts val="0"/>
              </a:spcBef>
              <a:spcAft>
                <a:spcPts val="0"/>
              </a:spcAft>
            </a:pPr>
            <a:r>
              <a:rPr sz="1250" b="1" i="0">
                <a:solidFill>
                  <a:srgbClr val="0E3B2B"/>
                </a:solidFill>
                <a:latin typeface="Calibri"/>
              </a:rPr>
              <a:t>High reliability</a:t>
            </a:r>
          </a:p>
        </p:txBody>
      </p:sp>
      <p:sp>
        <p:nvSpPr>
          <p:cNvPr id="11" name="TextBox 10"/>
          <p:cNvSpPr txBox="1"/>
          <p:nvPr/>
        </p:nvSpPr>
        <p:spPr>
          <a:xfrm>
            <a:off x="786384" y="2103120"/>
            <a:ext cx="3039770" cy="640080"/>
          </a:xfrm>
          <a:prstGeom prst="rect">
            <a:avLst/>
          </a:prstGeom>
          <a:noFill/>
        </p:spPr>
        <p:txBody>
          <a:bodyPr wrap="square" lIns="0" rIns="0" tIns="0" bIns="0" anchor="t">
            <a:spAutoFit/>
          </a:bodyPr>
          <a:lstStyle/>
          <a:p>
            <a:pPr algn="l">
              <a:lnSpc>
                <a:spcPct val="102000"/>
              </a:lnSpc>
              <a:spcBef>
                <a:spcPts val="0"/>
              </a:spcBef>
              <a:spcAft>
                <a:spcPts val="0"/>
              </a:spcAft>
            </a:pPr>
            <a:r>
              <a:rPr sz="1000" b="0" i="0">
                <a:solidFill>
                  <a:srgbClr val="3A4A40"/>
                </a:solidFill>
                <a:latin typeface="Calibri"/>
              </a:rPr>
              <a:t>Explanations agree across folds and the interval is tight relative to the district's historical range.</a:t>
            </a:r>
          </a:p>
        </p:txBody>
      </p:sp>
      <p:sp>
        <p:nvSpPr>
          <p:cNvPr id="12" name="Rounded Rectangle 11"/>
          <p:cNvSpPr/>
          <p:nvPr/>
        </p:nvSpPr>
        <p:spPr>
          <a:xfrm>
            <a:off x="4356506" y="1444752"/>
            <a:ext cx="3478682" cy="1371600"/>
          </a:xfrm>
          <a:prstGeom prst="roundRect">
            <a:avLst>
              <a:gd name="adj" fmla="val 7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4575962" y="1627632"/>
            <a:ext cx="365760" cy="365760"/>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300" b="1" i="0">
                <a:solidFill>
                  <a:srgbClr val="FFFFFF"/>
                </a:solidFill>
                <a:latin typeface="Calibri"/>
              </a:rPr>
              <a:t>●</a:t>
            </a:r>
          </a:p>
        </p:txBody>
      </p:sp>
      <p:sp>
        <p:nvSpPr>
          <p:cNvPr id="14" name="TextBox 13"/>
          <p:cNvSpPr txBox="1"/>
          <p:nvPr/>
        </p:nvSpPr>
        <p:spPr>
          <a:xfrm>
            <a:off x="5051450" y="1645920"/>
            <a:ext cx="2564282" cy="329184"/>
          </a:xfrm>
          <a:prstGeom prst="rect">
            <a:avLst/>
          </a:prstGeom>
          <a:noFill/>
        </p:spPr>
        <p:txBody>
          <a:bodyPr wrap="square" lIns="0" rIns="0" tIns="0" bIns="0" anchor="t">
            <a:spAutoFit/>
          </a:bodyPr>
          <a:lstStyle/>
          <a:p>
            <a:pPr algn="l">
              <a:spcBef>
                <a:spcPts val="0"/>
              </a:spcBef>
              <a:spcAft>
                <a:spcPts val="0"/>
              </a:spcAft>
            </a:pPr>
            <a:r>
              <a:rPr sz="1250" b="1" i="0">
                <a:solidFill>
                  <a:srgbClr val="0E3B2B"/>
                </a:solidFill>
                <a:latin typeface="Calibri"/>
              </a:rPr>
              <a:t>Moderate reliability</a:t>
            </a:r>
          </a:p>
        </p:txBody>
      </p:sp>
      <p:sp>
        <p:nvSpPr>
          <p:cNvPr id="15" name="TextBox 14"/>
          <p:cNvSpPr txBox="1"/>
          <p:nvPr/>
        </p:nvSpPr>
        <p:spPr>
          <a:xfrm>
            <a:off x="4575962" y="2103120"/>
            <a:ext cx="3039770" cy="640080"/>
          </a:xfrm>
          <a:prstGeom prst="rect">
            <a:avLst/>
          </a:prstGeom>
          <a:noFill/>
        </p:spPr>
        <p:txBody>
          <a:bodyPr wrap="square" lIns="0" rIns="0" tIns="0" bIns="0" anchor="t">
            <a:spAutoFit/>
          </a:bodyPr>
          <a:lstStyle/>
          <a:p>
            <a:pPr algn="l">
              <a:lnSpc>
                <a:spcPct val="102000"/>
              </a:lnSpc>
              <a:spcBef>
                <a:spcPts val="0"/>
              </a:spcBef>
              <a:spcAft>
                <a:spcPts val="0"/>
              </a:spcAft>
            </a:pPr>
            <a:r>
              <a:rPr sz="1000" b="0" i="0">
                <a:solidFill>
                  <a:srgbClr val="3A4A40"/>
                </a:solidFill>
                <a:latin typeface="Calibri"/>
              </a:rPr>
              <a:t>Some disagreement across folds, or a comparatively wide interval — read the drivers with care.</a:t>
            </a:r>
          </a:p>
        </p:txBody>
      </p:sp>
      <p:sp>
        <p:nvSpPr>
          <p:cNvPr id="16" name="Rounded Rectangle 15"/>
          <p:cNvSpPr/>
          <p:nvPr/>
        </p:nvSpPr>
        <p:spPr>
          <a:xfrm>
            <a:off x="8146084" y="1444752"/>
            <a:ext cx="3478682" cy="1371600"/>
          </a:xfrm>
          <a:prstGeom prst="roundRect">
            <a:avLst>
              <a:gd name="adj" fmla="val 7000"/>
            </a:avLst>
          </a:prstGeom>
          <a:solidFill>
            <a:srgbClr val="FBEB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8365540" y="1627632"/>
            <a:ext cx="365760" cy="365760"/>
          </a:xfrm>
          <a:prstGeom prst="ellipse">
            <a:avLst/>
          </a:prstGeom>
          <a:solidFill>
            <a:srgbClr val="B04A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300" b="1" i="0">
                <a:solidFill>
                  <a:srgbClr val="FFFFFF"/>
                </a:solidFill>
                <a:latin typeface="Calibri"/>
              </a:rPr>
              <a:t>●</a:t>
            </a:r>
          </a:p>
        </p:txBody>
      </p:sp>
      <p:sp>
        <p:nvSpPr>
          <p:cNvPr id="18" name="TextBox 17"/>
          <p:cNvSpPr txBox="1"/>
          <p:nvPr/>
        </p:nvSpPr>
        <p:spPr>
          <a:xfrm>
            <a:off x="8841028" y="1645920"/>
            <a:ext cx="2564282" cy="329184"/>
          </a:xfrm>
          <a:prstGeom prst="rect">
            <a:avLst/>
          </a:prstGeom>
          <a:noFill/>
        </p:spPr>
        <p:txBody>
          <a:bodyPr wrap="square" lIns="0" rIns="0" tIns="0" bIns="0" anchor="t">
            <a:spAutoFit/>
          </a:bodyPr>
          <a:lstStyle/>
          <a:p>
            <a:pPr algn="l">
              <a:spcBef>
                <a:spcPts val="0"/>
              </a:spcBef>
              <a:spcAft>
                <a:spcPts val="0"/>
              </a:spcAft>
            </a:pPr>
            <a:r>
              <a:rPr sz="1250" b="1" i="0">
                <a:solidFill>
                  <a:srgbClr val="0E3B2B"/>
                </a:solidFill>
                <a:latin typeface="Calibri"/>
              </a:rPr>
              <a:t>Low reliability</a:t>
            </a:r>
          </a:p>
        </p:txBody>
      </p:sp>
      <p:sp>
        <p:nvSpPr>
          <p:cNvPr id="19" name="TextBox 18"/>
          <p:cNvSpPr txBox="1"/>
          <p:nvPr/>
        </p:nvSpPr>
        <p:spPr>
          <a:xfrm>
            <a:off x="8365540" y="2103120"/>
            <a:ext cx="3039770" cy="640080"/>
          </a:xfrm>
          <a:prstGeom prst="rect">
            <a:avLst/>
          </a:prstGeom>
          <a:noFill/>
        </p:spPr>
        <p:txBody>
          <a:bodyPr wrap="square" lIns="0" rIns="0" tIns="0" bIns="0" anchor="t">
            <a:spAutoFit/>
          </a:bodyPr>
          <a:lstStyle/>
          <a:p>
            <a:pPr algn="l">
              <a:lnSpc>
                <a:spcPct val="102000"/>
              </a:lnSpc>
              <a:spcBef>
                <a:spcPts val="0"/>
              </a:spcBef>
              <a:spcAft>
                <a:spcPts val="0"/>
              </a:spcAft>
            </a:pPr>
            <a:r>
              <a:rPr sz="1000" b="0" i="0">
                <a:solidFill>
                  <a:srgbClr val="3A4A40"/>
                </a:solidFill>
                <a:latin typeface="Calibri"/>
              </a:rPr>
              <a:t>Unstable attribution or a very wide interval — treat the explanation as indicative only.</a:t>
            </a:r>
          </a:p>
        </p:txBody>
      </p:sp>
      <p:sp>
        <p:nvSpPr>
          <p:cNvPr id="20" name="TextBox 19"/>
          <p:cNvSpPr txBox="1"/>
          <p:nvPr/>
        </p:nvSpPr>
        <p:spPr>
          <a:xfrm>
            <a:off x="566928" y="2962656"/>
            <a:ext cx="11057839" cy="256032"/>
          </a:xfrm>
          <a:prstGeom prst="rect">
            <a:avLst/>
          </a:prstGeom>
          <a:noFill/>
        </p:spPr>
        <p:txBody>
          <a:bodyPr wrap="square" lIns="0" rIns="0" tIns="0" bIns="0" anchor="t">
            <a:spAutoFit/>
          </a:bodyPr>
          <a:lstStyle/>
          <a:p>
            <a:pPr algn="l">
              <a:spcBef>
                <a:spcPts val="0"/>
              </a:spcBef>
              <a:spcAft>
                <a:spcPts val="0"/>
              </a:spcAft>
            </a:pPr>
            <a:r>
              <a:rPr sz="1000" b="1" i="0" spc="140">
                <a:solidFill>
                  <a:srgbClr val="2F7D4F"/>
                </a:solidFill>
                <a:latin typeface="Calibri"/>
              </a:rPr>
              <a:t>SIGNALS COMBINED IN THE INDEX</a:t>
            </a:r>
          </a:p>
        </p:txBody>
      </p:sp>
      <p:sp>
        <p:nvSpPr>
          <p:cNvPr id="21" name="Rounded Rectangle 20"/>
          <p:cNvSpPr/>
          <p:nvPr/>
        </p:nvSpPr>
        <p:spPr>
          <a:xfrm>
            <a:off x="566928" y="3236976"/>
            <a:ext cx="2572435" cy="1170432"/>
          </a:xfrm>
          <a:prstGeom prst="roundRect">
            <a:avLst>
              <a:gd name="adj" fmla="val 7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66928" y="3236976"/>
            <a:ext cx="2572435" cy="45720"/>
          </a:xfrm>
          <a:prstGeom prst="rect">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9808" y="3383280"/>
            <a:ext cx="2206675" cy="914400"/>
          </a:xfrm>
          <a:prstGeom prst="rect">
            <a:avLst/>
          </a:prstGeom>
          <a:noFill/>
        </p:spPr>
        <p:txBody>
          <a:bodyPr wrap="square" lIns="0" rIns="0" tIns="0" bIns="0" anchor="t">
            <a:spAutoFit/>
          </a:bodyPr>
          <a:lstStyle/>
          <a:p>
            <a:pPr algn="l">
              <a:lnSpc>
                <a:spcPct val="95000"/>
              </a:lnSpc>
              <a:spcBef>
                <a:spcPts val="0"/>
              </a:spcBef>
              <a:spcAft>
                <a:spcPts val="400"/>
              </a:spcAft>
            </a:pPr>
            <a:r>
              <a:rPr sz="1150" b="1" i="0">
                <a:solidFill>
                  <a:srgbClr val="0E3B2B"/>
                </a:solidFill>
                <a:latin typeface="Calibri"/>
              </a:rPr>
              <a:t>Cross-fold consistency</a:t>
            </a:r>
          </a:p>
          <a:p>
            <a:pPr algn="l">
              <a:lnSpc>
                <a:spcPct val="100000"/>
              </a:lnSpc>
              <a:spcBef>
                <a:spcPts val="0"/>
              </a:spcBef>
              <a:spcAft>
                <a:spcPts val="0"/>
              </a:spcAft>
            </a:pPr>
            <a:r>
              <a:rPr sz="950" b="0" i="0">
                <a:solidFill>
                  <a:srgbClr val="3A4A40"/>
                </a:solidFill>
                <a:latin typeface="Calibri"/>
              </a:rPr>
              <a:t>Rank correlation between each fold's attribution and the full-data attribution</a:t>
            </a:r>
          </a:p>
        </p:txBody>
      </p:sp>
      <p:sp>
        <p:nvSpPr>
          <p:cNvPr id="24" name="Rounded Rectangle 23"/>
          <p:cNvSpPr/>
          <p:nvPr/>
        </p:nvSpPr>
        <p:spPr>
          <a:xfrm>
            <a:off x="3395395" y="3236976"/>
            <a:ext cx="2572435" cy="1170432"/>
          </a:xfrm>
          <a:prstGeom prst="roundRect">
            <a:avLst>
              <a:gd name="adj" fmla="val 7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395395" y="3236976"/>
            <a:ext cx="2572435" cy="45720"/>
          </a:xfrm>
          <a:prstGeom prst="rect">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578275" y="3383280"/>
            <a:ext cx="2206675" cy="914400"/>
          </a:xfrm>
          <a:prstGeom prst="rect">
            <a:avLst/>
          </a:prstGeom>
          <a:noFill/>
        </p:spPr>
        <p:txBody>
          <a:bodyPr wrap="square" lIns="0" rIns="0" tIns="0" bIns="0" anchor="t">
            <a:spAutoFit/>
          </a:bodyPr>
          <a:lstStyle/>
          <a:p>
            <a:pPr algn="l">
              <a:lnSpc>
                <a:spcPct val="95000"/>
              </a:lnSpc>
              <a:spcBef>
                <a:spcPts val="0"/>
              </a:spcBef>
              <a:spcAft>
                <a:spcPts val="400"/>
              </a:spcAft>
            </a:pPr>
            <a:r>
              <a:rPr sz="1150" b="1" i="0">
                <a:solidFill>
                  <a:srgbClr val="0E3B2B"/>
                </a:solidFill>
                <a:latin typeface="Calibri"/>
              </a:rPr>
              <a:t>Explanation agreement</a:t>
            </a:r>
          </a:p>
          <a:p>
            <a:pPr algn="l">
              <a:lnSpc>
                <a:spcPct val="100000"/>
              </a:lnSpc>
              <a:spcBef>
                <a:spcPts val="0"/>
              </a:spcBef>
              <a:spcAft>
                <a:spcPts val="0"/>
              </a:spcAft>
            </a:pPr>
            <a:r>
              <a:rPr sz="950" b="0" i="0">
                <a:solidFill>
                  <a:srgbClr val="3A4A40"/>
                </a:solidFill>
                <a:latin typeface="Calibri"/>
              </a:rPr>
              <a:t>Do independent attribution results point at the same drivers?</a:t>
            </a:r>
          </a:p>
        </p:txBody>
      </p:sp>
      <p:sp>
        <p:nvSpPr>
          <p:cNvPr id="27" name="Rounded Rectangle 26"/>
          <p:cNvSpPr/>
          <p:nvPr/>
        </p:nvSpPr>
        <p:spPr>
          <a:xfrm>
            <a:off x="6223863" y="3236976"/>
            <a:ext cx="2572435" cy="1170432"/>
          </a:xfrm>
          <a:prstGeom prst="roundRect">
            <a:avLst>
              <a:gd name="adj" fmla="val 7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223863" y="3236976"/>
            <a:ext cx="2572435" cy="45720"/>
          </a:xfrm>
          <a:prstGeom prst="rect">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6743" y="3383280"/>
            <a:ext cx="2206675" cy="914400"/>
          </a:xfrm>
          <a:prstGeom prst="rect">
            <a:avLst/>
          </a:prstGeom>
          <a:noFill/>
        </p:spPr>
        <p:txBody>
          <a:bodyPr wrap="square" lIns="0" rIns="0" tIns="0" bIns="0" anchor="t">
            <a:spAutoFit/>
          </a:bodyPr>
          <a:lstStyle/>
          <a:p>
            <a:pPr algn="l">
              <a:lnSpc>
                <a:spcPct val="95000"/>
              </a:lnSpc>
              <a:spcBef>
                <a:spcPts val="0"/>
              </a:spcBef>
              <a:spcAft>
                <a:spcPts val="400"/>
              </a:spcAft>
            </a:pPr>
            <a:r>
              <a:rPr sz="1150" b="1" i="0">
                <a:solidFill>
                  <a:srgbClr val="0E3B2B"/>
                </a:solidFill>
                <a:latin typeface="Calibri"/>
              </a:rPr>
              <a:t>Stability under perturbation</a:t>
            </a:r>
          </a:p>
          <a:p>
            <a:pPr algn="l">
              <a:lnSpc>
                <a:spcPct val="100000"/>
              </a:lnSpc>
              <a:spcBef>
                <a:spcPts val="0"/>
              </a:spcBef>
              <a:spcAft>
                <a:spcPts val="0"/>
              </a:spcAft>
            </a:pPr>
            <a:r>
              <a:rPr sz="950" b="0" i="0">
                <a:solidFill>
                  <a:srgbClr val="3A4A40"/>
                </a:solidFill>
                <a:latin typeface="Calibri"/>
              </a:rPr>
              <a:t>Does the explanation survive a small change to the inputs?</a:t>
            </a:r>
          </a:p>
        </p:txBody>
      </p:sp>
      <p:sp>
        <p:nvSpPr>
          <p:cNvPr id="30" name="Rounded Rectangle 29"/>
          <p:cNvSpPr/>
          <p:nvPr/>
        </p:nvSpPr>
        <p:spPr>
          <a:xfrm>
            <a:off x="9052331" y="3236976"/>
            <a:ext cx="2572435" cy="1170432"/>
          </a:xfrm>
          <a:prstGeom prst="roundRect">
            <a:avLst>
              <a:gd name="adj" fmla="val 7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052331" y="3236976"/>
            <a:ext cx="2572435" cy="45720"/>
          </a:xfrm>
          <a:prstGeom prst="rect">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235211" y="3383280"/>
            <a:ext cx="2206675" cy="914400"/>
          </a:xfrm>
          <a:prstGeom prst="rect">
            <a:avLst/>
          </a:prstGeom>
          <a:noFill/>
        </p:spPr>
        <p:txBody>
          <a:bodyPr wrap="square" lIns="0" rIns="0" tIns="0" bIns="0" anchor="t">
            <a:spAutoFit/>
          </a:bodyPr>
          <a:lstStyle/>
          <a:p>
            <a:pPr algn="l">
              <a:lnSpc>
                <a:spcPct val="95000"/>
              </a:lnSpc>
              <a:spcBef>
                <a:spcPts val="0"/>
              </a:spcBef>
              <a:spcAft>
                <a:spcPts val="400"/>
              </a:spcAft>
            </a:pPr>
            <a:r>
              <a:rPr sz="1150" b="1" i="0">
                <a:solidFill>
                  <a:srgbClr val="0E3B2B"/>
                </a:solidFill>
                <a:latin typeface="Calibri"/>
              </a:rPr>
              <a:t>Interval width</a:t>
            </a:r>
          </a:p>
          <a:p>
            <a:pPr algn="l">
              <a:lnSpc>
                <a:spcPct val="100000"/>
              </a:lnSpc>
              <a:spcBef>
                <a:spcPts val="0"/>
              </a:spcBef>
              <a:spcAft>
                <a:spcPts val="0"/>
              </a:spcAft>
            </a:pPr>
            <a:r>
              <a:rPr sz="950" b="0" i="0">
                <a:solidFill>
                  <a:srgbClr val="3A4A40"/>
                </a:solidFill>
                <a:latin typeface="Calibri"/>
              </a:rPr>
              <a:t>Conformal half-width, expressed relative to the district's historical yield range</a:t>
            </a:r>
          </a:p>
        </p:txBody>
      </p:sp>
      <p:sp>
        <p:nvSpPr>
          <p:cNvPr id="33" name="Rounded Rectangle 32"/>
          <p:cNvSpPr/>
          <p:nvPr/>
        </p:nvSpPr>
        <p:spPr>
          <a:xfrm>
            <a:off x="566928" y="4572000"/>
            <a:ext cx="11057839" cy="786384"/>
          </a:xfrm>
          <a:prstGeom prst="roundRect">
            <a:avLst>
              <a:gd name="adj" fmla="val 13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lstStyle/>
          <a:p>
            <a:pPr algn="ctr">
              <a:spcBef>
                <a:spcPts val="0"/>
              </a:spcBef>
              <a:spcAft>
                <a:spcPts val="0"/>
              </a:spcAft>
            </a:pPr>
            <a:r>
              <a:rPr sz="1600" b="1" i="0">
                <a:solidFill>
                  <a:srgbClr val="FFFFFF"/>
                </a:solidFill>
                <a:latin typeface="Calibri"/>
              </a:rPr>
              <a:t>Prediction   +   Uncertainty   +   Explanation   +   Reliability   =   Decision-ready output</a:t>
            </a:r>
          </a:p>
        </p:txBody>
      </p:sp>
      <p:sp>
        <p:nvSpPr>
          <p:cNvPr id="34" name="Rounded Rectangle 33"/>
          <p:cNvSpPr/>
          <p:nvPr/>
        </p:nvSpPr>
        <p:spPr>
          <a:xfrm>
            <a:off x="566928" y="5486400"/>
            <a:ext cx="11057839" cy="658368"/>
          </a:xfrm>
          <a:prstGeom prst="roundRect">
            <a:avLst>
              <a:gd name="adj" fmla="val 13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04672" y="5577840"/>
            <a:ext cx="10582351" cy="512064"/>
          </a:xfrm>
          <a:prstGeom prst="rect">
            <a:avLst/>
          </a:prstGeom>
          <a:noFill/>
        </p:spPr>
        <p:txBody>
          <a:bodyPr wrap="square" lIns="0" rIns="0" tIns="0" bIns="0" anchor="t">
            <a:spAutoFit/>
          </a:bodyPr>
          <a:lstStyle/>
          <a:p>
            <a:pPr algn="l">
              <a:spcBef>
                <a:spcPts val="0"/>
              </a:spcBef>
              <a:spcAft>
                <a:spcPts val="200"/>
              </a:spcAft>
            </a:pPr>
            <a:r>
              <a:rPr sz="1100" b="1" i="0">
                <a:solidFill>
                  <a:srgbClr val="0E3B2B"/>
                </a:solidFill>
                <a:latin typeface="Calibri"/>
              </a:rPr>
              <a:t>Why it matters</a:t>
            </a:r>
          </a:p>
          <a:p>
            <a:pPr algn="l">
              <a:lnSpc>
                <a:spcPct val="100000"/>
              </a:lnSpc>
              <a:spcBef>
                <a:spcPts val="0"/>
              </a:spcBef>
              <a:spcAft>
                <a:spcPts val="0"/>
              </a:spcAft>
            </a:pPr>
            <a:r>
              <a:rPr sz="1000" b="0" i="0">
                <a:solidFill>
                  <a:srgbClr val="3A4A40"/>
                </a:solidFill>
                <a:latin typeface="Calibri"/>
              </a:rPr>
              <a:t>A prediction explanation should not only state why the system produced a result — it should also communicate how reliable that explanation is. The index is deliberately formula-based and auditable, not a second black-box model scoring the first.</a:t>
            </a:r>
          </a:p>
        </p:txBody>
      </p:sp>
      <p:sp>
        <p:nvSpPr>
          <p:cNvPr id="36" name="Rectangle 35"/>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3  ·  Agro AI  ·  Big Onion Yield Prediction  ·  University of Moratuwa</a:t>
            </a:r>
          </a:p>
        </p:txBody>
      </p:sp>
      <p:sp>
        <p:nvSpPr>
          <p:cNvPr id="38" name="TextBox 37"/>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Shathurya P.   |   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SECTION 2  ·  MODULE 3</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Dashboard and Prediction-Grounded Assistant</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Next.js decision-support interface in English, Sinhala and Tamil</a:t>
            </a:r>
          </a:p>
        </p:txBody>
      </p:sp>
      <p:sp>
        <p:nvSpPr>
          <p:cNvPr id="7" name="Rounded Rectangle 6"/>
          <p:cNvSpPr/>
          <p:nvPr/>
        </p:nvSpPr>
        <p:spPr>
          <a:xfrm>
            <a:off x="8973007" y="310896"/>
            <a:ext cx="2651760" cy="384048"/>
          </a:xfrm>
          <a:prstGeom prst="roundRect">
            <a:avLst>
              <a:gd name="adj" fmla="val 50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950" b="1" i="0" spc="80">
                <a:solidFill>
                  <a:srgbClr val="FFFFFF"/>
                </a:solidFill>
                <a:latin typeface="Calibri"/>
              </a:rPr>
              <a:t>MODULE 3  ·  Decision Support</a:t>
            </a:r>
          </a:p>
        </p:txBody>
      </p:sp>
      <p:sp>
        <p:nvSpPr>
          <p:cNvPr id="8" name="Rounded Rectangle 7"/>
          <p:cNvSpPr/>
          <p:nvPr/>
        </p:nvSpPr>
        <p:spPr>
          <a:xfrm>
            <a:off x="566928" y="1481328"/>
            <a:ext cx="6583680" cy="1243584"/>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600200"/>
            <a:ext cx="50292" cy="1005840"/>
          </a:xfrm>
          <a:prstGeom prst="rect">
            <a:avLst/>
          </a:prstGeom>
          <a:solidFill>
            <a:srgbClr val="2F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1627632"/>
            <a:ext cx="6126480" cy="292608"/>
          </a:xfrm>
          <a:prstGeom prst="rect">
            <a:avLst/>
          </a:prstGeom>
          <a:noFill/>
        </p:spPr>
        <p:txBody>
          <a:bodyPr wrap="square" lIns="0" rIns="0" tIns="0" bIns="0" anchor="t">
            <a:spAutoFit/>
          </a:bodyPr>
          <a:lstStyle/>
          <a:p>
            <a:pPr algn="l">
              <a:spcBef>
                <a:spcPts val="0"/>
              </a:spcBef>
              <a:spcAft>
                <a:spcPts val="0"/>
              </a:spcAft>
            </a:pPr>
            <a:r>
              <a:rPr sz="1300" b="1" i="0">
                <a:solidFill>
                  <a:srgbClr val="0E3B2B"/>
                </a:solidFill>
                <a:latin typeface="Calibri"/>
              </a:rPr>
              <a:t>Predict &amp; compare</a:t>
            </a:r>
          </a:p>
        </p:txBody>
      </p:sp>
      <p:sp>
        <p:nvSpPr>
          <p:cNvPr id="11" name="TextBox 10"/>
          <p:cNvSpPr txBox="1"/>
          <p:nvPr/>
        </p:nvSpPr>
        <p:spPr>
          <a:xfrm>
            <a:off x="804672" y="1956816"/>
            <a:ext cx="6126480" cy="713232"/>
          </a:xfrm>
          <a:prstGeom prst="rect">
            <a:avLst/>
          </a:prstGeom>
          <a:noFill/>
        </p:spPr>
        <p:txBody>
          <a:bodyPr wrap="square" lIns="0" rIns="0" tIns="0" bIns="0" anchor="t">
            <a:spAutoFit/>
          </a:bodyPr>
          <a:lstStyle/>
          <a:p>
            <a:pPr algn="l">
              <a:lnSpc>
                <a:spcPct val="104000"/>
              </a:lnSpc>
              <a:spcBef>
                <a:spcPts val="0"/>
              </a:spcBef>
              <a:spcAft>
                <a:spcPts val="0"/>
              </a:spcAft>
            </a:pPr>
            <a:r>
              <a:rPr sz="1050" b="0" i="0">
                <a:solidFill>
                  <a:srgbClr val="3A4A40"/>
                </a:solidFill>
                <a:latin typeface="Calibri"/>
              </a:rPr>
              <a:t>District-level yield prediction  ·  Sri Lankan district choropleth map  ·  district-to-district comparison  ·  year-to-year comparison  ·  context-aware form with automatically prefilled values</a:t>
            </a:r>
          </a:p>
        </p:txBody>
      </p:sp>
      <p:sp>
        <p:nvSpPr>
          <p:cNvPr id="12" name="Rounded Rectangle 11"/>
          <p:cNvSpPr/>
          <p:nvPr/>
        </p:nvSpPr>
        <p:spPr>
          <a:xfrm>
            <a:off x="566928" y="2852928"/>
            <a:ext cx="6583680" cy="1243584"/>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66928" y="2971800"/>
            <a:ext cx="50292" cy="100584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04672" y="2999232"/>
            <a:ext cx="6126480" cy="292608"/>
          </a:xfrm>
          <a:prstGeom prst="rect">
            <a:avLst/>
          </a:prstGeom>
          <a:noFill/>
        </p:spPr>
        <p:txBody>
          <a:bodyPr wrap="square" lIns="0" rIns="0" tIns="0" bIns="0" anchor="t">
            <a:spAutoFit/>
          </a:bodyPr>
          <a:lstStyle/>
          <a:p>
            <a:pPr algn="l">
              <a:spcBef>
                <a:spcPts val="0"/>
              </a:spcBef>
              <a:spcAft>
                <a:spcPts val="0"/>
              </a:spcAft>
            </a:pPr>
            <a:r>
              <a:rPr sz="1300" b="1" i="0">
                <a:solidFill>
                  <a:srgbClr val="0E3B2B"/>
                </a:solidFill>
                <a:latin typeface="Calibri"/>
              </a:rPr>
              <a:t>Explain &amp; trust</a:t>
            </a:r>
          </a:p>
        </p:txBody>
      </p:sp>
      <p:sp>
        <p:nvSpPr>
          <p:cNvPr id="15" name="TextBox 14"/>
          <p:cNvSpPr txBox="1"/>
          <p:nvPr/>
        </p:nvSpPr>
        <p:spPr>
          <a:xfrm>
            <a:off x="804672" y="3328416"/>
            <a:ext cx="6126480" cy="713232"/>
          </a:xfrm>
          <a:prstGeom prst="rect">
            <a:avLst/>
          </a:prstGeom>
          <a:noFill/>
        </p:spPr>
        <p:txBody>
          <a:bodyPr wrap="square" lIns="0" rIns="0" tIns="0" bIns="0" anchor="t">
            <a:spAutoFit/>
          </a:bodyPr>
          <a:lstStyle/>
          <a:p>
            <a:pPr algn="l">
              <a:lnSpc>
                <a:spcPct val="104000"/>
              </a:lnSpc>
              <a:spcBef>
                <a:spcPts val="0"/>
              </a:spcBef>
              <a:spcAft>
                <a:spcPts val="0"/>
              </a:spcAft>
            </a:pPr>
            <a:r>
              <a:rPr sz="1050" b="0" i="0">
                <a:solidFill>
                  <a:srgbClr val="3A4A40"/>
                </a:solidFill>
                <a:latin typeface="Calibri"/>
              </a:rPr>
              <a:t>Point prediction with its prediction interval  ·  SHAP feature-contribution chart  ·  ERI reliability badge  ·  the symbolic-regression equation as a readable cross-check</a:t>
            </a:r>
          </a:p>
        </p:txBody>
      </p:sp>
      <p:sp>
        <p:nvSpPr>
          <p:cNvPr id="16" name="Rounded Rectangle 15"/>
          <p:cNvSpPr/>
          <p:nvPr/>
        </p:nvSpPr>
        <p:spPr>
          <a:xfrm>
            <a:off x="566928" y="4224528"/>
            <a:ext cx="6583680" cy="1243584"/>
          </a:xfrm>
          <a:prstGeom prst="roundRect">
            <a:avLst>
              <a:gd name="adj" fmla="val 6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66928" y="4343400"/>
            <a:ext cx="50292" cy="1005840"/>
          </a:xfrm>
          <a:prstGeom prst="rect">
            <a:avLst/>
          </a:prstGeom>
          <a:solidFill>
            <a:srgbClr val="2A6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4672" y="4370832"/>
            <a:ext cx="6126480" cy="292608"/>
          </a:xfrm>
          <a:prstGeom prst="rect">
            <a:avLst/>
          </a:prstGeom>
          <a:noFill/>
        </p:spPr>
        <p:txBody>
          <a:bodyPr wrap="square" lIns="0" rIns="0" tIns="0" bIns="0" anchor="t">
            <a:spAutoFit/>
          </a:bodyPr>
          <a:lstStyle/>
          <a:p>
            <a:pPr algn="l">
              <a:spcBef>
                <a:spcPts val="0"/>
              </a:spcBef>
              <a:spcAft>
                <a:spcPts val="0"/>
              </a:spcAft>
            </a:pPr>
            <a:r>
              <a:rPr sz="1300" b="1" i="0">
                <a:solidFill>
                  <a:srgbClr val="0E3B2B"/>
                </a:solidFill>
                <a:latin typeface="Calibri"/>
              </a:rPr>
              <a:t>Decide &amp; operate</a:t>
            </a:r>
          </a:p>
        </p:txBody>
      </p:sp>
      <p:sp>
        <p:nvSpPr>
          <p:cNvPr id="19" name="TextBox 18"/>
          <p:cNvSpPr txBox="1"/>
          <p:nvPr/>
        </p:nvSpPr>
        <p:spPr>
          <a:xfrm>
            <a:off x="804672" y="4700016"/>
            <a:ext cx="6126480" cy="713232"/>
          </a:xfrm>
          <a:prstGeom prst="rect">
            <a:avLst/>
          </a:prstGeom>
          <a:noFill/>
        </p:spPr>
        <p:txBody>
          <a:bodyPr wrap="square" lIns="0" rIns="0" tIns="0" bIns="0" anchor="t">
            <a:spAutoFit/>
          </a:bodyPr>
          <a:lstStyle/>
          <a:p>
            <a:pPr algn="l">
              <a:lnSpc>
                <a:spcPct val="104000"/>
              </a:lnSpc>
              <a:spcBef>
                <a:spcPts val="0"/>
              </a:spcBef>
              <a:spcAft>
                <a:spcPts val="0"/>
              </a:spcAft>
            </a:pPr>
            <a:r>
              <a:rPr sz="1050" b="0" i="0">
                <a:solidFill>
                  <a:srgbClr val="3A4A40"/>
                </a:solidFill>
                <a:latin typeface="Calibri"/>
              </a:rPr>
              <a:t>Recommendation view in plain language  ·  model-comparison panel  ·  administrative and technical view  ·  English, Sinhala and Tamil</a:t>
            </a:r>
          </a:p>
        </p:txBody>
      </p:sp>
      <p:sp>
        <p:nvSpPr>
          <p:cNvPr id="20" name="Rounded Rectangle 19"/>
          <p:cNvSpPr/>
          <p:nvPr/>
        </p:nvSpPr>
        <p:spPr>
          <a:xfrm>
            <a:off x="7479792" y="1481328"/>
            <a:ext cx="4144975" cy="3986784"/>
          </a:xfrm>
          <a:prstGeom prst="roundRect">
            <a:avLst>
              <a:gd name="adj" fmla="val 5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99248" y="1591056"/>
            <a:ext cx="3706063" cy="566928"/>
          </a:xfrm>
          <a:prstGeom prst="rect">
            <a:avLst/>
          </a:prstGeom>
          <a:noFill/>
        </p:spPr>
        <p:txBody>
          <a:bodyPr wrap="square" lIns="0" rIns="0" tIns="0" bIns="0" anchor="t">
            <a:spAutoFit/>
          </a:bodyPr>
          <a:lstStyle/>
          <a:p>
            <a:pPr algn="l">
              <a:lnSpc>
                <a:spcPct val="95000"/>
              </a:lnSpc>
              <a:spcBef>
                <a:spcPts val="0"/>
              </a:spcBef>
              <a:spcAft>
                <a:spcPts val="300"/>
              </a:spcAft>
            </a:pPr>
            <a:r>
              <a:rPr sz="1350" b="1" i="0">
                <a:solidFill>
                  <a:srgbClr val="FFFFFF"/>
                </a:solidFill>
                <a:latin typeface="Calibri"/>
              </a:rPr>
              <a:t>Prediction-grounded RAG assistant</a:t>
            </a:r>
          </a:p>
          <a:p>
            <a:pPr algn="l">
              <a:lnSpc>
                <a:spcPct val="100000"/>
              </a:lnSpc>
              <a:spcBef>
                <a:spcPts val="0"/>
              </a:spcBef>
              <a:spcAft>
                <a:spcPts val="0"/>
              </a:spcAft>
            </a:pPr>
            <a:r>
              <a:rPr sz="1000" b="0" i="1">
                <a:solidFill>
                  <a:srgbClr val="C87A1E"/>
                </a:solidFill>
                <a:latin typeface="Calibri"/>
              </a:rPr>
              <a:t>“Why is Anuradhapura's predicted yield lower than last year?”</a:t>
            </a:r>
          </a:p>
        </p:txBody>
      </p:sp>
      <p:sp>
        <p:nvSpPr>
          <p:cNvPr id="22" name="Rounded Rectangle 21"/>
          <p:cNvSpPr/>
          <p:nvPr/>
        </p:nvSpPr>
        <p:spPr>
          <a:xfrm>
            <a:off x="7699248" y="2249424"/>
            <a:ext cx="3706063" cy="420624"/>
          </a:xfrm>
          <a:prstGeom prst="roundRect">
            <a:avLst>
              <a:gd name="adj" fmla="val 16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18288" bIns="18288"/>
          <a:lstStyle/>
          <a:p>
            <a:pPr algn="l">
              <a:lnSpc>
                <a:spcPct val="95000"/>
              </a:lnSpc>
              <a:spcBef>
                <a:spcPts val="0"/>
              </a:spcBef>
              <a:spcAft>
                <a:spcPts val="0"/>
              </a:spcAft>
            </a:pPr>
            <a:r>
              <a:rPr sz="1000" b="1" i="0">
                <a:solidFill>
                  <a:srgbClr val="FFFFFF"/>
                </a:solidFill>
                <a:latin typeface="Calibri"/>
              </a:rPr>
              <a:t>User selects district and year</a:t>
            </a:r>
          </a:p>
        </p:txBody>
      </p:sp>
      <p:sp>
        <p:nvSpPr>
          <p:cNvPr id="23" name="Down Arrow 22"/>
          <p:cNvSpPr/>
          <p:nvPr/>
        </p:nvSpPr>
        <p:spPr>
          <a:xfrm>
            <a:off x="9479127" y="2679191"/>
            <a:ext cx="146304" cy="100584"/>
          </a:xfrm>
          <a:prstGeom prst="downArrow">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7699248" y="2779776"/>
            <a:ext cx="3706063" cy="420624"/>
          </a:xfrm>
          <a:prstGeom prst="roundRect">
            <a:avLst>
              <a:gd name="adj" fmla="val 16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18288" bIns="18288"/>
          <a:lstStyle/>
          <a:p>
            <a:pPr algn="l">
              <a:lnSpc>
                <a:spcPct val="95000"/>
              </a:lnSpc>
              <a:spcBef>
                <a:spcPts val="0"/>
              </a:spcBef>
              <a:spcAft>
                <a:spcPts val="0"/>
              </a:spcAft>
            </a:pPr>
            <a:r>
              <a:rPr sz="1000" b="1" i="0">
                <a:solidFill>
                  <a:srgbClr val="FFFFFF"/>
                </a:solidFill>
                <a:latin typeface="Calibri"/>
              </a:rPr>
              <a:t>System predicts yield</a:t>
            </a:r>
          </a:p>
        </p:txBody>
      </p:sp>
      <p:sp>
        <p:nvSpPr>
          <p:cNvPr id="25" name="Down Arrow 24"/>
          <p:cNvSpPr/>
          <p:nvPr/>
        </p:nvSpPr>
        <p:spPr>
          <a:xfrm>
            <a:off x="9479127" y="3209544"/>
            <a:ext cx="146304" cy="100584"/>
          </a:xfrm>
          <a:prstGeom prst="downArrow">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7699248" y="3310128"/>
            <a:ext cx="3706063" cy="420624"/>
          </a:xfrm>
          <a:prstGeom prst="roundRect">
            <a:avLst>
              <a:gd name="adj" fmla="val 16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18288" bIns="18288"/>
          <a:lstStyle/>
          <a:p>
            <a:pPr algn="l">
              <a:lnSpc>
                <a:spcPct val="95000"/>
              </a:lnSpc>
              <a:spcBef>
                <a:spcPts val="0"/>
              </a:spcBef>
              <a:spcAft>
                <a:spcPts val="0"/>
              </a:spcAft>
            </a:pPr>
            <a:r>
              <a:rPr sz="1000" b="1" i="0">
                <a:solidFill>
                  <a:srgbClr val="FFFFFF"/>
                </a:solidFill>
                <a:latin typeface="Calibri"/>
              </a:rPr>
              <a:t>Dashboard shows uncertainty and explanations</a:t>
            </a:r>
          </a:p>
        </p:txBody>
      </p:sp>
      <p:sp>
        <p:nvSpPr>
          <p:cNvPr id="27" name="Down Arrow 26"/>
          <p:cNvSpPr/>
          <p:nvPr/>
        </p:nvSpPr>
        <p:spPr>
          <a:xfrm>
            <a:off x="9479127" y="3739896"/>
            <a:ext cx="146304" cy="100584"/>
          </a:xfrm>
          <a:prstGeom prst="downArrow">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7699248" y="3840479"/>
            <a:ext cx="3706063" cy="420624"/>
          </a:xfrm>
          <a:prstGeom prst="roundRect">
            <a:avLst>
              <a:gd name="adj" fmla="val 16000"/>
            </a:avLst>
          </a:prstGeom>
          <a:solidFill>
            <a:srgbClr val="1853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18288" bIns="18288"/>
          <a:lstStyle/>
          <a:p>
            <a:pPr algn="l">
              <a:lnSpc>
                <a:spcPct val="95000"/>
              </a:lnSpc>
              <a:spcBef>
                <a:spcPts val="0"/>
              </a:spcBef>
              <a:spcAft>
                <a:spcPts val="0"/>
              </a:spcAft>
            </a:pPr>
            <a:r>
              <a:rPr sz="1000" b="1" i="0">
                <a:solidFill>
                  <a:srgbClr val="FFFFFF"/>
                </a:solidFill>
                <a:latin typeface="Calibri"/>
              </a:rPr>
              <a:t>User asks a follow-up question</a:t>
            </a:r>
          </a:p>
        </p:txBody>
      </p:sp>
      <p:sp>
        <p:nvSpPr>
          <p:cNvPr id="29" name="Down Arrow 28"/>
          <p:cNvSpPr/>
          <p:nvPr/>
        </p:nvSpPr>
        <p:spPr>
          <a:xfrm>
            <a:off x="9479127" y="4270247"/>
            <a:ext cx="146304" cy="100584"/>
          </a:xfrm>
          <a:prstGeom prst="downArrow">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7699248" y="4370831"/>
            <a:ext cx="3706063" cy="420624"/>
          </a:xfrm>
          <a:prstGeom prst="roundRect">
            <a:avLst>
              <a:gd name="adj" fmla="val 16000"/>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18288" bIns="18288"/>
          <a:lstStyle/>
          <a:p>
            <a:pPr algn="l">
              <a:lnSpc>
                <a:spcPct val="95000"/>
              </a:lnSpc>
              <a:spcBef>
                <a:spcPts val="0"/>
              </a:spcBef>
              <a:spcAft>
                <a:spcPts val="0"/>
              </a:spcAft>
            </a:pPr>
            <a:r>
              <a:rPr sz="1000" b="1" i="0">
                <a:solidFill>
                  <a:srgbClr val="FFFFFF"/>
                </a:solidFill>
                <a:latin typeface="Calibri"/>
              </a:rPr>
              <a:t>Assistant answers from retrieved system outputs</a:t>
            </a:r>
          </a:p>
        </p:txBody>
      </p:sp>
      <p:sp>
        <p:nvSpPr>
          <p:cNvPr id="31" name="TextBox 30"/>
          <p:cNvSpPr txBox="1"/>
          <p:nvPr/>
        </p:nvSpPr>
        <p:spPr>
          <a:xfrm>
            <a:off x="7699248" y="4901184"/>
            <a:ext cx="3706063" cy="512064"/>
          </a:xfrm>
          <a:prstGeom prst="rect">
            <a:avLst/>
          </a:prstGeom>
          <a:noFill/>
        </p:spPr>
        <p:txBody>
          <a:bodyPr wrap="square" lIns="0" rIns="0" tIns="0" bIns="0" anchor="t">
            <a:spAutoFit/>
          </a:bodyPr>
          <a:lstStyle/>
          <a:p>
            <a:pPr algn="l">
              <a:lnSpc>
                <a:spcPct val="102000"/>
              </a:lnSpc>
              <a:spcBef>
                <a:spcPts val="0"/>
              </a:spcBef>
              <a:spcAft>
                <a:spcPts val="0"/>
              </a:spcAft>
            </a:pPr>
            <a:r>
              <a:rPr sz="850" b="0" i="0">
                <a:solidFill>
                  <a:srgbClr val="BFD7C6"/>
                </a:solidFill>
                <a:latin typeface="Calibri"/>
              </a:rPr>
              <a:t>Retrieval is scoped to this system's own outputs — SHAP values, the ERI score, the conformal interval and historical yield, keyed by district and year — so answers stay traceable to a specific prediction instead of being generated from general knowledge of onion cultivation.</a:t>
            </a:r>
          </a:p>
        </p:txBody>
      </p:sp>
      <p:sp>
        <p:nvSpPr>
          <p:cNvPr id="32" name="Rounded Rectangle 31"/>
          <p:cNvSpPr/>
          <p:nvPr/>
        </p:nvSpPr>
        <p:spPr>
          <a:xfrm>
            <a:off x="566928" y="5614416"/>
            <a:ext cx="11057839" cy="512064"/>
          </a:xfrm>
          <a:prstGeom prst="roundRect">
            <a:avLst>
              <a:gd name="adj" fmla="val 20000"/>
            </a:avLst>
          </a:prstGeom>
          <a:solidFill>
            <a:srgbClr val="FBEFDC"/>
          </a:solidFill>
          <a:ln w="12700">
            <a:solidFill>
              <a:srgbClr val="ECD6A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 bIns="18288"/>
          <a:lstStyle/>
          <a:p>
            <a:pPr algn="ctr">
              <a:spcBef>
                <a:spcPts val="0"/>
              </a:spcBef>
              <a:spcAft>
                <a:spcPts val="0"/>
              </a:spcAft>
            </a:pPr>
            <a:r>
              <a:rPr sz="1150" b="1" i="0">
                <a:solidFill>
                  <a:srgbClr val="9B5A12"/>
                </a:solidFill>
                <a:latin typeface="Calibri"/>
              </a:rPr>
              <a:t>MODULE 3 OUTPUT   ·   an understandable, explainable, multilingual and reliability-aware decision-support interface</a:t>
            </a:r>
          </a:p>
        </p:txBody>
      </p:sp>
      <p:sp>
        <p:nvSpPr>
          <p:cNvPr id="33" name="Rectangle 32"/>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Module 3  ·  Agro AI  ·  Big Onion Yield Prediction  ·  University of Moratuwa</a:t>
            </a:r>
          </a:p>
        </p:txBody>
      </p:sp>
      <p:sp>
        <p:nvSpPr>
          <p:cNvPr id="35" name="TextBox 34"/>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Shathurya P.   |   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29184"/>
            <a:ext cx="8846271" cy="237744"/>
          </a:xfrm>
          <a:prstGeom prst="rect">
            <a:avLst/>
          </a:prstGeom>
          <a:noFill/>
        </p:spPr>
        <p:txBody>
          <a:bodyPr wrap="square" lIns="0" rIns="0" tIns="0" bIns="0" anchor="t">
            <a:spAutoFit/>
          </a:bodyPr>
          <a:lstStyle/>
          <a:p>
            <a:pPr algn="l">
              <a:spcBef>
                <a:spcPts val="0"/>
              </a:spcBef>
              <a:spcAft>
                <a:spcPts val="0"/>
              </a:spcAft>
            </a:pPr>
            <a:r>
              <a:rPr sz="1050" b="1" i="0" spc="160">
                <a:solidFill>
                  <a:srgbClr val="2F7D4F"/>
                </a:solidFill>
                <a:latin typeface="Calibri"/>
              </a:rPr>
              <a:t>CONCLUSION</a:t>
            </a:r>
          </a:p>
        </p:txBody>
      </p:sp>
      <p:sp>
        <p:nvSpPr>
          <p:cNvPr id="4" name="TextBox 3"/>
          <p:cNvSpPr txBox="1"/>
          <p:nvPr/>
        </p:nvSpPr>
        <p:spPr>
          <a:xfrm>
            <a:off x="566928" y="548640"/>
            <a:ext cx="9509741" cy="502920"/>
          </a:xfrm>
          <a:prstGeom prst="rect">
            <a:avLst/>
          </a:prstGeom>
          <a:noFill/>
        </p:spPr>
        <p:txBody>
          <a:bodyPr wrap="square" lIns="0" rIns="0" tIns="0" bIns="0" anchor="t">
            <a:spAutoFit/>
          </a:bodyPr>
          <a:lstStyle/>
          <a:p>
            <a:pPr algn="l">
              <a:lnSpc>
                <a:spcPct val="95000"/>
              </a:lnSpc>
              <a:spcBef>
                <a:spcPts val="0"/>
              </a:spcBef>
              <a:spcAft>
                <a:spcPts val="0"/>
              </a:spcAft>
            </a:pPr>
            <a:r>
              <a:rPr sz="2900" b="1" i="0">
                <a:solidFill>
                  <a:srgbClr val="0E3B2B"/>
                </a:solidFill>
                <a:latin typeface="Calibri"/>
              </a:rPr>
              <a:t>The Complete System and Its Value</a:t>
            </a:r>
          </a:p>
        </p:txBody>
      </p:sp>
      <p:sp>
        <p:nvSpPr>
          <p:cNvPr id="5" name="Rectangle 4"/>
          <p:cNvSpPr/>
          <p:nvPr/>
        </p:nvSpPr>
        <p:spPr>
          <a:xfrm>
            <a:off x="566928" y="1152144"/>
            <a:ext cx="960120" cy="45720"/>
          </a:xfrm>
          <a:prstGeom prst="rect">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682495" y="1088136"/>
            <a:ext cx="9869119" cy="274320"/>
          </a:xfrm>
          <a:prstGeom prst="rect">
            <a:avLst/>
          </a:prstGeom>
          <a:noFill/>
        </p:spPr>
        <p:txBody>
          <a:bodyPr wrap="square" lIns="0" rIns="0" tIns="0" bIns="0" anchor="t">
            <a:spAutoFit/>
          </a:bodyPr>
          <a:lstStyle/>
          <a:p>
            <a:pPr algn="l">
              <a:spcBef>
                <a:spcPts val="0"/>
              </a:spcBef>
              <a:spcAft>
                <a:spcPts val="0"/>
              </a:spcAft>
            </a:pPr>
            <a:r>
              <a:rPr sz="1150" b="0" i="0">
                <a:solidFill>
                  <a:srgbClr val="6B7A70"/>
                </a:solidFill>
                <a:latin typeface="Calibri"/>
              </a:rPr>
              <a:t>From fragmented agricultural data to decision-ready forecasts</a:t>
            </a:r>
          </a:p>
        </p:txBody>
      </p:sp>
      <p:sp>
        <p:nvSpPr>
          <p:cNvPr id="7" name="Rounded Rectangle 6"/>
          <p:cNvSpPr/>
          <p:nvPr/>
        </p:nvSpPr>
        <p:spPr>
          <a:xfrm>
            <a:off x="566928" y="1444752"/>
            <a:ext cx="5760720" cy="585216"/>
          </a:xfrm>
          <a:prstGeom prst="roundRect">
            <a:avLst>
              <a:gd name="adj" fmla="val 15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ctr">
              <a:lnSpc>
                <a:spcPct val="95000"/>
              </a:lnSpc>
              <a:spcBef>
                <a:spcPts val="0"/>
              </a:spcBef>
              <a:spcAft>
                <a:spcPts val="0"/>
              </a:spcAft>
            </a:pPr>
            <a:r>
              <a:rPr sz="1150" b="1" i="0">
                <a:solidFill>
                  <a:srgbClr val="0E3B2B"/>
                </a:solidFill>
                <a:latin typeface="Calibri"/>
              </a:rPr>
              <a:t>Historical yield  +  Weather  +  Soil  +  Satellite data</a:t>
            </a:r>
          </a:p>
        </p:txBody>
      </p:sp>
      <p:sp>
        <p:nvSpPr>
          <p:cNvPr id="8" name="Down Arrow 7"/>
          <p:cNvSpPr/>
          <p:nvPr/>
        </p:nvSpPr>
        <p:spPr>
          <a:xfrm>
            <a:off x="3374136" y="2039112"/>
            <a:ext cx="146304" cy="12344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66928" y="2171700"/>
            <a:ext cx="5760720" cy="585216"/>
          </a:xfrm>
          <a:prstGeom prst="roundRect">
            <a:avLst>
              <a:gd name="adj" fmla="val 1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ctr">
              <a:lnSpc>
                <a:spcPct val="95000"/>
              </a:lnSpc>
              <a:spcBef>
                <a:spcPts val="0"/>
              </a:spcBef>
              <a:spcAft>
                <a:spcPts val="0"/>
              </a:spcAft>
            </a:pPr>
            <a:r>
              <a:rPr sz="1150" b="1" i="0">
                <a:solidFill>
                  <a:srgbClr val="0E3B2B"/>
                </a:solidFill>
                <a:latin typeface="Calibri"/>
              </a:rPr>
              <a:t>Module 1  ·  Data integration and feature engineering</a:t>
            </a:r>
          </a:p>
        </p:txBody>
      </p:sp>
      <p:sp>
        <p:nvSpPr>
          <p:cNvPr id="10" name="Down Arrow 9"/>
          <p:cNvSpPr/>
          <p:nvPr/>
        </p:nvSpPr>
        <p:spPr>
          <a:xfrm>
            <a:off x="3374136" y="2766060"/>
            <a:ext cx="146304" cy="12344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66928" y="2898648"/>
            <a:ext cx="5760720" cy="585216"/>
          </a:xfrm>
          <a:prstGeom prst="roundRect">
            <a:avLst>
              <a:gd name="adj" fmla="val 1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ctr">
              <a:lnSpc>
                <a:spcPct val="95000"/>
              </a:lnSpc>
              <a:spcBef>
                <a:spcPts val="0"/>
              </a:spcBef>
              <a:spcAft>
                <a:spcPts val="0"/>
              </a:spcAft>
            </a:pPr>
            <a:r>
              <a:rPr sz="1150" b="1" i="0">
                <a:solidFill>
                  <a:srgbClr val="0E3B2B"/>
                </a:solidFill>
                <a:latin typeface="Calibri"/>
              </a:rPr>
              <a:t>Module 2  ·  ML/DL prediction, ensemble and uncertainty</a:t>
            </a:r>
          </a:p>
        </p:txBody>
      </p:sp>
      <p:sp>
        <p:nvSpPr>
          <p:cNvPr id="12" name="Down Arrow 11"/>
          <p:cNvSpPr/>
          <p:nvPr/>
        </p:nvSpPr>
        <p:spPr>
          <a:xfrm>
            <a:off x="3374136" y="3493008"/>
            <a:ext cx="146304" cy="12344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66928" y="3625596"/>
            <a:ext cx="5760720" cy="585216"/>
          </a:xfrm>
          <a:prstGeom prst="roundRect">
            <a:avLst>
              <a:gd name="adj" fmla="val 15000"/>
            </a:avLst>
          </a:prstGeom>
          <a:solidFill>
            <a:srgbClr val="EDEF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ctr">
              <a:lnSpc>
                <a:spcPct val="95000"/>
              </a:lnSpc>
              <a:spcBef>
                <a:spcPts val="0"/>
              </a:spcBef>
              <a:spcAft>
                <a:spcPts val="0"/>
              </a:spcAft>
            </a:pPr>
            <a:r>
              <a:rPr sz="1150" b="1" i="0">
                <a:solidFill>
                  <a:srgbClr val="3A4A40"/>
                </a:solidFill>
                <a:latin typeface="Calibri"/>
              </a:rPr>
              <a:t>Flask REST API  ·  serving and integration layer</a:t>
            </a:r>
          </a:p>
        </p:txBody>
      </p:sp>
      <p:sp>
        <p:nvSpPr>
          <p:cNvPr id="14" name="Down Arrow 13"/>
          <p:cNvSpPr/>
          <p:nvPr/>
        </p:nvSpPr>
        <p:spPr>
          <a:xfrm>
            <a:off x="3374136" y="4219956"/>
            <a:ext cx="146304" cy="12344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66928" y="4352544"/>
            <a:ext cx="5760720" cy="585216"/>
          </a:xfrm>
          <a:prstGeom prst="roundRect">
            <a:avLst>
              <a:gd name="adj" fmla="val 15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ctr">
              <a:lnSpc>
                <a:spcPct val="95000"/>
              </a:lnSpc>
              <a:spcBef>
                <a:spcPts val="0"/>
              </a:spcBef>
              <a:spcAft>
                <a:spcPts val="0"/>
              </a:spcAft>
            </a:pPr>
            <a:r>
              <a:rPr sz="1150" b="1" i="0">
                <a:solidFill>
                  <a:srgbClr val="0E3B2B"/>
                </a:solidFill>
                <a:latin typeface="Calibri"/>
              </a:rPr>
              <a:t>Module 3  ·  Explainability, ERI, dashboard and assistant</a:t>
            </a:r>
          </a:p>
        </p:txBody>
      </p:sp>
      <p:sp>
        <p:nvSpPr>
          <p:cNvPr id="16" name="Down Arrow 15"/>
          <p:cNvSpPr/>
          <p:nvPr/>
        </p:nvSpPr>
        <p:spPr>
          <a:xfrm>
            <a:off x="3374136" y="4946903"/>
            <a:ext cx="146304" cy="123444"/>
          </a:xfrm>
          <a:prstGeom prst="downArrow">
            <a:avLst/>
          </a:prstGeom>
          <a:solidFill>
            <a:srgbClr val="4E9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66928" y="5079492"/>
            <a:ext cx="5760720" cy="585216"/>
          </a:xfrm>
          <a:prstGeom prst="roundRect">
            <a:avLst>
              <a:gd name="adj" fmla="val 15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8288" bIns="18288"/>
          <a:lstStyle/>
          <a:p>
            <a:pPr algn="ctr">
              <a:lnSpc>
                <a:spcPct val="95000"/>
              </a:lnSpc>
              <a:spcBef>
                <a:spcPts val="0"/>
              </a:spcBef>
              <a:spcAft>
                <a:spcPts val="0"/>
              </a:spcAft>
            </a:pPr>
            <a:r>
              <a:rPr sz="1150" b="1" i="0">
                <a:solidFill>
                  <a:srgbClr val="FFFFFF"/>
                </a:solidFill>
                <a:latin typeface="Calibri"/>
              </a:rPr>
              <a:t>Early and informed agricultural decisions</a:t>
            </a:r>
          </a:p>
        </p:txBody>
      </p:sp>
      <p:sp>
        <p:nvSpPr>
          <p:cNvPr id="18" name="TextBox 17"/>
          <p:cNvSpPr txBox="1"/>
          <p:nvPr/>
        </p:nvSpPr>
        <p:spPr>
          <a:xfrm>
            <a:off x="6711696" y="1426464"/>
            <a:ext cx="4913071" cy="256032"/>
          </a:xfrm>
          <a:prstGeom prst="rect">
            <a:avLst/>
          </a:prstGeom>
          <a:noFill/>
        </p:spPr>
        <p:txBody>
          <a:bodyPr wrap="square" lIns="0" rIns="0" tIns="0" bIns="0" anchor="t">
            <a:spAutoFit/>
          </a:bodyPr>
          <a:lstStyle/>
          <a:p>
            <a:pPr algn="l">
              <a:spcBef>
                <a:spcPts val="0"/>
              </a:spcBef>
              <a:spcAft>
                <a:spcPts val="0"/>
              </a:spcAft>
            </a:pPr>
            <a:r>
              <a:rPr sz="1000" b="1" i="0" spc="150">
                <a:solidFill>
                  <a:srgbClr val="2F7D4F"/>
                </a:solidFill>
                <a:latin typeface="Calibri"/>
              </a:rPr>
              <a:t>KEY VALUE</a:t>
            </a:r>
          </a:p>
        </p:txBody>
      </p:sp>
      <p:sp>
        <p:nvSpPr>
          <p:cNvPr id="19" name="Rounded Rectangle 18"/>
          <p:cNvSpPr/>
          <p:nvPr/>
        </p:nvSpPr>
        <p:spPr>
          <a:xfrm>
            <a:off x="6711696" y="1719072"/>
            <a:ext cx="4913071" cy="566928"/>
          </a:xfrm>
          <a:prstGeom prst="roundRect">
            <a:avLst>
              <a:gd name="adj" fmla="val 13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6876288" y="1837943"/>
            <a:ext cx="329184" cy="329184"/>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1</a:t>
            </a:r>
          </a:p>
        </p:txBody>
      </p:sp>
      <p:sp>
        <p:nvSpPr>
          <p:cNvPr id="21" name="TextBox 20"/>
          <p:cNvSpPr txBox="1"/>
          <p:nvPr/>
        </p:nvSpPr>
        <p:spPr>
          <a:xfrm>
            <a:off x="7315200" y="1810512"/>
            <a:ext cx="4126687" cy="420624"/>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E3B2B"/>
                </a:solidFill>
                <a:latin typeface="Calibri"/>
              </a:rPr>
              <a:t>Predicts big onion yield before harvest</a:t>
            </a:r>
          </a:p>
        </p:txBody>
      </p:sp>
      <p:sp>
        <p:nvSpPr>
          <p:cNvPr id="22" name="Rounded Rectangle 21"/>
          <p:cNvSpPr/>
          <p:nvPr/>
        </p:nvSpPr>
        <p:spPr>
          <a:xfrm>
            <a:off x="6711696" y="2395728"/>
            <a:ext cx="4913071" cy="566928"/>
          </a:xfrm>
          <a:prstGeom prst="roundRect">
            <a:avLst>
              <a:gd name="adj" fmla="val 13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876288" y="2514600"/>
            <a:ext cx="329184" cy="329184"/>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2</a:t>
            </a:r>
          </a:p>
        </p:txBody>
      </p:sp>
      <p:sp>
        <p:nvSpPr>
          <p:cNvPr id="24" name="TextBox 23"/>
          <p:cNvSpPr txBox="1"/>
          <p:nvPr/>
        </p:nvSpPr>
        <p:spPr>
          <a:xfrm>
            <a:off x="7315200" y="2487168"/>
            <a:ext cx="4126687" cy="420624"/>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E3B2B"/>
                </a:solidFill>
                <a:latin typeface="Calibri"/>
              </a:rPr>
              <a:t>Designed explicitly for severe data scarcity</a:t>
            </a:r>
          </a:p>
        </p:txBody>
      </p:sp>
      <p:sp>
        <p:nvSpPr>
          <p:cNvPr id="25" name="Rounded Rectangle 24"/>
          <p:cNvSpPr/>
          <p:nvPr/>
        </p:nvSpPr>
        <p:spPr>
          <a:xfrm>
            <a:off x="6711696" y="3072384"/>
            <a:ext cx="4913071" cy="566928"/>
          </a:xfrm>
          <a:prstGeom prst="roundRect">
            <a:avLst>
              <a:gd name="adj" fmla="val 13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6876288" y="3191256"/>
            <a:ext cx="329184" cy="329184"/>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3</a:t>
            </a:r>
          </a:p>
        </p:txBody>
      </p:sp>
      <p:sp>
        <p:nvSpPr>
          <p:cNvPr id="27" name="TextBox 26"/>
          <p:cNvSpPr txBox="1"/>
          <p:nvPr/>
        </p:nvSpPr>
        <p:spPr>
          <a:xfrm>
            <a:off x="7315200" y="3163824"/>
            <a:ext cx="4126687" cy="420624"/>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E3B2B"/>
                </a:solidFill>
                <a:latin typeface="Calibri"/>
              </a:rPr>
              <a:t>Provides uncertainty instead of only a single number</a:t>
            </a:r>
          </a:p>
        </p:txBody>
      </p:sp>
      <p:sp>
        <p:nvSpPr>
          <p:cNvPr id="28" name="Rounded Rectangle 27"/>
          <p:cNvSpPr/>
          <p:nvPr/>
        </p:nvSpPr>
        <p:spPr>
          <a:xfrm>
            <a:off x="6711696" y="3749039"/>
            <a:ext cx="4913071" cy="566928"/>
          </a:xfrm>
          <a:prstGeom prst="roundRect">
            <a:avLst>
              <a:gd name="adj" fmla="val 13000"/>
            </a:avLst>
          </a:prstGeom>
          <a:solidFill>
            <a:srgbClr val="FFFFFF"/>
          </a:solidFill>
          <a:ln w="12700">
            <a:solidFill>
              <a:srgbClr val="D6E0D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876288" y="3867911"/>
            <a:ext cx="329184" cy="329184"/>
          </a:xfrm>
          <a:prstGeom prst="ellipse">
            <a:avLst/>
          </a:prstGeom>
          <a:solidFill>
            <a:srgbClr val="C87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0"/>
              </a:spcAft>
            </a:pPr>
            <a:r>
              <a:rPr sz="1200" b="1" i="0">
                <a:solidFill>
                  <a:srgbClr val="FFFFFF"/>
                </a:solidFill>
                <a:latin typeface="Calibri"/>
              </a:rPr>
              <a:t>4</a:t>
            </a:r>
          </a:p>
        </p:txBody>
      </p:sp>
      <p:sp>
        <p:nvSpPr>
          <p:cNvPr id="30" name="TextBox 29"/>
          <p:cNvSpPr txBox="1"/>
          <p:nvPr/>
        </p:nvSpPr>
        <p:spPr>
          <a:xfrm>
            <a:off x="7315200" y="3840479"/>
            <a:ext cx="4126687" cy="420624"/>
          </a:xfrm>
          <a:prstGeom prst="rect">
            <a:avLst/>
          </a:prstGeom>
          <a:noFill/>
        </p:spPr>
        <p:txBody>
          <a:bodyPr wrap="square" lIns="0" rIns="0" tIns="0" bIns="0" anchor="t">
            <a:spAutoFit/>
          </a:bodyPr>
          <a:lstStyle/>
          <a:p>
            <a:pPr algn="l">
              <a:lnSpc>
                <a:spcPct val="95000"/>
              </a:lnSpc>
              <a:spcBef>
                <a:spcPts val="0"/>
              </a:spcBef>
              <a:spcAft>
                <a:spcPts val="0"/>
              </a:spcAft>
            </a:pPr>
            <a:r>
              <a:rPr sz="1100" b="1" i="0">
                <a:solidFill>
                  <a:srgbClr val="0E3B2B"/>
                </a:solidFill>
                <a:latin typeface="Calibri"/>
              </a:rPr>
              <a:t>Makes AI predictions understandable and actionable</a:t>
            </a:r>
          </a:p>
        </p:txBody>
      </p:sp>
      <p:sp>
        <p:nvSpPr>
          <p:cNvPr id="31" name="Rounded Rectangle 30"/>
          <p:cNvSpPr/>
          <p:nvPr/>
        </p:nvSpPr>
        <p:spPr>
          <a:xfrm>
            <a:off x="6711696" y="4480560"/>
            <a:ext cx="4913071" cy="969264"/>
          </a:xfrm>
          <a:prstGeom prst="roundRect">
            <a:avLst>
              <a:gd name="adj" fmla="val 9000"/>
            </a:avLst>
          </a:prstGeom>
          <a:solidFill>
            <a:srgbClr val="E8F1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8288" bIns="18288"/>
          <a:lstStyle/>
          <a:p>
            <a:pPr algn="l">
              <a:lnSpc>
                <a:spcPct val="105000"/>
              </a:lnSpc>
              <a:spcBef>
                <a:spcPts val="0"/>
              </a:spcBef>
              <a:spcAft>
                <a:spcPts val="0"/>
              </a:spcAft>
            </a:pPr>
            <a:r>
              <a:rPr sz="1250" b="1" i="0">
                <a:solidFill>
                  <a:srgbClr val="0E3B2B"/>
                </a:solidFill>
                <a:latin typeface="Calibri"/>
              </a:rPr>
              <a:t>Agro AI converts fragmented agricultural data into early, explainable and decision-ready big onion yield forecasts for Sri Lanka.</a:t>
            </a:r>
          </a:p>
        </p:txBody>
      </p:sp>
      <p:sp>
        <p:nvSpPr>
          <p:cNvPr id="32" name="Rounded Rectangle 31"/>
          <p:cNvSpPr/>
          <p:nvPr/>
        </p:nvSpPr>
        <p:spPr>
          <a:xfrm>
            <a:off x="6711696" y="5541264"/>
            <a:ext cx="4913071" cy="658368"/>
          </a:xfrm>
          <a:prstGeom prst="roundRect">
            <a:avLst>
              <a:gd name="adj" fmla="val 13000"/>
            </a:avLst>
          </a:prstGeom>
          <a:solidFill>
            <a:srgbClr val="0E3B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spcBef>
                <a:spcPts val="0"/>
              </a:spcBef>
              <a:spcAft>
                <a:spcPts val="100"/>
              </a:spcAft>
            </a:pPr>
            <a:r>
              <a:rPr sz="1500" b="1" i="0">
                <a:solidFill>
                  <a:srgbClr val="FFFFFF"/>
                </a:solidFill>
                <a:latin typeface="Calibri"/>
              </a:rPr>
              <a:t>Thank You  —  Questions and Discussion</a:t>
            </a:r>
          </a:p>
          <a:p>
            <a:pPr algn="ctr">
              <a:spcBef>
                <a:spcPts val="0"/>
              </a:spcBef>
              <a:spcAft>
                <a:spcPts val="0"/>
              </a:spcAft>
            </a:pPr>
            <a:r>
              <a:rPr sz="950" b="0" i="0">
                <a:solidFill>
                  <a:srgbClr val="BFD7C6"/>
                </a:solidFill>
                <a:latin typeface="Calibri"/>
              </a:rPr>
              <a:t>Arkam B.H.M.  ·  Sharuja B.  ·  Shathurya P.</a:t>
            </a:r>
          </a:p>
        </p:txBody>
      </p:sp>
      <p:sp>
        <p:nvSpPr>
          <p:cNvPr id="33" name="Rectangle 32"/>
          <p:cNvSpPr/>
          <p:nvPr/>
        </p:nvSpPr>
        <p:spPr>
          <a:xfrm>
            <a:off x="566928" y="6291072"/>
            <a:ext cx="11057839" cy="10972"/>
          </a:xfrm>
          <a:prstGeom prst="rect">
            <a:avLst/>
          </a:prstGeom>
          <a:solidFill>
            <a:srgbClr val="D6E0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66928" y="6364224"/>
            <a:ext cx="7961644" cy="274320"/>
          </a:xfrm>
          <a:prstGeom prst="rect">
            <a:avLst/>
          </a:prstGeom>
          <a:noFill/>
        </p:spPr>
        <p:txBody>
          <a:bodyPr wrap="square" lIns="0" rIns="0" tIns="0" bIns="0" anchor="t">
            <a:spAutoFit/>
          </a:bodyPr>
          <a:lstStyle/>
          <a:p>
            <a:pPr algn="l">
              <a:spcBef>
                <a:spcPts val="0"/>
              </a:spcBef>
              <a:spcAft>
                <a:spcPts val="0"/>
              </a:spcAft>
            </a:pPr>
            <a:r>
              <a:rPr sz="850" b="0" i="0">
                <a:solidFill>
                  <a:srgbClr val="6B7A70"/>
                </a:solidFill>
                <a:latin typeface="Calibri"/>
              </a:rPr>
              <a:t>Agro AI  ·  Big Onion Yield Prediction  ·  University of Moratuwa</a:t>
            </a:r>
          </a:p>
        </p:txBody>
      </p:sp>
      <p:sp>
        <p:nvSpPr>
          <p:cNvPr id="35" name="TextBox 34"/>
          <p:cNvSpPr txBox="1"/>
          <p:nvPr/>
        </p:nvSpPr>
        <p:spPr>
          <a:xfrm>
            <a:off x="7967167" y="6364224"/>
            <a:ext cx="3657600" cy="274320"/>
          </a:xfrm>
          <a:prstGeom prst="rect">
            <a:avLst/>
          </a:prstGeom>
          <a:noFill/>
        </p:spPr>
        <p:txBody>
          <a:bodyPr wrap="square" lIns="0" rIns="0" tIns="0" bIns="0" anchor="t">
            <a:spAutoFit/>
          </a:bodyPr>
          <a:lstStyle/>
          <a:p>
            <a:pPr algn="r">
              <a:spcBef>
                <a:spcPts val="0"/>
              </a:spcBef>
              <a:spcAft>
                <a:spcPts val="0"/>
              </a:spcAft>
            </a:pPr>
            <a:r>
              <a:rPr sz="850" b="1" i="0">
                <a:solidFill>
                  <a:srgbClr val="2F7D4F"/>
                </a:solidFill>
                <a:latin typeface="Calibri"/>
              </a:rPr>
              <a:t>Arkam B.H.M.   |   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