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to 30 seconds. Signal early that we will report negative results as well as positive ones — that framing protects us later.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line: this is not an improvement to an existing service. There is no existing service. Yield estimates for big onion come from agricultural instructors' judgement, not measurement, and they arrive too late to act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Anticipate the 'why is your R² low' question here, early, on our own terms. The unobserved-driver argument is the honest answer and it is better made in the setup than in the defence.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4 is the one to emphasise. The evaluation protocol is a deliberate design decision, not a formality, and it is why our numbers are lower than papers that use random splits.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 table. Point at the last two rows: the closest Sri Lankan onion work is about price, and the closest onion yield work is Bangladeshi and climate-only.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callback. Slide 24 repeats these five and shows what we delivered against each.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that the serving layer never trains. Models can be retrained without touching the service, and the service restarts without retraining.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Mention the Maha boundary problem: the season runs October to March, so a naive calendar-year grouping splits one season into two records. We define season as an explicit month list.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leakage point is worth saying out loud: an early version used an unshifted rolling average and produced R² above 0.99. We caught it by disbelieving the number.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Flag the two novelty rows now; the next two slides open them up.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why not a full crop simulator like APSIM: it needs parameterisation and calibration data we do not have. Our backbone is three lines of arithmetic and gets a measurable part of the same benefit.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data-efficiency argument: separate per-season models would halve the sample per parameter. Appending season to the input would let the filters specialise on season and dissipate the same advantage more subtly. IMPORTANT — be upfront that the collected data is Yala-only, so this specific claim is tested on synthetic data, not real. Do not oversell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methodological slide. If a panel member questions the low R², return here.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apologise for this. State it as a finding about the domain: this is how much trustworthy data exists for this crop. The Yala-only limitation is what prevents us validating the season-injection claim on real data — say so before anyone asks.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to say. First, the winner is the physics hybrid — the novelty pays. Second, the whole deep family is below the baseline and the two convolutional models are catastrophic at R² near −7.</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 this result rather than defending it. The published hybrid architectures are validated on datasets three orders of magnitude larger. Showing where the advantage disappears is a genuine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mechanism matters more than the magnitude. The backbone helps not because it is accurate — it is not — but because it removes work from the learner. Honest caveat: heat stress days are zero throughout the Yala data, so the benefit comes from thermal time and water only.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convex optimiser assigned 0.399 to the physics hybrid and exactly zero to the CNN — an independent confirmation of Finding 2 by a completely different route. We report this as a negative result and serve the single model, not the stack.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honest readings. Soil alone looks strongest among single sources, but static per-district features act as a district identifier — that is a baseline effect, not soil science. And weather+satellite is worse than either alone: adding features adds variance faster than information. Textbook curse of dimensionality, made visible.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apparent contradiction — it is a good sign of understanding. R² is normalised by each district's own variance and Kurunegala's spread is narrowest, so a moderate absolute error consumes a large share of a small variance. For an operational user, absolute error is what matters.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validates the feature engineering directly. In a regime where the model cannot discover interactions from data, the interactions have to be supplied. Caveat if pressed: attributions describe what the fitted model does, not necessarily what nature does.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about the coverage figure: empirical coverage is 1.00 because we calibrate and measure on the same 28 residuals, and the finite-sample correction lands near the maximum residual. The intervals are conservative, not tight. But a wide honest interval beats a narrow dishonest one — ±6.85 on a mean of 16.39 tells a planner to hedge.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answer to 'is your low R² a bug?'. Identical pipeline, identical code, only the input differs. 0.020 on 28 records becomes 0.842 on ~160. The limiting factor is the sample, not the implementation. Be scrupulous that this bar is labelled synthetic.</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gap 4 honestly — design contributed, validation incomplete. A panel will respect the distinction far more than an overclaim, and they will find it anyway.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Leading with limitations is a strength in a defence. Every one of these is specific and most trace back to sample size. The lead-time point is the one a practitioner would actually raise: we currently use full-season predictors.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on the framing: for a crop on which national import decisions turn and for which no forecast exists at all, a calibrated and explainable pre-harvest estimate with a stated interval is worth having. We established that it can be built and what it will take to make it good.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366B"/>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1560" y="1371600"/>
            <a:ext cx="10058400" cy="365760"/>
          </a:xfrm>
          <a:prstGeom prst="rect">
            <a:avLst/>
          </a:prstGeom>
          <a:noFill/>
        </p:spPr>
        <p:txBody>
          <a:bodyPr wrap="square" anchor="t" lIns="0" rIns="0" tIns="0" bIns="0">
            <a:spAutoFit/>
          </a:bodyPr>
          <a:lstStyle/>
          <a:p>
            <a:pPr algn="l">
              <a:spcBef>
                <a:spcPts val="0"/>
              </a:spcBef>
              <a:spcAft>
                <a:spcPts val="600"/>
              </a:spcAft>
            </a:pPr>
            <a:r>
              <a:rPr sz="1500" b="1" i="0">
                <a:solidFill>
                  <a:srgbClr val="CDE2FB"/>
                </a:solidFill>
                <a:latin typeface="Helvetica Neue"/>
              </a:rPr>
              <a:t>FINAL YEAR PROJECT  ·  FINAL PRESENTATION  ·  LEVEL 4</a:t>
            </a:r>
          </a:p>
        </p:txBody>
      </p:sp>
      <p:sp>
        <p:nvSpPr>
          <p:cNvPr id="4" name="TextBox 3"/>
          <p:cNvSpPr txBox="1"/>
          <p:nvPr/>
        </p:nvSpPr>
        <p:spPr>
          <a:xfrm>
            <a:off x="1051560" y="1874519"/>
            <a:ext cx="10058400" cy="1737360"/>
          </a:xfrm>
          <a:prstGeom prst="rect">
            <a:avLst/>
          </a:prstGeom>
          <a:noFill/>
        </p:spPr>
        <p:txBody>
          <a:bodyPr wrap="square" anchor="t" lIns="0" rIns="0" tIns="0" bIns="0">
            <a:spAutoFit/>
          </a:bodyPr>
          <a:lstStyle/>
          <a:p>
            <a:pPr algn="l">
              <a:lnSpc>
                <a:spcPct val="108000"/>
              </a:lnSpc>
              <a:spcBef>
                <a:spcPts val="0"/>
              </a:spcBef>
              <a:spcAft>
                <a:spcPts val="0"/>
              </a:spcAft>
            </a:pPr>
            <a:r>
              <a:rPr sz="4000" b="1" i="0">
                <a:solidFill>
                  <a:srgbClr val="FFFFFF"/>
                </a:solidFill>
                <a:latin typeface="Helvetica Neue"/>
              </a:rPr>
              <a:t>AI-Powered Harvest Yield Prediction</a:t>
            </a:r>
          </a:p>
          <a:p>
            <a:pPr algn="l">
              <a:lnSpc>
                <a:spcPct val="115000"/>
              </a:lnSpc>
              <a:spcBef>
                <a:spcPts val="1000"/>
              </a:spcBef>
              <a:spcAft>
                <a:spcPts val="600"/>
              </a:spcAft>
            </a:pPr>
            <a:r>
              <a:rPr sz="2200" b="0" i="0">
                <a:solidFill>
                  <a:srgbClr val="CDE2FB"/>
                </a:solidFill>
                <a:latin typeface="Helvetica Neue"/>
              </a:rPr>
              <a:t>for Non-Cash Crops (Big Onion) in Sri Lanka</a:t>
            </a:r>
          </a:p>
        </p:txBody>
      </p:sp>
      <p:sp>
        <p:nvSpPr>
          <p:cNvPr id="5" name="Rectangle 4"/>
          <p:cNvSpPr/>
          <p:nvPr/>
        </p:nvSpPr>
        <p:spPr>
          <a:xfrm>
            <a:off x="1051560" y="4224528"/>
            <a:ext cx="1371600" cy="41148"/>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4572000"/>
            <a:ext cx="10058400" cy="1371600"/>
          </a:xfrm>
          <a:prstGeom prst="rect">
            <a:avLst/>
          </a:prstGeom>
          <a:noFill/>
        </p:spPr>
        <p:txBody>
          <a:bodyPr wrap="square" anchor="t" lIns="0" rIns="0" tIns="0" bIns="0">
            <a:spAutoFit/>
          </a:bodyPr>
          <a:lstStyle/>
          <a:p>
            <a:pPr algn="l">
              <a:spcBef>
                <a:spcPts val="0"/>
              </a:spcBef>
              <a:spcAft>
                <a:spcPts val="300"/>
              </a:spcAft>
            </a:pPr>
            <a:r>
              <a:rPr sz="1500" b="0" i="0">
                <a:solidFill>
                  <a:srgbClr val="FFFFFF"/>
                </a:solidFill>
                <a:latin typeface="Helvetica Neue"/>
              </a:rPr>
              <a:t>214019K   Arkam B.H.M.        ·  ML / DL modelling and serving</a:t>
            </a:r>
          </a:p>
          <a:p>
            <a:pPr algn="l">
              <a:spcBef>
                <a:spcPts val="0"/>
              </a:spcBef>
              <a:spcAft>
                <a:spcPts val="300"/>
              </a:spcAft>
            </a:pPr>
            <a:r>
              <a:rPr sz="1500" b="0" i="0">
                <a:solidFill>
                  <a:srgbClr val="FFFFFF"/>
                </a:solidFill>
                <a:latin typeface="Helvetica Neue"/>
              </a:rPr>
              <a:t>214192G   Sharuja B.             ·  Data engineering and features</a:t>
            </a:r>
          </a:p>
          <a:p>
            <a:pPr algn="l">
              <a:spcBef>
                <a:spcPts val="0"/>
              </a:spcBef>
              <a:spcAft>
                <a:spcPts val="300"/>
              </a:spcAft>
            </a:pPr>
            <a:r>
              <a:rPr sz="1500" b="0" i="0">
                <a:solidFill>
                  <a:srgbClr val="FFFFFF"/>
                </a:solidFill>
                <a:latin typeface="Helvetica Neue"/>
              </a:rPr>
              <a:t>214193K   Shathurya P.         ·  Dashboard and visualisation</a:t>
            </a:r>
          </a:p>
          <a:p>
            <a:pPr algn="l">
              <a:spcBef>
                <a:spcPts val="1200"/>
              </a:spcBef>
              <a:spcAft>
                <a:spcPts val="600"/>
              </a:spcAft>
            </a:pPr>
            <a:r>
              <a:rPr sz="1500" b="0" i="0">
                <a:solidFill>
                  <a:srgbClr val="CDE2FB"/>
                </a:solidFill>
                <a:latin typeface="Helvetica Neue"/>
              </a:rPr>
              <a:t>Supervised by Dr. Firdhous M.F.M.</a:t>
            </a:r>
          </a:p>
        </p:txBody>
      </p:sp>
      <p:sp>
        <p:nvSpPr>
          <p:cNvPr id="7" name="TextBox 6"/>
          <p:cNvSpPr txBox="1"/>
          <p:nvPr/>
        </p:nvSpPr>
        <p:spPr>
          <a:xfrm>
            <a:off x="1051560" y="6172200"/>
            <a:ext cx="10058400" cy="365760"/>
          </a:xfrm>
          <a:prstGeom prst="rect">
            <a:avLst/>
          </a:prstGeom>
          <a:noFill/>
        </p:spPr>
        <p:txBody>
          <a:bodyPr wrap="square" anchor="t" lIns="0" rIns="0" tIns="0" bIns="0">
            <a:spAutoFit/>
          </a:bodyPr>
          <a:lstStyle/>
          <a:p>
            <a:pPr algn="l">
              <a:spcBef>
                <a:spcPts val="0"/>
              </a:spcBef>
              <a:spcAft>
                <a:spcPts val="600"/>
              </a:spcAft>
            </a:pPr>
            <a:r>
              <a:rPr sz="1300" b="0" i="0">
                <a:solidFill>
                  <a:srgbClr val="86B6EF"/>
                </a:solidFill>
                <a:latin typeface="Helvetica Neue"/>
              </a:rPr>
              <a:t>Group Agro AI  ·  Faculty of Information Technology, University of Moratuwa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274320"/>
          </a:xfrm>
          <a:prstGeom prst="rect">
            <a:avLst/>
          </a:prstGeom>
          <a:noFill/>
        </p:spPr>
        <p:txBody>
          <a:bodyPr wrap="square" anchor="t" lIns="0" rIns="0" tIns="0" bIns="0">
            <a:spAutoFit/>
          </a:bodyPr>
          <a:lstStyle/>
          <a:p>
            <a:pPr algn="l">
              <a:spcBef>
                <a:spcPts val="0"/>
              </a:spcBef>
              <a:spcAft>
                <a:spcPts val="600"/>
              </a:spcAft>
            </a:pPr>
            <a:r>
              <a:rPr sz="1200" b="1" i="0">
                <a:solidFill>
                  <a:srgbClr val="EB6834"/>
                </a:solidFill>
                <a:latin typeface="Helvetica Neue"/>
              </a:rPr>
              <a:t>AGENDA</a:t>
            </a:r>
          </a:p>
        </p:txBody>
      </p:sp>
      <p:sp>
        <p:nvSpPr>
          <p:cNvPr id="4" name="TextBox 3"/>
          <p:cNvSpPr txBox="1"/>
          <p:nvPr/>
        </p:nvSpPr>
        <p:spPr>
          <a:xfrm>
            <a:off x="777240" y="914400"/>
            <a:ext cx="10637215" cy="548640"/>
          </a:xfrm>
          <a:prstGeom prst="rect">
            <a:avLst/>
          </a:prstGeom>
          <a:noFill/>
        </p:spPr>
        <p:txBody>
          <a:bodyPr wrap="square" anchor="t" lIns="0" rIns="0" tIns="0" bIns="0">
            <a:spAutoFit/>
          </a:bodyPr>
          <a:lstStyle/>
          <a:p>
            <a:pPr algn="l">
              <a:spcBef>
                <a:spcPts val="0"/>
              </a:spcBef>
              <a:spcAft>
                <a:spcPts val="600"/>
              </a:spcAft>
            </a:pPr>
            <a:r>
              <a:rPr sz="2800" b="1" i="0">
                <a:solidFill>
                  <a:srgbClr val="0D366B"/>
                </a:solidFill>
                <a:latin typeface="Helvetica Neue"/>
              </a:rPr>
              <a:t>What we will cover</a:t>
            </a:r>
          </a:p>
        </p:txBody>
      </p:sp>
      <p:sp>
        <p:nvSpPr>
          <p:cNvPr id="5" name="TextBox 4"/>
          <p:cNvSpPr txBox="1"/>
          <p:nvPr/>
        </p:nvSpPr>
        <p:spPr>
          <a:xfrm>
            <a:off x="777240" y="1691640"/>
            <a:ext cx="10637215" cy="4617720"/>
          </a:xfrm>
          <a:prstGeom prst="rect">
            <a:avLst/>
          </a:prstGeom>
          <a:noFill/>
        </p:spPr>
        <p:txBody>
          <a:bodyPr wrap="square" anchor="t" lIns="0" rIns="0" tIns="0" bIns="0">
            <a:spAutoFit/>
          </a:bodyPr>
          <a:lstStyle/>
          <a:p>
            <a:pPr algn="l">
              <a:lnSpc>
                <a:spcPct val="122000"/>
              </a:lnSpc>
              <a:spcBef>
                <a:spcPts val="0"/>
              </a:spcBef>
              <a:spcAft>
                <a:spcPts val="200"/>
              </a:spcAft>
            </a:pPr>
            <a:r>
              <a:rPr sz="1550" b="1" i="0">
                <a:solidFill>
                  <a:srgbClr val="EB6834"/>
                </a:solidFill>
                <a:latin typeface="Helvetica Neue"/>
              </a:rPr>
              <a:t>▸  </a:t>
            </a:r>
            <a:r>
              <a:rPr sz="1550" b="1" i="0">
                <a:solidFill>
                  <a:srgbClr val="0B0B0B"/>
                </a:solidFill>
                <a:latin typeface="Helvetica Neue"/>
              </a:rPr>
              <a:t>The problem  </a:t>
            </a:r>
            <a:r>
              <a:rPr sz="1550" b="0" i="0">
                <a:solidFill>
                  <a:srgbClr val="52514E"/>
                </a:solidFill>
                <a:latin typeface="Helvetica Neue"/>
              </a:rPr>
              <a:t>no pre-harvest yield forecast exists for big onion in Sri Lanka</a:t>
            </a:r>
          </a:p>
          <a:p>
            <a:pPr algn="l">
              <a:lnSpc>
                <a:spcPct val="122000"/>
              </a:lnSpc>
              <a:spcBef>
                <a:spcPts val="800"/>
              </a:spcBef>
              <a:spcAft>
                <a:spcPts val="200"/>
              </a:spcAft>
            </a:pPr>
            <a:r>
              <a:rPr sz="1550" b="1" i="0">
                <a:solidFill>
                  <a:srgbClr val="EB6834"/>
                </a:solidFill>
                <a:latin typeface="Helvetica Neue"/>
              </a:rPr>
              <a:t>▸  </a:t>
            </a:r>
            <a:r>
              <a:rPr sz="1550" b="1" i="0">
                <a:solidFill>
                  <a:srgbClr val="0B0B0B"/>
                </a:solidFill>
                <a:latin typeface="Helvetica Neue"/>
              </a:rPr>
              <a:t>Related work  </a:t>
            </a:r>
            <a:r>
              <a:rPr sz="1550" b="0" i="0">
                <a:solidFill>
                  <a:srgbClr val="52514E"/>
                </a:solidFill>
                <a:latin typeface="Helvetica Neue"/>
              </a:rPr>
              <a:t>what others have done, and the five gaps we target</a:t>
            </a:r>
          </a:p>
          <a:p>
            <a:pPr algn="l">
              <a:lnSpc>
                <a:spcPct val="122000"/>
              </a:lnSpc>
              <a:spcBef>
                <a:spcPts val="800"/>
              </a:spcBef>
              <a:spcAft>
                <a:spcPts val="200"/>
              </a:spcAft>
            </a:pPr>
            <a:r>
              <a:rPr sz="1550" b="1" i="0">
                <a:solidFill>
                  <a:srgbClr val="EB6834"/>
                </a:solidFill>
                <a:latin typeface="Helvetica Neue"/>
              </a:rPr>
              <a:t>▸  </a:t>
            </a:r>
            <a:r>
              <a:rPr sz="1550" b="1" i="0">
                <a:solidFill>
                  <a:srgbClr val="0B0B0B"/>
                </a:solidFill>
                <a:latin typeface="Helvetica Neue"/>
              </a:rPr>
              <a:t>Our approach  </a:t>
            </a:r>
            <a:r>
              <a:rPr sz="1550" b="0" i="0">
                <a:solidFill>
                  <a:srgbClr val="52514E"/>
                </a:solidFill>
                <a:latin typeface="Helvetica Neue"/>
              </a:rPr>
              <a:t>multi-source data, 32 predictors, nine models, one honest protocol</a:t>
            </a:r>
          </a:p>
          <a:p>
            <a:pPr algn="l">
              <a:lnSpc>
                <a:spcPct val="122000"/>
              </a:lnSpc>
              <a:spcBef>
                <a:spcPts val="800"/>
              </a:spcBef>
              <a:spcAft>
                <a:spcPts val="200"/>
              </a:spcAft>
            </a:pPr>
            <a:r>
              <a:rPr sz="1550" b="1" i="0">
                <a:solidFill>
                  <a:srgbClr val="EB6834"/>
                </a:solidFill>
                <a:latin typeface="Helvetica Neue"/>
              </a:rPr>
              <a:t>▸  </a:t>
            </a:r>
            <a:r>
              <a:rPr sz="1550" b="1" i="0">
                <a:solidFill>
                  <a:srgbClr val="0B0B0B"/>
                </a:solidFill>
                <a:latin typeface="Helvetica Neue"/>
              </a:rPr>
              <a:t>Two novelties  </a:t>
            </a:r>
            <a:r>
              <a:rPr sz="1550" b="0" i="0">
                <a:solidFill>
                  <a:srgbClr val="52514E"/>
                </a:solidFill>
                <a:latin typeface="Helvetica Neue"/>
              </a:rPr>
              <a:t>a physics-residual hybrid and a season-aware CNN-LSTM</a:t>
            </a:r>
          </a:p>
          <a:p>
            <a:pPr algn="l">
              <a:lnSpc>
                <a:spcPct val="122000"/>
              </a:lnSpc>
              <a:spcBef>
                <a:spcPts val="800"/>
              </a:spcBef>
              <a:spcAft>
                <a:spcPts val="200"/>
              </a:spcAft>
            </a:pPr>
            <a:r>
              <a:rPr sz="1550" b="1" i="0">
                <a:solidFill>
                  <a:srgbClr val="EB6834"/>
                </a:solidFill>
                <a:latin typeface="Helvetica Neue"/>
              </a:rPr>
              <a:t>▸  </a:t>
            </a:r>
            <a:r>
              <a:rPr sz="1550" b="1" i="0">
                <a:solidFill>
                  <a:srgbClr val="0B0B0B"/>
                </a:solidFill>
                <a:latin typeface="Helvetica Neue"/>
              </a:rPr>
              <a:t>Results  </a:t>
            </a:r>
            <a:r>
              <a:rPr sz="1550" b="0" i="0">
                <a:solidFill>
                  <a:srgbClr val="52514E"/>
                </a:solidFill>
                <a:latin typeface="Helvetica Neue"/>
              </a:rPr>
              <a:t>what 28 real records actually support — including what failed</a:t>
            </a:r>
          </a:p>
          <a:p>
            <a:pPr algn="l">
              <a:lnSpc>
                <a:spcPct val="122000"/>
              </a:lnSpc>
              <a:spcBef>
                <a:spcPts val="800"/>
              </a:spcBef>
              <a:spcAft>
                <a:spcPts val="200"/>
              </a:spcAft>
            </a:pPr>
            <a:r>
              <a:rPr sz="1550" b="1" i="0">
                <a:solidFill>
                  <a:srgbClr val="EB6834"/>
                </a:solidFill>
                <a:latin typeface="Helvetica Neue"/>
              </a:rPr>
              <a:t>▸  </a:t>
            </a:r>
            <a:r>
              <a:rPr sz="1550" b="1" i="0">
                <a:solidFill>
                  <a:srgbClr val="0B0B0B"/>
                </a:solidFill>
                <a:latin typeface="Helvetica Neue"/>
              </a:rPr>
              <a:t>Contributions, limitations and what comes next  </a:t>
            </a:r>
            <a:r>
              <a:rPr sz="1550" b="0" i="0">
                <a:solidFill>
                  <a:srgbClr val="52514E"/>
                </a:solidFill>
                <a:latin typeface="Helvetica Neue"/>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274320"/>
          </a:xfrm>
          <a:prstGeom prst="rect">
            <a:avLst/>
          </a:prstGeom>
          <a:noFill/>
        </p:spPr>
        <p:txBody>
          <a:bodyPr wrap="square" anchor="t" lIns="0" rIns="0" tIns="0" bIns="0">
            <a:spAutoFit/>
          </a:bodyPr>
          <a:lstStyle/>
          <a:p>
            <a:pPr algn="l">
              <a:spcBef>
                <a:spcPts val="0"/>
              </a:spcBef>
              <a:spcAft>
                <a:spcPts val="600"/>
              </a:spcAft>
            </a:pPr>
            <a:r>
              <a:rPr sz="1200" b="1" i="0">
                <a:solidFill>
                  <a:srgbClr val="EB6834"/>
                </a:solidFill>
                <a:latin typeface="Helvetica Neue"/>
              </a:rPr>
              <a:t>THE PROBLEM</a:t>
            </a:r>
          </a:p>
        </p:txBody>
      </p:sp>
      <p:sp>
        <p:nvSpPr>
          <p:cNvPr id="4" name="TextBox 3"/>
          <p:cNvSpPr txBox="1"/>
          <p:nvPr/>
        </p:nvSpPr>
        <p:spPr>
          <a:xfrm>
            <a:off x="777240" y="914400"/>
            <a:ext cx="10637215" cy="548640"/>
          </a:xfrm>
          <a:prstGeom prst="rect">
            <a:avLst/>
          </a:prstGeom>
          <a:noFill/>
        </p:spPr>
        <p:txBody>
          <a:bodyPr wrap="square" anchor="t" lIns="0" rIns="0" tIns="0" bIns="0">
            <a:spAutoFit/>
          </a:bodyPr>
          <a:lstStyle/>
          <a:p>
            <a:pPr algn="l">
              <a:spcBef>
                <a:spcPts val="0"/>
              </a:spcBef>
              <a:spcAft>
                <a:spcPts val="600"/>
              </a:spcAft>
            </a:pPr>
            <a:r>
              <a:rPr sz="2800" b="1" i="0">
                <a:solidFill>
                  <a:srgbClr val="0D366B"/>
                </a:solidFill>
                <a:latin typeface="Helvetica Neue"/>
              </a:rPr>
              <a:t>Sri Lanka cannot see its onion harvest coming</a:t>
            </a:r>
          </a:p>
        </p:txBody>
      </p:sp>
      <p:sp>
        <p:nvSpPr>
          <p:cNvPr id="5" name="Rectangle 4"/>
          <p:cNvSpPr/>
          <p:nvPr/>
        </p:nvSpPr>
        <p:spPr>
          <a:xfrm>
            <a:off x="777240" y="2194560"/>
            <a:ext cx="3350666" cy="2651760"/>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2194560"/>
            <a:ext cx="3350666" cy="64008"/>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33272" y="2761488"/>
            <a:ext cx="2838602" cy="1097280"/>
          </a:xfrm>
          <a:prstGeom prst="rect">
            <a:avLst/>
          </a:prstGeom>
          <a:noFill/>
        </p:spPr>
        <p:txBody>
          <a:bodyPr wrap="square" anchor="t" lIns="0" rIns="0" tIns="0" bIns="0">
            <a:spAutoFit/>
          </a:bodyPr>
          <a:lstStyle/>
          <a:p>
            <a:pPr algn="l">
              <a:spcBef>
                <a:spcPts val="0"/>
              </a:spcBef>
              <a:spcAft>
                <a:spcPts val="600"/>
              </a:spcAft>
            </a:pPr>
            <a:r>
              <a:rPr sz="4800" b="1" i="0">
                <a:solidFill>
                  <a:srgbClr val="EB6834"/>
                </a:solidFill>
                <a:latin typeface="Helvetica Neue"/>
              </a:rPr>
              <a:t>220,000</a:t>
            </a:r>
          </a:p>
        </p:txBody>
      </p:sp>
      <p:sp>
        <p:nvSpPr>
          <p:cNvPr id="8" name="TextBox 7"/>
          <p:cNvSpPr txBox="1"/>
          <p:nvPr/>
        </p:nvSpPr>
        <p:spPr>
          <a:xfrm>
            <a:off x="1033272" y="3886200"/>
            <a:ext cx="2838602" cy="822960"/>
          </a:xfrm>
          <a:prstGeom prst="rect">
            <a:avLst/>
          </a:prstGeom>
          <a:noFill/>
        </p:spPr>
        <p:txBody>
          <a:bodyPr wrap="square" anchor="t" lIns="0" rIns="0" tIns="0" bIns="0">
            <a:spAutoFit/>
          </a:bodyPr>
          <a:lstStyle/>
          <a:p>
            <a:pPr algn="l">
              <a:lnSpc>
                <a:spcPct val="122000"/>
              </a:lnSpc>
              <a:spcBef>
                <a:spcPts val="0"/>
              </a:spcBef>
              <a:spcAft>
                <a:spcPts val="600"/>
              </a:spcAft>
            </a:pPr>
            <a:r>
              <a:rPr sz="1400" b="0" i="0">
                <a:solidFill>
                  <a:srgbClr val="52514E"/>
                </a:solidFill>
                <a:latin typeface="Helvetica Neue"/>
              </a:rPr>
              <a:t>metric tons of big onion consumed nationally each year</a:t>
            </a:r>
          </a:p>
        </p:txBody>
      </p:sp>
      <p:sp>
        <p:nvSpPr>
          <p:cNvPr id="9" name="Rectangle 8"/>
          <p:cNvSpPr/>
          <p:nvPr/>
        </p:nvSpPr>
        <p:spPr>
          <a:xfrm>
            <a:off x="4420514" y="2194560"/>
            <a:ext cx="3350666" cy="2651760"/>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20514" y="2194560"/>
            <a:ext cx="3350666" cy="64008"/>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76546" y="2761488"/>
            <a:ext cx="2838602" cy="1097280"/>
          </a:xfrm>
          <a:prstGeom prst="rect">
            <a:avLst/>
          </a:prstGeom>
          <a:noFill/>
        </p:spPr>
        <p:txBody>
          <a:bodyPr wrap="square" anchor="t" lIns="0" rIns="0" tIns="0" bIns="0">
            <a:spAutoFit/>
          </a:bodyPr>
          <a:lstStyle/>
          <a:p>
            <a:pPr algn="l">
              <a:spcBef>
                <a:spcPts val="0"/>
              </a:spcBef>
              <a:spcAft>
                <a:spcPts val="600"/>
              </a:spcAft>
            </a:pPr>
            <a:r>
              <a:rPr sz="4800" b="1" i="0">
                <a:solidFill>
                  <a:srgbClr val="4A3AA7"/>
                </a:solidFill>
                <a:latin typeface="Helvetica Neue"/>
              </a:rPr>
              <a:t>0</a:t>
            </a:r>
          </a:p>
        </p:txBody>
      </p:sp>
      <p:sp>
        <p:nvSpPr>
          <p:cNvPr id="12" name="TextBox 11"/>
          <p:cNvSpPr txBox="1"/>
          <p:nvPr/>
        </p:nvSpPr>
        <p:spPr>
          <a:xfrm>
            <a:off x="4676546" y="3886200"/>
            <a:ext cx="2838602" cy="822960"/>
          </a:xfrm>
          <a:prstGeom prst="rect">
            <a:avLst/>
          </a:prstGeom>
          <a:noFill/>
        </p:spPr>
        <p:txBody>
          <a:bodyPr wrap="square" anchor="t" lIns="0" rIns="0" tIns="0" bIns="0">
            <a:spAutoFit/>
          </a:bodyPr>
          <a:lstStyle/>
          <a:p>
            <a:pPr algn="l">
              <a:lnSpc>
                <a:spcPct val="122000"/>
              </a:lnSpc>
              <a:spcBef>
                <a:spcPts val="0"/>
              </a:spcBef>
              <a:spcAft>
                <a:spcPts val="600"/>
              </a:spcAft>
            </a:pPr>
            <a:r>
              <a:rPr sz="1400" b="0" i="0">
                <a:solidFill>
                  <a:srgbClr val="52514E"/>
                </a:solidFill>
                <a:latin typeface="Helvetica Neue"/>
              </a:rPr>
              <a:t>crop-cutting surveys for big onion — unlike paddy, none exist</a:t>
            </a:r>
          </a:p>
        </p:txBody>
      </p:sp>
      <p:sp>
        <p:nvSpPr>
          <p:cNvPr id="13" name="Rectangle 12"/>
          <p:cNvSpPr/>
          <p:nvPr/>
        </p:nvSpPr>
        <p:spPr>
          <a:xfrm>
            <a:off x="8063788" y="2194560"/>
            <a:ext cx="3350666" cy="2651760"/>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3788" y="2194560"/>
            <a:ext cx="3350666"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19820" y="2761488"/>
            <a:ext cx="2838602" cy="1097280"/>
          </a:xfrm>
          <a:prstGeom prst="rect">
            <a:avLst/>
          </a:prstGeom>
          <a:noFill/>
        </p:spPr>
        <p:txBody>
          <a:bodyPr wrap="square" anchor="t" lIns="0" rIns="0" tIns="0" bIns="0">
            <a:spAutoFit/>
          </a:bodyPr>
          <a:lstStyle/>
          <a:p>
            <a:pPr algn="l">
              <a:spcBef>
                <a:spcPts val="0"/>
              </a:spcBef>
              <a:spcAft>
                <a:spcPts val="600"/>
              </a:spcAft>
            </a:pPr>
            <a:r>
              <a:rPr sz="4800" b="1" i="0">
                <a:solidFill>
                  <a:srgbClr val="2A78D6"/>
                </a:solidFill>
                <a:latin typeface="Helvetica Neue"/>
              </a:rPr>
              <a:t>After</a:t>
            </a:r>
          </a:p>
        </p:txBody>
      </p:sp>
      <p:sp>
        <p:nvSpPr>
          <p:cNvPr id="16" name="TextBox 15"/>
          <p:cNvSpPr txBox="1"/>
          <p:nvPr/>
        </p:nvSpPr>
        <p:spPr>
          <a:xfrm>
            <a:off x="8319820" y="3886200"/>
            <a:ext cx="2838602" cy="822960"/>
          </a:xfrm>
          <a:prstGeom prst="rect">
            <a:avLst/>
          </a:prstGeom>
          <a:noFill/>
        </p:spPr>
        <p:txBody>
          <a:bodyPr wrap="square" anchor="t" lIns="0" rIns="0" tIns="0" bIns="0">
            <a:spAutoFit/>
          </a:bodyPr>
          <a:lstStyle/>
          <a:p>
            <a:pPr algn="l">
              <a:lnSpc>
                <a:spcPct val="122000"/>
              </a:lnSpc>
              <a:spcBef>
                <a:spcPts val="0"/>
              </a:spcBef>
              <a:spcAft>
                <a:spcPts val="600"/>
              </a:spcAft>
            </a:pPr>
            <a:r>
              <a:rPr sz="1400" b="0" i="0">
                <a:solidFill>
                  <a:srgbClr val="52514E"/>
                </a:solidFill>
                <a:latin typeface="Helvetica Neue"/>
              </a:rPr>
              <a:t>harvest is when the yield figure finally arrives</a:t>
            </a:r>
          </a:p>
        </p:txBody>
      </p:sp>
      <p:sp>
        <p:nvSpPr>
          <p:cNvPr id="17" name="TextBox 16"/>
          <p:cNvSpPr txBox="1"/>
          <p:nvPr/>
        </p:nvSpPr>
        <p:spPr>
          <a:xfrm>
            <a:off x="777240" y="5257800"/>
            <a:ext cx="10637215" cy="731520"/>
          </a:xfrm>
          <a:prstGeom prst="rect">
            <a:avLst/>
          </a:prstGeom>
          <a:noFill/>
        </p:spPr>
        <p:txBody>
          <a:bodyPr wrap="square" anchor="t" lIns="0" rIns="0" tIns="0" bIns="0">
            <a:spAutoFit/>
          </a:bodyPr>
          <a:lstStyle/>
          <a:p>
            <a:pPr algn="l">
              <a:lnSpc>
                <a:spcPct val="125000"/>
              </a:lnSpc>
              <a:spcBef>
                <a:spcPts val="0"/>
              </a:spcBef>
              <a:spcAft>
                <a:spcPts val="600"/>
              </a:spcAft>
            </a:pPr>
            <a:r>
              <a:rPr sz="1500" b="0" i="0">
                <a:solidFill>
                  <a:srgbClr val="52514E"/>
                </a:solidFill>
                <a:latin typeface="Helvetica Neue"/>
              </a:rPr>
              <a:t>Import volumes must be committed months before the domestic crop reaches market. Today that decision is made against last year's outcome and a subjective field assessment with no quantified error.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274320"/>
          </a:xfrm>
          <a:prstGeom prst="rect">
            <a:avLst/>
          </a:prstGeom>
          <a:noFill/>
        </p:spPr>
        <p:txBody>
          <a:bodyPr wrap="square" anchor="t" lIns="0" rIns="0" tIns="0" bIns="0">
            <a:spAutoFit/>
          </a:bodyPr>
          <a:lstStyle/>
          <a:p>
            <a:pPr algn="l">
              <a:spcBef>
                <a:spcPts val="0"/>
              </a:spcBef>
              <a:spcAft>
                <a:spcPts val="600"/>
              </a:spcAft>
            </a:pPr>
            <a:r>
              <a:rPr sz="1200" b="1" i="0">
                <a:solidFill>
                  <a:srgbClr val="EB6834"/>
                </a:solidFill>
                <a:latin typeface="Helvetica Neue"/>
              </a:rPr>
              <a:t>THE PROBLEM</a:t>
            </a:r>
          </a:p>
        </p:txBody>
      </p:sp>
      <p:sp>
        <p:nvSpPr>
          <p:cNvPr id="4" name="TextBox 3"/>
          <p:cNvSpPr txBox="1"/>
          <p:nvPr/>
        </p:nvSpPr>
        <p:spPr>
          <a:xfrm>
            <a:off x="777240" y="914400"/>
            <a:ext cx="10637215" cy="548640"/>
          </a:xfrm>
          <a:prstGeom prst="rect">
            <a:avLst/>
          </a:prstGeom>
          <a:noFill/>
        </p:spPr>
        <p:txBody>
          <a:bodyPr wrap="square" anchor="t" lIns="0" rIns="0" tIns="0" bIns="0">
            <a:spAutoFit/>
          </a:bodyPr>
          <a:lstStyle/>
          <a:p>
            <a:pPr algn="l">
              <a:spcBef>
                <a:spcPts val="0"/>
              </a:spcBef>
              <a:spcAft>
                <a:spcPts val="600"/>
              </a:spcAft>
            </a:pPr>
            <a:r>
              <a:rPr sz="2800" b="1" i="0">
                <a:solidFill>
                  <a:srgbClr val="0D366B"/>
                </a:solidFill>
                <a:latin typeface="Helvetica Neue"/>
              </a:rPr>
              <a:t>Why this is technically hard</a:t>
            </a:r>
          </a:p>
        </p:txBody>
      </p:sp>
      <p:sp>
        <p:nvSpPr>
          <p:cNvPr id="5" name="Rectangle 4"/>
          <p:cNvSpPr/>
          <p:nvPr/>
        </p:nvSpPr>
        <p:spPr>
          <a:xfrm>
            <a:off x="777240" y="1691640"/>
            <a:ext cx="45720" cy="292608"/>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691640"/>
            <a:ext cx="4884267" cy="320040"/>
          </a:xfrm>
          <a:prstGeom prst="rect">
            <a:avLst/>
          </a:prstGeom>
          <a:noFill/>
        </p:spPr>
        <p:txBody>
          <a:bodyPr wrap="square" anchor="t" lIns="0" rIns="0" tIns="0" bIns="0">
            <a:spAutoFit/>
          </a:bodyPr>
          <a:lstStyle/>
          <a:p>
            <a:pPr algn="l">
              <a:spcBef>
                <a:spcPts val="0"/>
              </a:spcBef>
              <a:spcAft>
                <a:spcPts val="600"/>
              </a:spcAft>
            </a:pPr>
            <a:r>
              <a:rPr sz="1700" b="1" i="0">
                <a:solidFill>
                  <a:srgbClr val="0D366B"/>
                </a:solidFill>
                <a:latin typeface="Helvetica Neue"/>
              </a:rPr>
              <a:t>What drives yield</a:t>
            </a:r>
          </a:p>
        </p:txBody>
      </p:sp>
      <p:sp>
        <p:nvSpPr>
          <p:cNvPr id="7" name="TextBox 6"/>
          <p:cNvSpPr txBox="1"/>
          <p:nvPr/>
        </p:nvSpPr>
        <p:spPr>
          <a:xfrm>
            <a:off x="777240" y="2194560"/>
            <a:ext cx="5067147" cy="3200400"/>
          </a:xfrm>
          <a:prstGeom prst="rect">
            <a:avLst/>
          </a:prstGeom>
          <a:noFill/>
        </p:spPr>
        <p:txBody>
          <a:bodyPr wrap="square" anchor="t" lIns="0" rIns="0" tIns="0" bIns="0">
            <a:spAutoFit/>
          </a:bodyPr>
          <a:lstStyle/>
          <a:p>
            <a:pPr algn="l">
              <a:lnSpc>
                <a:spcPct val="120000"/>
              </a:lnSpc>
              <a:spcBef>
                <a:spcPts val="0"/>
              </a:spcBef>
              <a:spcAft>
                <a:spcPts val="200"/>
              </a:spcAft>
            </a:pPr>
            <a:r>
              <a:rPr sz="1500" b="1" i="0">
                <a:solidFill>
                  <a:srgbClr val="EB6834"/>
                </a:solidFill>
                <a:latin typeface="Helvetica Neue"/>
              </a:rPr>
              <a:t>•  </a:t>
            </a:r>
            <a:r>
              <a:rPr sz="1500" b="0" i="0">
                <a:solidFill>
                  <a:srgbClr val="52514E"/>
                </a:solidFill>
                <a:latin typeface="Helvetica Neue"/>
              </a:rPr>
              <a:t>Soil water availability and irrigation scheduling</a:t>
            </a:r>
          </a:p>
          <a:p>
            <a:pPr algn="l">
              <a:lnSpc>
                <a:spcPct val="120000"/>
              </a:lnSpc>
              <a:spcBef>
                <a:spcPts val="900"/>
              </a:spcBef>
              <a:spcAft>
                <a:spcPts val="200"/>
              </a:spcAft>
            </a:pPr>
            <a:r>
              <a:rPr sz="1500" b="1" i="0">
                <a:solidFill>
                  <a:srgbClr val="EB6834"/>
                </a:solidFill>
                <a:latin typeface="Helvetica Neue"/>
              </a:rPr>
              <a:t>•  </a:t>
            </a:r>
            <a:r>
              <a:rPr sz="1500" b="0" i="0">
                <a:solidFill>
                  <a:srgbClr val="52514E"/>
                </a:solidFill>
                <a:latin typeface="Helvetica Neue"/>
              </a:rPr>
              <a:t>Thermal accumulation across the growing season</a:t>
            </a:r>
          </a:p>
          <a:p>
            <a:pPr algn="l">
              <a:lnSpc>
                <a:spcPct val="120000"/>
              </a:lnSpc>
              <a:spcBef>
                <a:spcPts val="900"/>
              </a:spcBef>
              <a:spcAft>
                <a:spcPts val="200"/>
              </a:spcAft>
            </a:pPr>
            <a:r>
              <a:rPr sz="1500" b="1" i="0">
                <a:solidFill>
                  <a:srgbClr val="EB6834"/>
                </a:solidFill>
                <a:latin typeface="Helvetica Neue"/>
              </a:rPr>
              <a:t>•  </a:t>
            </a:r>
            <a:r>
              <a:rPr sz="1500" b="0" i="0">
                <a:solidFill>
                  <a:srgbClr val="52514E"/>
                </a:solidFill>
                <a:latin typeface="Helvetica Neue"/>
              </a:rPr>
              <a:t>Canopy development and radiation interception</a:t>
            </a:r>
          </a:p>
          <a:p>
            <a:pPr algn="l">
              <a:lnSpc>
                <a:spcPct val="120000"/>
              </a:lnSpc>
              <a:spcBef>
                <a:spcPts val="900"/>
              </a:spcBef>
              <a:spcAft>
                <a:spcPts val="200"/>
              </a:spcAft>
            </a:pPr>
            <a:r>
              <a:rPr sz="1500" b="1" i="0">
                <a:solidFill>
                  <a:srgbClr val="EB6834"/>
                </a:solidFill>
                <a:latin typeface="Helvetica Neue"/>
              </a:rPr>
              <a:t>•  </a:t>
            </a:r>
            <a:r>
              <a:rPr sz="1500" b="0" i="0">
                <a:solidFill>
                  <a:srgbClr val="52514E"/>
                </a:solidFill>
                <a:latin typeface="Helvetica Neue"/>
              </a:rPr>
              <a:t>Pest and disease pressure</a:t>
            </a:r>
          </a:p>
          <a:p>
            <a:pPr algn="l">
              <a:lnSpc>
                <a:spcPct val="120000"/>
              </a:lnSpc>
              <a:spcBef>
                <a:spcPts val="900"/>
              </a:spcBef>
              <a:spcAft>
                <a:spcPts val="200"/>
              </a:spcAft>
            </a:pPr>
            <a:r>
              <a:rPr sz="1500" b="1" i="0">
                <a:solidFill>
                  <a:srgbClr val="EB6834"/>
                </a:solidFill>
                <a:latin typeface="Helvetica Neue"/>
              </a:rPr>
              <a:t>•  </a:t>
            </a:r>
            <a:r>
              <a:rPr sz="1500" b="0" i="0">
                <a:solidFill>
                  <a:srgbClr val="52514E"/>
                </a:solidFill>
                <a:latin typeface="Helvetica Neue"/>
              </a:rPr>
              <a:t>Cultivar choice and fertiliser regime</a:t>
            </a:r>
          </a:p>
        </p:txBody>
      </p:sp>
      <p:sp>
        <p:nvSpPr>
          <p:cNvPr id="8" name="Rectangle 7"/>
          <p:cNvSpPr/>
          <p:nvPr/>
        </p:nvSpPr>
        <p:spPr>
          <a:xfrm>
            <a:off x="6347307" y="1691640"/>
            <a:ext cx="45720" cy="2926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0187" y="1691640"/>
            <a:ext cx="4884267" cy="320040"/>
          </a:xfrm>
          <a:prstGeom prst="rect">
            <a:avLst/>
          </a:prstGeom>
          <a:noFill/>
        </p:spPr>
        <p:txBody>
          <a:bodyPr wrap="square" anchor="t" lIns="0" rIns="0" tIns="0" bIns="0">
            <a:spAutoFit/>
          </a:bodyPr>
          <a:lstStyle/>
          <a:p>
            <a:pPr algn="l">
              <a:spcBef>
                <a:spcPts val="0"/>
              </a:spcBef>
              <a:spcAft>
                <a:spcPts val="600"/>
              </a:spcAft>
            </a:pPr>
            <a:r>
              <a:rPr sz="1700" b="1" i="0">
                <a:solidFill>
                  <a:srgbClr val="0D366B"/>
                </a:solidFill>
                <a:latin typeface="Helvetica Neue"/>
              </a:rPr>
              <a:t>What we can actually observe</a:t>
            </a:r>
          </a:p>
        </p:txBody>
      </p:sp>
      <p:sp>
        <p:nvSpPr>
          <p:cNvPr id="10" name="TextBox 9"/>
          <p:cNvSpPr txBox="1"/>
          <p:nvPr/>
        </p:nvSpPr>
        <p:spPr>
          <a:xfrm>
            <a:off x="6347307" y="2194560"/>
            <a:ext cx="5067147" cy="3200400"/>
          </a:xfrm>
          <a:prstGeom prst="rect">
            <a:avLst/>
          </a:prstGeom>
          <a:noFill/>
        </p:spPr>
        <p:txBody>
          <a:bodyPr wrap="square" anchor="t" lIns="0" rIns="0" tIns="0" bIns="0">
            <a:spAutoFit/>
          </a:bodyPr>
          <a:lstStyle/>
          <a:p>
            <a:pPr algn="l">
              <a:lnSpc>
                <a:spcPct val="120000"/>
              </a:lnSpc>
              <a:spcBef>
                <a:spcPts val="0"/>
              </a:spcBef>
              <a:spcAft>
                <a:spcPts val="200"/>
              </a:spcAft>
            </a:pPr>
            <a:r>
              <a:rPr sz="1500" b="1" i="0">
                <a:solidFill>
                  <a:srgbClr val="2A78D6"/>
                </a:solidFill>
                <a:latin typeface="Helvetica Neue"/>
              </a:rPr>
              <a:t>•  </a:t>
            </a:r>
            <a:r>
              <a:rPr sz="1500" b="0" i="0">
                <a:solidFill>
                  <a:srgbClr val="52514E"/>
                </a:solidFill>
                <a:latin typeface="Helvetica Neue"/>
              </a:rPr>
              <a:t>Daily weather (reanalysis, spatially complete)</a:t>
            </a:r>
          </a:p>
          <a:p>
            <a:pPr algn="l">
              <a:lnSpc>
                <a:spcPct val="120000"/>
              </a:lnSpc>
              <a:spcBef>
                <a:spcPts val="900"/>
              </a:spcBef>
              <a:spcAft>
                <a:spcPts val="200"/>
              </a:spcAft>
            </a:pPr>
            <a:r>
              <a:rPr sz="1500" b="1" i="0">
                <a:solidFill>
                  <a:srgbClr val="2A78D6"/>
                </a:solidFill>
                <a:latin typeface="Helvetica Neue"/>
              </a:rPr>
              <a:t>•  </a:t>
            </a:r>
            <a:r>
              <a:rPr sz="1500" b="0" i="0">
                <a:solidFill>
                  <a:srgbClr val="52514E"/>
                </a:solidFill>
                <a:latin typeface="Helvetica Neue"/>
              </a:rPr>
              <a:t>Satellite vegetation indices and land surface temperature</a:t>
            </a:r>
          </a:p>
          <a:p>
            <a:pPr algn="l">
              <a:lnSpc>
                <a:spcPct val="120000"/>
              </a:lnSpc>
              <a:spcBef>
                <a:spcPts val="900"/>
              </a:spcBef>
              <a:spcAft>
                <a:spcPts val="200"/>
              </a:spcAft>
            </a:pPr>
            <a:r>
              <a:rPr sz="1500" b="1" i="0">
                <a:solidFill>
                  <a:srgbClr val="2A78D6"/>
                </a:solidFill>
                <a:latin typeface="Helvetica Neue"/>
              </a:rPr>
              <a:t>•  </a:t>
            </a:r>
            <a:r>
              <a:rPr sz="1500" b="0" i="0">
                <a:solidFill>
                  <a:srgbClr val="52514E"/>
                </a:solidFill>
                <a:latin typeface="Helvetica Neue"/>
              </a:rPr>
              <a:t>Static soil properties from global grids</a:t>
            </a:r>
          </a:p>
          <a:p>
            <a:pPr algn="l">
              <a:lnSpc>
                <a:spcPct val="120000"/>
              </a:lnSpc>
              <a:spcBef>
                <a:spcPts val="900"/>
              </a:spcBef>
              <a:spcAft>
                <a:spcPts val="200"/>
              </a:spcAft>
            </a:pPr>
            <a:r>
              <a:rPr sz="1500" b="1" i="0">
                <a:solidFill>
                  <a:srgbClr val="2A78D6"/>
                </a:solidFill>
                <a:latin typeface="Helvetica Neue"/>
              </a:rPr>
              <a:t>•  </a:t>
            </a:r>
            <a:r>
              <a:rPr sz="1500" b="0" i="0">
                <a:solidFill>
                  <a:srgbClr val="52514E"/>
                </a:solidFill>
                <a:latin typeface="Helvetica Neue"/>
              </a:rPr>
              <a:t>District yield history — itself subjectively estimated</a:t>
            </a:r>
          </a:p>
          <a:p>
            <a:pPr algn="l">
              <a:lnSpc>
                <a:spcPct val="120000"/>
              </a:lnSpc>
              <a:spcBef>
                <a:spcPts val="900"/>
              </a:spcBef>
              <a:spcAft>
                <a:spcPts val="200"/>
              </a:spcAft>
            </a:pPr>
            <a:r>
              <a:rPr sz="1500" b="1" i="0">
                <a:solidFill>
                  <a:srgbClr val="2A78D6"/>
                </a:solidFill>
                <a:latin typeface="Helvetica Neue"/>
              </a:rPr>
              <a:t>•  </a:t>
            </a:r>
            <a:r>
              <a:rPr sz="1500" b="0" i="0">
                <a:solidFill>
                  <a:srgbClr val="52514E"/>
                </a:solidFill>
                <a:latin typeface="Helvetica Neue"/>
              </a:rPr>
              <a:t>Nothing about management decisions</a:t>
            </a:r>
          </a:p>
        </p:txBody>
      </p:sp>
      <p:sp>
        <p:nvSpPr>
          <p:cNvPr id="11" name="Rectangle 10"/>
          <p:cNvSpPr/>
          <p:nvPr/>
        </p:nvSpPr>
        <p:spPr>
          <a:xfrm>
            <a:off x="777240" y="5623560"/>
            <a:ext cx="10637215" cy="731520"/>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5623560"/>
            <a:ext cx="54864" cy="7315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5623560"/>
            <a:ext cx="10088575" cy="731520"/>
          </a:xfrm>
          <a:prstGeom prst="rect">
            <a:avLst/>
          </a:prstGeom>
          <a:noFill/>
        </p:spPr>
        <p:txBody>
          <a:bodyPr wrap="square" anchor="ctr" lIns="0" rIns="0" tIns="0" bIns="0">
            <a:spAutoFit/>
          </a:bodyPr>
          <a:lstStyle/>
          <a:p>
            <a:pPr algn="l">
              <a:spcBef>
                <a:spcPts val="0"/>
              </a:spcBef>
              <a:spcAft>
                <a:spcPts val="600"/>
              </a:spcAft>
            </a:pPr>
            <a:r>
              <a:rPr sz="1500" b="1" i="0">
                <a:solidFill>
                  <a:srgbClr val="0D366B"/>
                </a:solidFill>
                <a:latin typeface="Helvetica Neue"/>
              </a:rPr>
              <a:t>Most of what determines yield is unobserved. That places a ceiling on achievable accuracy before any model is chosen.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274320"/>
          </a:xfrm>
          <a:prstGeom prst="rect">
            <a:avLst/>
          </a:prstGeom>
          <a:noFill/>
        </p:spPr>
        <p:txBody>
          <a:bodyPr wrap="square" anchor="t" lIns="0" rIns="0" tIns="0" bIns="0">
            <a:spAutoFit/>
          </a:bodyPr>
          <a:lstStyle/>
          <a:p>
            <a:pPr algn="l">
              <a:spcBef>
                <a:spcPts val="0"/>
              </a:spcBef>
              <a:spcAft>
                <a:spcPts val="600"/>
              </a:spcAft>
            </a:pPr>
            <a:r>
              <a:rPr sz="1200" b="1" i="0">
                <a:solidFill>
                  <a:srgbClr val="EB6834"/>
                </a:solidFill>
                <a:latin typeface="Helvetica Neue"/>
              </a:rPr>
              <a:t>SCOPE</a:t>
            </a:r>
          </a:p>
        </p:txBody>
      </p:sp>
      <p:sp>
        <p:nvSpPr>
          <p:cNvPr id="4" name="TextBox 3"/>
          <p:cNvSpPr txBox="1"/>
          <p:nvPr/>
        </p:nvSpPr>
        <p:spPr>
          <a:xfrm>
            <a:off x="777240" y="914400"/>
            <a:ext cx="10637215" cy="548640"/>
          </a:xfrm>
          <a:prstGeom prst="rect">
            <a:avLst/>
          </a:prstGeom>
          <a:noFill/>
        </p:spPr>
        <p:txBody>
          <a:bodyPr wrap="square" anchor="t" lIns="0" rIns="0" tIns="0" bIns="0">
            <a:spAutoFit/>
          </a:bodyPr>
          <a:lstStyle/>
          <a:p>
            <a:pPr algn="l">
              <a:spcBef>
                <a:spcPts val="0"/>
              </a:spcBef>
              <a:spcAft>
                <a:spcPts val="600"/>
              </a:spcAft>
            </a:pPr>
            <a:r>
              <a:rPr sz="2800" b="1" i="0">
                <a:solidFill>
                  <a:srgbClr val="0D366B"/>
                </a:solidFill>
                <a:latin typeface="Helvetica Neue"/>
              </a:rPr>
              <a:t>Aim and objectives</a:t>
            </a:r>
          </a:p>
        </p:txBody>
      </p:sp>
      <p:sp>
        <p:nvSpPr>
          <p:cNvPr id="5" name="TextBox 4"/>
          <p:cNvSpPr txBox="1"/>
          <p:nvPr/>
        </p:nvSpPr>
        <p:spPr>
          <a:xfrm>
            <a:off x="777240" y="1691640"/>
            <a:ext cx="10637215" cy="4617720"/>
          </a:xfrm>
          <a:prstGeom prst="rect">
            <a:avLst/>
          </a:prstGeom>
          <a:noFill/>
        </p:spPr>
        <p:txBody>
          <a:bodyPr wrap="square" anchor="t" lIns="0" rIns="0" tIns="0" bIns="0">
            <a:spAutoFit/>
          </a:bodyPr>
          <a:lstStyle/>
          <a:p>
            <a:pPr algn="l">
              <a:lnSpc>
                <a:spcPct val="122000"/>
              </a:lnSpc>
              <a:spcBef>
                <a:spcPts val="0"/>
              </a:spcBef>
              <a:spcAft>
                <a:spcPts val="200"/>
              </a:spcAft>
            </a:pPr>
            <a:r>
              <a:rPr sz="1550" b="1" i="0">
                <a:solidFill>
                  <a:srgbClr val="EB6834"/>
                </a:solidFill>
                <a:latin typeface="Helvetica Neue"/>
              </a:rPr>
              <a:t>▸  </a:t>
            </a:r>
            <a:r>
              <a:rPr sz="1550" b="1" i="0">
                <a:solidFill>
                  <a:srgbClr val="0B0B0B"/>
                </a:solidFill>
                <a:latin typeface="Helvetica Neue"/>
              </a:rPr>
              <a:t>Aim  </a:t>
            </a:r>
            <a:r>
              <a:rPr sz="1550" b="0" i="0">
                <a:solidFill>
                  <a:srgbClr val="52514E"/>
                </a:solidFill>
                <a:latin typeface="Helvetica Neue"/>
              </a:rPr>
              <a:t>forecast big onion yield by district and season, before harvest, from open data — with honest, calibrated uncertainty</a:t>
            </a:r>
          </a:p>
          <a:p>
            <a:pPr algn="l">
              <a:lnSpc>
                <a:spcPct val="122000"/>
              </a:lnSpc>
              <a:spcBef>
                <a:spcPts val="800"/>
              </a:spcBef>
              <a:spcAft>
                <a:spcPts val="200"/>
              </a:spcAft>
            </a:pPr>
            <a:r>
              <a:rPr sz="1550" b="1" i="0">
                <a:solidFill>
                  <a:srgbClr val="EB6834"/>
                </a:solidFill>
                <a:latin typeface="Helvetica Neue"/>
              </a:rPr>
              <a:t>▸  </a:t>
            </a:r>
            <a:r>
              <a:rPr sz="1550" b="1" i="0">
                <a:solidFill>
                  <a:srgbClr val="0B0B0B"/>
                </a:solidFill>
                <a:latin typeface="Helvetica Neue"/>
              </a:rPr>
              <a:t>1  Data foundation  </a:t>
            </a:r>
            <a:r>
              <a:rPr sz="1550" b="0" i="0">
                <a:solidFill>
                  <a:srgbClr val="52514E"/>
                </a:solidFill>
                <a:latin typeface="Helvetica Neue"/>
              </a:rPr>
              <a:t>integrate yield, weather, satellite and soil to one clean grain</a:t>
            </a:r>
          </a:p>
          <a:p>
            <a:pPr algn="l">
              <a:lnSpc>
                <a:spcPct val="122000"/>
              </a:lnSpc>
              <a:spcBef>
                <a:spcPts val="800"/>
              </a:spcBef>
              <a:spcAft>
                <a:spcPts val="200"/>
              </a:spcAft>
            </a:pPr>
            <a:r>
              <a:rPr sz="1550" b="1" i="0">
                <a:solidFill>
                  <a:srgbClr val="EB6834"/>
                </a:solidFill>
                <a:latin typeface="Helvetica Neue"/>
              </a:rPr>
              <a:t>▸  </a:t>
            </a:r>
            <a:r>
              <a:rPr sz="1550" b="1" i="0">
                <a:solidFill>
                  <a:srgbClr val="0B0B0B"/>
                </a:solidFill>
                <a:latin typeface="Helvetica Neue"/>
              </a:rPr>
              <a:t>2  Feature engineering  </a:t>
            </a:r>
            <a:r>
              <a:rPr sz="1550" b="0" i="0">
                <a:solidFill>
                  <a:srgbClr val="52514E"/>
                </a:solidFill>
                <a:latin typeface="Helvetica Neue"/>
              </a:rPr>
              <a:t>derive agronomically meaningful predictors</a:t>
            </a:r>
          </a:p>
          <a:p>
            <a:pPr algn="l">
              <a:lnSpc>
                <a:spcPct val="122000"/>
              </a:lnSpc>
              <a:spcBef>
                <a:spcPts val="800"/>
              </a:spcBef>
              <a:spcAft>
                <a:spcPts val="200"/>
              </a:spcAft>
            </a:pPr>
            <a:r>
              <a:rPr sz="1550" b="1" i="0">
                <a:solidFill>
                  <a:srgbClr val="EB6834"/>
                </a:solidFill>
                <a:latin typeface="Helvetica Neue"/>
              </a:rPr>
              <a:t>▸  </a:t>
            </a:r>
            <a:r>
              <a:rPr sz="1550" b="1" i="0">
                <a:solidFill>
                  <a:srgbClr val="0B0B0B"/>
                </a:solidFill>
                <a:latin typeface="Helvetica Neue"/>
              </a:rPr>
              <a:t>3  Comparative modelling  </a:t>
            </a:r>
            <a:r>
              <a:rPr sz="1550" b="0" i="0">
                <a:solidFill>
                  <a:srgbClr val="52514E"/>
                </a:solidFill>
                <a:latin typeface="Helvetica Neue"/>
              </a:rPr>
              <a:t>classical, deep, symbolic and physics-hybrid under one protocol</a:t>
            </a:r>
          </a:p>
          <a:p>
            <a:pPr algn="l">
              <a:lnSpc>
                <a:spcPct val="122000"/>
              </a:lnSpc>
              <a:spcBef>
                <a:spcPts val="800"/>
              </a:spcBef>
              <a:spcAft>
                <a:spcPts val="200"/>
              </a:spcAft>
            </a:pPr>
            <a:r>
              <a:rPr sz="1550" b="1" i="0">
                <a:solidFill>
                  <a:srgbClr val="EB6834"/>
                </a:solidFill>
                <a:latin typeface="Helvetica Neue"/>
              </a:rPr>
              <a:t>▸  </a:t>
            </a:r>
            <a:r>
              <a:rPr sz="1550" b="1" i="0">
                <a:solidFill>
                  <a:srgbClr val="0B0B0B"/>
                </a:solidFill>
                <a:latin typeface="Helvetica Neue"/>
              </a:rPr>
              <a:t>4  Honest evaluation  </a:t>
            </a:r>
            <a:r>
              <a:rPr sz="1550" b="0" i="0">
                <a:solidFill>
                  <a:srgbClr val="52514E"/>
                </a:solidFill>
                <a:latin typeface="Helvetica Neue"/>
              </a:rPr>
              <a:t>leakage-free cross-validation, significance tests, conformal intervals</a:t>
            </a:r>
          </a:p>
          <a:p>
            <a:pPr algn="l">
              <a:lnSpc>
                <a:spcPct val="122000"/>
              </a:lnSpc>
              <a:spcBef>
                <a:spcPts val="800"/>
              </a:spcBef>
              <a:spcAft>
                <a:spcPts val="200"/>
              </a:spcAft>
            </a:pPr>
            <a:r>
              <a:rPr sz="1550" b="1" i="0">
                <a:solidFill>
                  <a:srgbClr val="EB6834"/>
                </a:solidFill>
                <a:latin typeface="Helvetica Neue"/>
              </a:rPr>
              <a:t>▸  </a:t>
            </a:r>
            <a:r>
              <a:rPr sz="1550" b="1" i="0">
                <a:solidFill>
                  <a:srgbClr val="0B0B0B"/>
                </a:solidFill>
                <a:latin typeface="Helvetica Neue"/>
              </a:rPr>
              <a:t>5  Attribution and ablation  </a:t>
            </a:r>
            <a:r>
              <a:rPr sz="1550" b="0" i="0">
                <a:solidFill>
                  <a:srgbClr val="52514E"/>
                </a:solidFill>
                <a:latin typeface="Helvetica Neue"/>
              </a:rPr>
              <a:t>quantify what each data source and predictor contributes</a:t>
            </a:r>
          </a:p>
          <a:p>
            <a:pPr algn="l">
              <a:lnSpc>
                <a:spcPct val="122000"/>
              </a:lnSpc>
              <a:spcBef>
                <a:spcPts val="800"/>
              </a:spcBef>
              <a:spcAft>
                <a:spcPts val="200"/>
              </a:spcAft>
            </a:pPr>
            <a:r>
              <a:rPr sz="1550" b="1" i="0">
                <a:solidFill>
                  <a:srgbClr val="EB6834"/>
                </a:solidFill>
                <a:latin typeface="Helvetica Neue"/>
              </a:rPr>
              <a:t>▸  </a:t>
            </a:r>
            <a:r>
              <a:rPr sz="1550" b="1" i="0">
                <a:solidFill>
                  <a:srgbClr val="0B0B0B"/>
                </a:solidFill>
                <a:latin typeface="Helvetica Neue"/>
              </a:rPr>
              <a:t>6  Delivery  </a:t>
            </a:r>
            <a:r>
              <a:rPr sz="1550" b="0" i="0">
                <a:solidFill>
                  <a:srgbClr val="52514E"/>
                </a:solidFill>
                <a:latin typeface="Helvetica Neue"/>
              </a:rPr>
              <a:t>REST service and a decision-support dashboard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9264C"/>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1560" y="2377440"/>
            <a:ext cx="9601200" cy="457200"/>
          </a:xfrm>
          <a:prstGeom prst="rect">
            <a:avLst/>
          </a:prstGeom>
          <a:noFill/>
        </p:spPr>
        <p:txBody>
          <a:bodyPr wrap="square" anchor="t" lIns="0" rIns="0" tIns="0" bIns="0">
            <a:spAutoFit/>
          </a:bodyPr>
          <a:lstStyle/>
          <a:p>
            <a:pPr algn="l">
              <a:spcBef>
                <a:spcPts val="0"/>
              </a:spcBef>
              <a:spcAft>
                <a:spcPts val="600"/>
              </a:spcAft>
            </a:pPr>
            <a:r>
              <a:rPr sz="1600" b="1" i="0">
                <a:solidFill>
                  <a:srgbClr val="EB6834"/>
                </a:solidFill>
                <a:latin typeface="Helvetica Neue"/>
              </a:rPr>
              <a:t>01</a:t>
            </a:r>
          </a:p>
        </p:txBody>
      </p:sp>
      <p:sp>
        <p:nvSpPr>
          <p:cNvPr id="4" name="TextBox 3"/>
          <p:cNvSpPr txBox="1"/>
          <p:nvPr/>
        </p:nvSpPr>
        <p:spPr>
          <a:xfrm>
            <a:off x="1051560" y="2834640"/>
            <a:ext cx="9601200" cy="914400"/>
          </a:xfrm>
          <a:prstGeom prst="rect">
            <a:avLst/>
          </a:prstGeom>
          <a:noFill/>
        </p:spPr>
        <p:txBody>
          <a:bodyPr wrap="square" anchor="t" lIns="0" rIns="0" tIns="0" bIns="0">
            <a:spAutoFit/>
          </a:bodyPr>
          <a:lstStyle/>
          <a:p>
            <a:pPr algn="l">
              <a:spcBef>
                <a:spcPts val="0"/>
              </a:spcBef>
              <a:spcAft>
                <a:spcPts val="600"/>
              </a:spcAft>
            </a:pPr>
            <a:r>
              <a:rPr sz="3600" b="1" i="0">
                <a:solidFill>
                  <a:srgbClr val="FFFFFF"/>
                </a:solidFill>
                <a:latin typeface="Helvetica Neue"/>
              </a:rPr>
              <a:t>Review of others' work</a:t>
            </a:r>
          </a:p>
        </p:txBody>
      </p:sp>
      <p:sp>
        <p:nvSpPr>
          <p:cNvPr id="5" name="TextBox 4"/>
          <p:cNvSpPr txBox="1"/>
          <p:nvPr/>
        </p:nvSpPr>
        <p:spPr>
          <a:xfrm>
            <a:off x="1051560" y="3886200"/>
            <a:ext cx="8686800" cy="914400"/>
          </a:xfrm>
          <a:prstGeom prst="rect">
            <a:avLst/>
          </a:prstGeom>
          <a:noFill/>
        </p:spPr>
        <p:txBody>
          <a:bodyPr wrap="square" anchor="t" lIns="0" rIns="0" tIns="0" bIns="0">
            <a:spAutoFit/>
          </a:bodyPr>
          <a:lstStyle/>
          <a:p>
            <a:pPr algn="l">
              <a:lnSpc>
                <a:spcPct val="130000"/>
              </a:lnSpc>
              <a:spcBef>
                <a:spcPts val="0"/>
              </a:spcBef>
              <a:spcAft>
                <a:spcPts val="600"/>
              </a:spcAft>
            </a:pPr>
            <a:r>
              <a:rPr sz="1700" b="0" i="0">
                <a:solidFill>
                  <a:srgbClr val="CDE2FB"/>
                </a:solidFill>
                <a:latin typeface="Helvetica Neue"/>
              </a:rPr>
              <a:t>Four traditions — classical ML, deep and hybrid architectures, mechanistic crop models, and the Sri Lankan literature — and what none of them covers.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274320"/>
          </a:xfrm>
          <a:prstGeom prst="rect">
            <a:avLst/>
          </a:prstGeom>
          <a:noFill/>
        </p:spPr>
        <p:txBody>
          <a:bodyPr wrap="square" anchor="t" lIns="0" rIns="0" tIns="0" bIns="0">
            <a:spAutoFit/>
          </a:bodyPr>
          <a:lstStyle/>
          <a:p>
            <a:pPr algn="l">
              <a:spcBef>
                <a:spcPts val="0"/>
              </a:spcBef>
              <a:spcAft>
                <a:spcPts val="600"/>
              </a:spcAft>
            </a:pPr>
            <a:r>
              <a:rPr sz="1200" b="1" i="0">
                <a:solidFill>
                  <a:srgbClr val="EB6834"/>
                </a:solidFill>
                <a:latin typeface="Helvetica Neue"/>
              </a:rPr>
              <a:t>RELATED WORK</a:t>
            </a:r>
          </a:p>
        </p:txBody>
      </p:sp>
      <p:sp>
        <p:nvSpPr>
          <p:cNvPr id="4" name="TextBox 3"/>
          <p:cNvSpPr txBox="1"/>
          <p:nvPr/>
        </p:nvSpPr>
        <p:spPr>
          <a:xfrm>
            <a:off x="777240" y="914400"/>
            <a:ext cx="10637215" cy="548640"/>
          </a:xfrm>
          <a:prstGeom prst="rect">
            <a:avLst/>
          </a:prstGeom>
          <a:noFill/>
        </p:spPr>
        <p:txBody>
          <a:bodyPr wrap="square" anchor="t" lIns="0" rIns="0" tIns="0" bIns="0">
            <a:spAutoFit/>
          </a:bodyPr>
          <a:lstStyle/>
          <a:p>
            <a:pPr algn="l">
              <a:spcBef>
                <a:spcPts val="0"/>
              </a:spcBef>
              <a:spcAft>
                <a:spcPts val="600"/>
              </a:spcAft>
            </a:pPr>
            <a:r>
              <a:rPr sz="2800" b="1" i="0">
                <a:solidFill>
                  <a:srgbClr val="0D366B"/>
                </a:solidFill>
                <a:latin typeface="Helvetica Neue"/>
              </a:rPr>
              <a:t>Where the literature stands</a:t>
            </a:r>
          </a:p>
        </p:txBody>
      </p:sp>
      <p:graphicFrame>
        <p:nvGraphicFramePr>
          <p:cNvPr id="5" name="Table 4"/>
          <p:cNvGraphicFramePr>
            <a:graphicFrameLocks noGrp="1"/>
          </p:cNvGraphicFramePr>
          <p:nvPr/>
        </p:nvGraphicFramePr>
        <p:xfrm>
          <a:off x="777240" y="1920240"/>
          <a:ext cx="10637212" cy="3072384"/>
        </p:xfrm>
        <a:graphic>
          <a:graphicData uri="http://schemas.openxmlformats.org/drawingml/2006/table">
            <a:tbl>
              <a:tblPr firstRow="1" bandRow="1">
                <a:tableStyleId>{5C22544A-7EE6-4342-B048-85BDC9FD1C3A}</a:tableStyleId>
              </a:tblPr>
              <a:tblGrid>
                <a:gridCol w="2575325"/>
                <a:gridCol w="2239413"/>
                <a:gridCol w="2239413"/>
                <a:gridCol w="3583061"/>
              </a:tblGrid>
              <a:tr h="384048">
                <a:tc>
                  <a:txBody>
                    <a:bodyPr wrap="square"/>
                    <a:lstStyle/>
                    <a:p>
                      <a:pPr algn="l"/>
                      <a:r>
                        <a:rPr sz="1200" b="1" i="0">
                          <a:solidFill>
                            <a:srgbClr val="FFFFFF"/>
                          </a:solidFill>
                          <a:latin typeface="Helvetica Neue"/>
                        </a:rPr>
                        <a:t>Work</a:t>
                      </a:r>
                    </a:p>
                  </a:txBody>
                  <a:tcPr marL="91440" marR="91440">
                    <a:solidFill>
                      <a:srgbClr val="0D366B"/>
                    </a:solidFill>
                  </a:tcPr>
                </a:tc>
                <a:tc>
                  <a:txBody>
                    <a:bodyPr wrap="square"/>
                    <a:lstStyle/>
                    <a:p>
                      <a:pPr algn="l"/>
                      <a:r>
                        <a:rPr sz="1200" b="1" i="0">
                          <a:solidFill>
                            <a:srgbClr val="FFFFFF"/>
                          </a:solidFill>
                          <a:latin typeface="Helvetica Neue"/>
                        </a:rPr>
                        <a:t>Crop / region</a:t>
                      </a:r>
                    </a:p>
                  </a:txBody>
                  <a:tcPr marL="91440" marR="91440">
                    <a:solidFill>
                      <a:srgbClr val="0D366B"/>
                    </a:solidFill>
                  </a:tcPr>
                </a:tc>
                <a:tc>
                  <a:txBody>
                    <a:bodyPr wrap="square"/>
                    <a:lstStyle/>
                    <a:p>
                      <a:pPr algn="l"/>
                      <a:r>
                        <a:rPr sz="1200" b="1" i="0">
                          <a:solidFill>
                            <a:srgbClr val="FFFFFF"/>
                          </a:solidFill>
                          <a:latin typeface="Helvetica Neue"/>
                        </a:rPr>
                        <a:t>Method</a:t>
                      </a:r>
                    </a:p>
                  </a:txBody>
                  <a:tcPr marL="91440" marR="91440">
                    <a:solidFill>
                      <a:srgbClr val="0D366B"/>
                    </a:solidFill>
                  </a:tcPr>
                </a:tc>
                <a:tc>
                  <a:txBody>
                    <a:bodyPr wrap="square"/>
                    <a:lstStyle/>
                    <a:p>
                      <a:pPr algn="l"/>
                      <a:r>
                        <a:rPr sz="1200" b="1" i="0">
                          <a:solidFill>
                            <a:srgbClr val="FFFFFF"/>
                          </a:solidFill>
                          <a:latin typeface="Helvetica Neue"/>
                        </a:rPr>
                        <a:t>Limitation for our problem</a:t>
                      </a:r>
                    </a:p>
                  </a:txBody>
                  <a:tcPr marL="91440" marR="91440">
                    <a:solidFill>
                      <a:srgbClr val="0D366B"/>
                    </a:solidFill>
                  </a:tcPr>
                </a:tc>
              </a:tr>
              <a:tr h="384048">
                <a:tc>
                  <a:txBody>
                    <a:bodyPr wrap="square"/>
                    <a:lstStyle/>
                    <a:p>
                      <a:pPr algn="l"/>
                      <a:r>
                        <a:rPr sz="1150" b="0" i="0">
                          <a:solidFill>
                            <a:srgbClr val="52514E"/>
                          </a:solidFill>
                          <a:latin typeface="Helvetica Neue"/>
                        </a:rPr>
                        <a:t>Jabed et al. (2024)</a:t>
                      </a:r>
                    </a:p>
                  </a:txBody>
                  <a:tcPr marL="91440" marR="91440">
                    <a:solidFill>
                      <a:srgbClr val="F7F6F4"/>
                    </a:solidFill>
                  </a:tcPr>
                </a:tc>
                <a:tc>
                  <a:txBody>
                    <a:bodyPr wrap="square"/>
                    <a:lstStyle/>
                    <a:p>
                      <a:pPr algn="l"/>
                      <a:r>
                        <a:rPr sz="1150" b="0" i="0">
                          <a:solidFill>
                            <a:srgbClr val="52514E"/>
                          </a:solidFill>
                          <a:latin typeface="Helvetica Neue"/>
                        </a:rPr>
                        <a:t>Multiple / global</a:t>
                      </a:r>
                    </a:p>
                  </a:txBody>
                  <a:tcPr marL="91440" marR="91440">
                    <a:solidFill>
                      <a:srgbClr val="F7F6F4"/>
                    </a:solidFill>
                  </a:tcPr>
                </a:tc>
                <a:tc>
                  <a:txBody>
                    <a:bodyPr wrap="square"/>
                    <a:lstStyle/>
                    <a:p>
                      <a:pPr algn="l"/>
                      <a:r>
                        <a:rPr sz="1150" b="0" i="0">
                          <a:solidFill>
                            <a:srgbClr val="52514E"/>
                          </a:solidFill>
                          <a:latin typeface="Helvetica Neue"/>
                        </a:rPr>
                        <a:t>Review of ML and DL</a:t>
                      </a:r>
                    </a:p>
                  </a:txBody>
                  <a:tcPr marL="91440" marR="91440">
                    <a:solidFill>
                      <a:srgbClr val="F7F6F4"/>
                    </a:solidFill>
                  </a:tcPr>
                </a:tc>
                <a:tc>
                  <a:txBody>
                    <a:bodyPr wrap="square"/>
                    <a:lstStyle/>
                    <a:p>
                      <a:pPr algn="l"/>
                      <a:r>
                        <a:rPr sz="1150" b="0" i="0">
                          <a:solidFill>
                            <a:srgbClr val="52514E"/>
                          </a:solidFill>
                          <a:latin typeface="Helvetica Neue"/>
                        </a:rPr>
                        <a:t>No small-sample guidance</a:t>
                      </a:r>
                    </a:p>
                  </a:txBody>
                  <a:tcPr marL="91440" marR="91440">
                    <a:solidFill>
                      <a:srgbClr val="F7F6F4"/>
                    </a:solidFill>
                  </a:tcPr>
                </a:tc>
              </a:tr>
              <a:tr h="384048">
                <a:tc>
                  <a:txBody>
                    <a:bodyPr wrap="square"/>
                    <a:lstStyle/>
                    <a:p>
                      <a:pPr algn="l"/>
                      <a:r>
                        <a:rPr sz="1150" b="0" i="0">
                          <a:solidFill>
                            <a:srgbClr val="52514E"/>
                          </a:solidFill>
                          <a:latin typeface="Helvetica Neue"/>
                        </a:rPr>
                        <a:t>Chikwendu et al. (2025)</a:t>
                      </a:r>
                    </a:p>
                  </a:txBody>
                  <a:tcPr marL="91440" marR="91440">
                    <a:solidFill>
                      <a:srgbClr val="FCFCFB"/>
                    </a:solidFill>
                  </a:tcPr>
                </a:tc>
                <a:tc>
                  <a:txBody>
                    <a:bodyPr wrap="square"/>
                    <a:lstStyle/>
                    <a:p>
                      <a:pPr algn="l"/>
                      <a:r>
                        <a:rPr sz="1150" b="0" i="0">
                          <a:solidFill>
                            <a:srgbClr val="52514E"/>
                          </a:solidFill>
                          <a:latin typeface="Helvetica Neue"/>
                        </a:rPr>
                        <a:t>Multiple</a:t>
                      </a:r>
                    </a:p>
                  </a:txBody>
                  <a:tcPr marL="91440" marR="91440">
                    <a:solidFill>
                      <a:srgbClr val="FCFCFB"/>
                    </a:solidFill>
                  </a:tcPr>
                </a:tc>
                <a:tc>
                  <a:txBody>
                    <a:bodyPr wrap="square"/>
                    <a:lstStyle/>
                    <a:p>
                      <a:pPr algn="l"/>
                      <a:r>
                        <a:rPr sz="1150" b="0" i="0">
                          <a:solidFill>
                            <a:srgbClr val="52514E"/>
                          </a:solidFill>
                          <a:latin typeface="Helvetica Neue"/>
                        </a:rPr>
                        <a:t>RF, XGBoost, SVR, ANN</a:t>
                      </a:r>
                    </a:p>
                  </a:txBody>
                  <a:tcPr marL="91440" marR="91440">
                    <a:solidFill>
                      <a:srgbClr val="FCFCFB"/>
                    </a:solidFill>
                  </a:tcPr>
                </a:tc>
                <a:tc>
                  <a:txBody>
                    <a:bodyPr wrap="square"/>
                    <a:lstStyle/>
                    <a:p>
                      <a:pPr algn="l"/>
                      <a:r>
                        <a:rPr sz="1150" b="0" i="0">
                          <a:solidFill>
                            <a:srgbClr val="52514E"/>
                          </a:solidFill>
                          <a:latin typeface="Helvetica Neue"/>
                        </a:rPr>
                        <a:t>Random split leaks temporal information</a:t>
                      </a:r>
                    </a:p>
                  </a:txBody>
                  <a:tcPr marL="91440" marR="91440">
                    <a:solidFill>
                      <a:srgbClr val="FCFCFB"/>
                    </a:solidFill>
                  </a:tcPr>
                </a:tc>
              </a:tr>
              <a:tr h="384048">
                <a:tc>
                  <a:txBody>
                    <a:bodyPr wrap="square"/>
                    <a:lstStyle/>
                    <a:p>
                      <a:pPr algn="l"/>
                      <a:r>
                        <a:rPr sz="1150" b="0" i="0">
                          <a:solidFill>
                            <a:srgbClr val="52514E"/>
                          </a:solidFill>
                          <a:latin typeface="Helvetica Neue"/>
                        </a:rPr>
                        <a:t>Rajpoot &amp; Chandrakar (2025)</a:t>
                      </a:r>
                    </a:p>
                  </a:txBody>
                  <a:tcPr marL="91440" marR="91440">
                    <a:solidFill>
                      <a:srgbClr val="F7F6F4"/>
                    </a:solidFill>
                  </a:tcPr>
                </a:tc>
                <a:tc>
                  <a:txBody>
                    <a:bodyPr wrap="square"/>
                    <a:lstStyle/>
                    <a:p>
                      <a:pPr algn="l"/>
                      <a:r>
                        <a:rPr sz="1150" b="0" i="0">
                          <a:solidFill>
                            <a:srgbClr val="52514E"/>
                          </a:solidFill>
                          <a:latin typeface="Helvetica Neue"/>
                        </a:rPr>
                        <a:t>Cereals</a:t>
                      </a:r>
                    </a:p>
                  </a:txBody>
                  <a:tcPr marL="91440" marR="91440">
                    <a:solidFill>
                      <a:srgbClr val="F7F6F4"/>
                    </a:solidFill>
                  </a:tcPr>
                </a:tc>
                <a:tc>
                  <a:txBody>
                    <a:bodyPr wrap="square"/>
                    <a:lstStyle/>
                    <a:p>
                      <a:pPr algn="l"/>
                      <a:r>
                        <a:rPr sz="1150" b="0" i="0">
                          <a:solidFill>
                            <a:srgbClr val="52514E"/>
                          </a:solidFill>
                          <a:latin typeface="Helvetica Neue"/>
                        </a:rPr>
                        <a:t>Hybrid CNN-LSTM</a:t>
                      </a:r>
                    </a:p>
                  </a:txBody>
                  <a:tcPr marL="91440" marR="91440">
                    <a:solidFill>
                      <a:srgbClr val="F7F6F4"/>
                    </a:solidFill>
                  </a:tcPr>
                </a:tc>
                <a:tc>
                  <a:txBody>
                    <a:bodyPr wrap="square"/>
                    <a:lstStyle/>
                    <a:p>
                      <a:pPr algn="l"/>
                      <a:r>
                        <a:rPr sz="1150" b="0" i="0">
                          <a:solidFill>
                            <a:srgbClr val="52514E"/>
                          </a:solidFill>
                          <a:latin typeface="Helvetica Neue"/>
                        </a:rPr>
                        <a:t>Validated only at large sample size</a:t>
                      </a:r>
                    </a:p>
                  </a:txBody>
                  <a:tcPr marL="91440" marR="91440">
                    <a:solidFill>
                      <a:srgbClr val="F7F6F4"/>
                    </a:solidFill>
                  </a:tcPr>
                </a:tc>
              </a:tr>
              <a:tr h="384048">
                <a:tc>
                  <a:txBody>
                    <a:bodyPr wrap="square"/>
                    <a:lstStyle/>
                    <a:p>
                      <a:pPr algn="l"/>
                      <a:r>
                        <a:rPr sz="1150" b="0" i="0">
                          <a:solidFill>
                            <a:srgbClr val="52514E"/>
                          </a:solidFill>
                          <a:latin typeface="Helvetica Neue"/>
                        </a:rPr>
                        <a:t>Shahhosseini et al. (2021)</a:t>
                      </a:r>
                    </a:p>
                  </a:txBody>
                  <a:tcPr marL="91440" marR="91440">
                    <a:solidFill>
                      <a:srgbClr val="FCFCFB"/>
                    </a:solidFill>
                  </a:tcPr>
                </a:tc>
                <a:tc>
                  <a:txBody>
                    <a:bodyPr wrap="square"/>
                    <a:lstStyle/>
                    <a:p>
                      <a:pPr algn="l"/>
                      <a:r>
                        <a:rPr sz="1150" b="0" i="0">
                          <a:solidFill>
                            <a:srgbClr val="52514E"/>
                          </a:solidFill>
                          <a:latin typeface="Helvetica Neue"/>
                        </a:rPr>
                        <a:t>Corn / US</a:t>
                      </a:r>
                    </a:p>
                  </a:txBody>
                  <a:tcPr marL="91440" marR="91440">
                    <a:solidFill>
                      <a:srgbClr val="FCFCFB"/>
                    </a:solidFill>
                  </a:tcPr>
                </a:tc>
                <a:tc>
                  <a:txBody>
                    <a:bodyPr wrap="square"/>
                    <a:lstStyle/>
                    <a:p>
                      <a:pPr algn="l"/>
                      <a:r>
                        <a:rPr sz="1150" b="0" i="0">
                          <a:solidFill>
                            <a:srgbClr val="52514E"/>
                          </a:solidFill>
                          <a:latin typeface="Helvetica Neue"/>
                        </a:rPr>
                        <a:t>Crop model + ML</a:t>
                      </a:r>
                    </a:p>
                  </a:txBody>
                  <a:tcPr marL="91440" marR="91440">
                    <a:solidFill>
                      <a:srgbClr val="FCFCFB"/>
                    </a:solidFill>
                  </a:tcPr>
                </a:tc>
                <a:tc>
                  <a:txBody>
                    <a:bodyPr wrap="square"/>
                    <a:lstStyle/>
                    <a:p>
                      <a:pPr algn="l"/>
                      <a:r>
                        <a:rPr sz="1150" b="0" i="0">
                          <a:solidFill>
                            <a:srgbClr val="52514E"/>
                          </a:solidFill>
                          <a:latin typeface="Helvetica Neue"/>
                        </a:rPr>
                        <a:t>Needs a full APSIM-class simulator</a:t>
                      </a:r>
                    </a:p>
                  </a:txBody>
                  <a:tcPr marL="91440" marR="91440">
                    <a:solidFill>
                      <a:srgbClr val="FCFCFB"/>
                    </a:solidFill>
                  </a:tcPr>
                </a:tc>
              </a:tr>
              <a:tr h="384048">
                <a:tc>
                  <a:txBody>
                    <a:bodyPr wrap="square"/>
                    <a:lstStyle/>
                    <a:p>
                      <a:pPr algn="l"/>
                      <a:r>
                        <a:rPr sz="1150" b="0" i="0">
                          <a:solidFill>
                            <a:srgbClr val="52514E"/>
                          </a:solidFill>
                          <a:latin typeface="Helvetica Neue"/>
                        </a:rPr>
                        <a:t>Amarasinghe et al. (2024)</a:t>
                      </a:r>
                    </a:p>
                  </a:txBody>
                  <a:tcPr marL="91440" marR="91440">
                    <a:solidFill>
                      <a:srgbClr val="F7F6F4"/>
                    </a:solidFill>
                  </a:tcPr>
                </a:tc>
                <a:tc>
                  <a:txBody>
                    <a:bodyPr wrap="square"/>
                    <a:lstStyle/>
                    <a:p>
                      <a:pPr algn="l"/>
                      <a:r>
                        <a:rPr sz="1150" b="0" i="0">
                          <a:solidFill>
                            <a:srgbClr val="52514E"/>
                          </a:solidFill>
                          <a:latin typeface="Helvetica Neue"/>
                        </a:rPr>
                        <a:t>Rice / Sri Lanka</a:t>
                      </a:r>
                    </a:p>
                  </a:txBody>
                  <a:tcPr marL="91440" marR="91440">
                    <a:solidFill>
                      <a:srgbClr val="F7F6F4"/>
                    </a:solidFill>
                  </a:tcPr>
                </a:tc>
                <a:tc>
                  <a:txBody>
                    <a:bodyPr wrap="square"/>
                    <a:lstStyle/>
                    <a:p>
                      <a:pPr algn="l"/>
                      <a:r>
                        <a:rPr sz="1150" b="0" i="0">
                          <a:solidFill>
                            <a:srgbClr val="52514E"/>
                          </a:solidFill>
                          <a:latin typeface="Helvetica Neue"/>
                        </a:rPr>
                        <a:t>Feature-engineered ML</a:t>
                      </a:r>
                    </a:p>
                  </a:txBody>
                  <a:tcPr marL="91440" marR="91440">
                    <a:solidFill>
                      <a:srgbClr val="F7F6F4"/>
                    </a:solidFill>
                  </a:tcPr>
                </a:tc>
                <a:tc>
                  <a:txBody>
                    <a:bodyPr wrap="square"/>
                    <a:lstStyle/>
                    <a:p>
                      <a:pPr algn="l"/>
                      <a:r>
                        <a:rPr sz="1150" b="0" i="0">
                          <a:solidFill>
                            <a:srgbClr val="52514E"/>
                          </a:solidFill>
                          <a:latin typeface="Helvetica Neue"/>
                        </a:rPr>
                        <a:t>Paddy has crop-cutting surveys</a:t>
                      </a:r>
                    </a:p>
                  </a:txBody>
                  <a:tcPr marL="91440" marR="91440">
                    <a:solidFill>
                      <a:srgbClr val="F7F6F4"/>
                    </a:solidFill>
                  </a:tcPr>
                </a:tc>
              </a:tr>
              <a:tr h="384048">
                <a:tc>
                  <a:txBody>
                    <a:bodyPr wrap="square"/>
                    <a:lstStyle/>
                    <a:p>
                      <a:pPr algn="l"/>
                      <a:r>
                        <a:rPr sz="1150" b="0" i="0">
                          <a:solidFill>
                            <a:srgbClr val="52514E"/>
                          </a:solidFill>
                          <a:latin typeface="Helvetica Neue"/>
                        </a:rPr>
                        <a:t>Iqbal et al. (2023)</a:t>
                      </a:r>
                    </a:p>
                  </a:txBody>
                  <a:tcPr marL="91440" marR="91440">
                    <a:solidFill>
                      <a:srgbClr val="FCFCFB"/>
                    </a:solidFill>
                  </a:tcPr>
                </a:tc>
                <a:tc>
                  <a:txBody>
                    <a:bodyPr wrap="square"/>
                    <a:lstStyle/>
                    <a:p>
                      <a:pPr algn="l"/>
                      <a:r>
                        <a:rPr sz="1150" b="0" i="0">
                          <a:solidFill>
                            <a:srgbClr val="52514E"/>
                          </a:solidFill>
                          <a:latin typeface="Helvetica Neue"/>
                        </a:rPr>
                        <a:t>Onion / Bangladesh</a:t>
                      </a:r>
                    </a:p>
                  </a:txBody>
                  <a:tcPr marL="91440" marR="91440">
                    <a:solidFill>
                      <a:srgbClr val="FCFCFB"/>
                    </a:solidFill>
                  </a:tcPr>
                </a:tc>
                <a:tc>
                  <a:txBody>
                    <a:bodyPr wrap="square"/>
                    <a:lstStyle/>
                    <a:p>
                      <a:pPr algn="l"/>
                      <a:r>
                        <a:rPr sz="1150" b="0" i="0">
                          <a:solidFill>
                            <a:srgbClr val="52514E"/>
                          </a:solidFill>
                          <a:latin typeface="Helvetica Neue"/>
                        </a:rPr>
                        <a:t>Supervised ML</a:t>
                      </a:r>
                    </a:p>
                  </a:txBody>
                  <a:tcPr marL="91440" marR="91440">
                    <a:solidFill>
                      <a:srgbClr val="FCFCFB"/>
                    </a:solidFill>
                  </a:tcPr>
                </a:tc>
                <a:tc>
                  <a:txBody>
                    <a:bodyPr wrap="square"/>
                    <a:lstStyle/>
                    <a:p>
                      <a:pPr algn="l"/>
                      <a:r>
                        <a:rPr sz="1150" b="0" i="0">
                          <a:solidFill>
                            <a:srgbClr val="52514E"/>
                          </a:solidFill>
                          <a:latin typeface="Helvetica Neue"/>
                        </a:rPr>
                        <a:t>Climate only; no satellite, no seasons</a:t>
                      </a:r>
                    </a:p>
                  </a:txBody>
                  <a:tcPr marL="91440" marR="91440">
                    <a:solidFill>
                      <a:srgbClr val="FCFCFB"/>
                    </a:solidFill>
                  </a:tcPr>
                </a:tc>
              </a:tr>
              <a:tr h="384048">
                <a:tc>
                  <a:txBody>
                    <a:bodyPr wrap="square"/>
                    <a:lstStyle/>
                    <a:p>
                      <a:pPr algn="l"/>
                      <a:r>
                        <a:rPr sz="1150" b="0" i="0">
                          <a:solidFill>
                            <a:srgbClr val="52514E"/>
                          </a:solidFill>
                          <a:latin typeface="Helvetica Neue"/>
                        </a:rPr>
                        <a:t>Sutharsan &amp; Yogendran (2023)</a:t>
                      </a:r>
                    </a:p>
                  </a:txBody>
                  <a:tcPr marL="91440" marR="91440">
                    <a:solidFill>
                      <a:srgbClr val="F7F6F4"/>
                    </a:solidFill>
                  </a:tcPr>
                </a:tc>
                <a:tc>
                  <a:txBody>
                    <a:bodyPr wrap="square"/>
                    <a:lstStyle/>
                    <a:p>
                      <a:pPr algn="l"/>
                      <a:r>
                        <a:rPr sz="1150" b="0" i="0">
                          <a:solidFill>
                            <a:srgbClr val="52514E"/>
                          </a:solidFill>
                          <a:latin typeface="Helvetica Neue"/>
                        </a:rPr>
                        <a:t>Red onion / Sri Lanka</a:t>
                      </a:r>
                    </a:p>
                  </a:txBody>
                  <a:tcPr marL="91440" marR="91440">
                    <a:solidFill>
                      <a:srgbClr val="F7F6F4"/>
                    </a:solidFill>
                  </a:tcPr>
                </a:tc>
                <a:tc>
                  <a:txBody>
                    <a:bodyPr wrap="square"/>
                    <a:lstStyle/>
                    <a:p>
                      <a:pPr algn="l"/>
                      <a:r>
                        <a:rPr sz="1150" b="0" i="0">
                          <a:solidFill>
                            <a:srgbClr val="52514E"/>
                          </a:solidFill>
                          <a:latin typeface="Helvetica Neue"/>
                        </a:rPr>
                        <a:t>Multiple regressors</a:t>
                      </a:r>
                    </a:p>
                  </a:txBody>
                  <a:tcPr marL="91440" marR="91440">
                    <a:solidFill>
                      <a:srgbClr val="F7F6F4"/>
                    </a:solidFill>
                  </a:tcPr>
                </a:tc>
                <a:tc>
                  <a:txBody>
                    <a:bodyPr wrap="square"/>
                    <a:lstStyle/>
                    <a:p>
                      <a:pPr algn="l"/>
                      <a:r>
                        <a:rPr sz="1150" b="0" i="0">
                          <a:solidFill>
                            <a:srgbClr val="52514E"/>
                          </a:solidFill>
                          <a:latin typeface="Helvetica Neue"/>
                        </a:rPr>
                        <a:t>Predicts price, not yield</a:t>
                      </a:r>
                    </a:p>
                  </a:txBody>
                  <a:tcPr marL="91440" marR="91440">
                    <a:solidFill>
                      <a:srgbClr val="F7F6F4"/>
                    </a:solidFill>
                  </a:tcPr>
                </a:tc>
              </a:tr>
            </a:tbl>
          </a:graphicData>
        </a:graphic>
      </p:graphicFrame>
      <p:sp>
        <p:nvSpPr>
          <p:cNvPr id="6" name="Rectangle 5"/>
          <p:cNvSpPr/>
          <p:nvPr/>
        </p:nvSpPr>
        <p:spPr>
          <a:xfrm>
            <a:off x="777240" y="5623560"/>
            <a:ext cx="10637215" cy="731520"/>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5623560"/>
            <a:ext cx="54864" cy="7315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88575" cy="731520"/>
          </a:xfrm>
          <a:prstGeom prst="rect">
            <a:avLst/>
          </a:prstGeom>
          <a:noFill/>
        </p:spPr>
        <p:txBody>
          <a:bodyPr wrap="square" anchor="ctr" lIns="0" rIns="0" tIns="0" bIns="0">
            <a:spAutoFit/>
          </a:bodyPr>
          <a:lstStyle/>
          <a:p>
            <a:pPr algn="l">
              <a:spcBef>
                <a:spcPts val="0"/>
              </a:spcBef>
              <a:spcAft>
                <a:spcPts val="600"/>
              </a:spcAft>
            </a:pPr>
            <a:r>
              <a:rPr sz="1500" b="1" i="0">
                <a:solidFill>
                  <a:srgbClr val="0D366B"/>
                </a:solidFill>
                <a:latin typeface="Helvetica Neue"/>
              </a:rPr>
              <a:t>No published work predicts big onion yield for Sri Lankan districts.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274320"/>
          </a:xfrm>
          <a:prstGeom prst="rect">
            <a:avLst/>
          </a:prstGeom>
          <a:noFill/>
        </p:spPr>
        <p:txBody>
          <a:bodyPr wrap="square" anchor="t" lIns="0" rIns="0" tIns="0" bIns="0">
            <a:spAutoFit/>
          </a:bodyPr>
          <a:lstStyle/>
          <a:p>
            <a:pPr algn="l">
              <a:spcBef>
                <a:spcPts val="0"/>
              </a:spcBef>
              <a:spcAft>
                <a:spcPts val="600"/>
              </a:spcAft>
            </a:pPr>
            <a:r>
              <a:rPr sz="1200" b="1" i="0">
                <a:solidFill>
                  <a:srgbClr val="EB6834"/>
                </a:solidFill>
                <a:latin typeface="Helvetica Neue"/>
              </a:rPr>
              <a:t>RELATED WORK</a:t>
            </a:r>
          </a:p>
        </p:txBody>
      </p:sp>
      <p:sp>
        <p:nvSpPr>
          <p:cNvPr id="4" name="TextBox 3"/>
          <p:cNvSpPr txBox="1"/>
          <p:nvPr/>
        </p:nvSpPr>
        <p:spPr>
          <a:xfrm>
            <a:off x="777240" y="914400"/>
            <a:ext cx="10637215" cy="548640"/>
          </a:xfrm>
          <a:prstGeom prst="rect">
            <a:avLst/>
          </a:prstGeom>
          <a:noFill/>
        </p:spPr>
        <p:txBody>
          <a:bodyPr wrap="square" anchor="t" lIns="0" rIns="0" tIns="0" bIns="0">
            <a:spAutoFit/>
          </a:bodyPr>
          <a:lstStyle/>
          <a:p>
            <a:pPr algn="l">
              <a:spcBef>
                <a:spcPts val="0"/>
              </a:spcBef>
              <a:spcAft>
                <a:spcPts val="600"/>
              </a:spcAft>
            </a:pPr>
            <a:r>
              <a:rPr sz="2800" b="1" i="0">
                <a:solidFill>
                  <a:srgbClr val="0D366B"/>
                </a:solidFill>
                <a:latin typeface="Helvetica Neue"/>
              </a:rPr>
              <a:t>Five gaps we target</a:t>
            </a:r>
          </a:p>
        </p:txBody>
      </p:sp>
      <p:sp>
        <p:nvSpPr>
          <p:cNvPr id="5" name="TextBox 4"/>
          <p:cNvSpPr txBox="1"/>
          <p:nvPr/>
        </p:nvSpPr>
        <p:spPr>
          <a:xfrm>
            <a:off x="777240" y="1691640"/>
            <a:ext cx="10637215" cy="3749040"/>
          </a:xfrm>
          <a:prstGeom prst="rect">
            <a:avLst/>
          </a:prstGeom>
          <a:noFill/>
        </p:spPr>
        <p:txBody>
          <a:bodyPr wrap="square" anchor="t" lIns="0" rIns="0" tIns="0" bIns="0">
            <a:spAutoFit/>
          </a:bodyPr>
          <a:lstStyle/>
          <a:p>
            <a:pPr algn="l">
              <a:lnSpc>
                <a:spcPct val="122000"/>
              </a:lnSpc>
              <a:spcBef>
                <a:spcPts val="0"/>
              </a:spcBef>
              <a:spcAft>
                <a:spcPts val="200"/>
              </a:spcAft>
            </a:pPr>
            <a:r>
              <a:rPr sz="1700" b="1" i="0">
                <a:solidFill>
                  <a:srgbClr val="EB6834"/>
                </a:solidFill>
                <a:latin typeface="Helvetica Neue"/>
              </a:rPr>
              <a:t>▸  </a:t>
            </a:r>
            <a:r>
              <a:rPr sz="1700" b="1" i="0">
                <a:solidFill>
                  <a:srgbClr val="0B0B0B"/>
                </a:solidFill>
                <a:latin typeface="Helvetica Neue"/>
              </a:rPr>
              <a:t>Gap 1  </a:t>
            </a:r>
            <a:r>
              <a:rPr sz="1700" b="0" i="0">
                <a:solidFill>
                  <a:srgbClr val="52514E"/>
                </a:solidFill>
                <a:latin typeface="Helvetica Neue"/>
              </a:rPr>
              <a:t>no big onion yield prediction system exists for Sri Lanka</a:t>
            </a:r>
          </a:p>
          <a:p>
            <a:pPr algn="l">
              <a:lnSpc>
                <a:spcPct val="122000"/>
              </a:lnSpc>
              <a:spcBef>
                <a:spcPts val="1100"/>
              </a:spcBef>
              <a:spcAft>
                <a:spcPts val="200"/>
              </a:spcAft>
            </a:pPr>
            <a:r>
              <a:rPr sz="1700" b="1" i="0">
                <a:solidFill>
                  <a:srgbClr val="EB6834"/>
                </a:solidFill>
                <a:latin typeface="Helvetica Neue"/>
              </a:rPr>
              <a:t>▸  </a:t>
            </a:r>
            <a:r>
              <a:rPr sz="1700" b="1" i="0">
                <a:solidFill>
                  <a:srgbClr val="0B0B0B"/>
                </a:solidFill>
                <a:latin typeface="Helvetica Neue"/>
              </a:rPr>
              <a:t>Gap 2  </a:t>
            </a:r>
            <a:r>
              <a:rPr sz="1700" b="0" i="0">
                <a:solidFill>
                  <a:srgbClr val="52514E"/>
                </a:solidFill>
                <a:latin typeface="Helvetica Neue"/>
              </a:rPr>
              <a:t>no guidance on model choice under severe data scarcity for vegetables</a:t>
            </a:r>
          </a:p>
          <a:p>
            <a:pPr algn="l">
              <a:lnSpc>
                <a:spcPct val="122000"/>
              </a:lnSpc>
              <a:spcBef>
                <a:spcPts val="1100"/>
              </a:spcBef>
              <a:spcAft>
                <a:spcPts val="200"/>
              </a:spcAft>
            </a:pPr>
            <a:r>
              <a:rPr sz="1700" b="1" i="0">
                <a:solidFill>
                  <a:srgbClr val="EB6834"/>
                </a:solidFill>
                <a:latin typeface="Helvetica Neue"/>
              </a:rPr>
              <a:t>▸  </a:t>
            </a:r>
            <a:r>
              <a:rPr sz="1700" b="1" i="0">
                <a:solidFill>
                  <a:srgbClr val="0B0B0B"/>
                </a:solidFill>
                <a:latin typeface="Helvetica Neue"/>
              </a:rPr>
              <a:t>Gap 3  </a:t>
            </a:r>
            <a:r>
              <a:rPr sz="1700" b="0" i="0">
                <a:solidFill>
                  <a:srgbClr val="52514E"/>
                </a:solidFill>
                <a:latin typeface="Helvetica Neue"/>
              </a:rPr>
              <a:t>mechanistic and learned components are rarely combined at this scale</a:t>
            </a:r>
          </a:p>
          <a:p>
            <a:pPr algn="l">
              <a:lnSpc>
                <a:spcPct val="122000"/>
              </a:lnSpc>
              <a:spcBef>
                <a:spcPts val="1100"/>
              </a:spcBef>
              <a:spcAft>
                <a:spcPts val="200"/>
              </a:spcAft>
            </a:pPr>
            <a:r>
              <a:rPr sz="1700" b="1" i="0">
                <a:solidFill>
                  <a:srgbClr val="EB6834"/>
                </a:solidFill>
                <a:latin typeface="Helvetica Neue"/>
              </a:rPr>
              <a:t>▸  </a:t>
            </a:r>
            <a:r>
              <a:rPr sz="1700" b="1" i="0">
                <a:solidFill>
                  <a:srgbClr val="0B0B0B"/>
                </a:solidFill>
                <a:latin typeface="Helvetica Neue"/>
              </a:rPr>
              <a:t>Gap 4  </a:t>
            </a:r>
            <a:r>
              <a:rPr sz="1700" b="0" i="0">
                <a:solidFill>
                  <a:srgbClr val="52514E"/>
                </a:solidFill>
                <a:latin typeface="Helvetica Neue"/>
              </a:rPr>
              <a:t>bimodal Yala/Maha seasonality is not represented architecturally</a:t>
            </a:r>
          </a:p>
          <a:p>
            <a:pPr algn="l">
              <a:lnSpc>
                <a:spcPct val="122000"/>
              </a:lnSpc>
              <a:spcBef>
                <a:spcPts val="1100"/>
              </a:spcBef>
              <a:spcAft>
                <a:spcPts val="200"/>
              </a:spcAft>
            </a:pPr>
            <a:r>
              <a:rPr sz="1700" b="1" i="0">
                <a:solidFill>
                  <a:srgbClr val="EB6834"/>
                </a:solidFill>
                <a:latin typeface="Helvetica Neue"/>
              </a:rPr>
              <a:t>▸  </a:t>
            </a:r>
            <a:r>
              <a:rPr sz="1700" b="1" i="0">
                <a:solidFill>
                  <a:srgbClr val="0B0B0B"/>
                </a:solidFill>
                <a:latin typeface="Helvetica Neue"/>
              </a:rPr>
              <a:t>Gap 5  </a:t>
            </a:r>
            <a:r>
              <a:rPr sz="1700" b="0" i="0">
                <a:solidFill>
                  <a:srgbClr val="52514E"/>
                </a:solidFill>
                <a:latin typeface="Helvetica Neue"/>
              </a:rPr>
              <a:t>no decomposition of which data source is worth paying for</a:t>
            </a:r>
          </a:p>
        </p:txBody>
      </p:sp>
      <p:sp>
        <p:nvSpPr>
          <p:cNvPr id="6" name="Rectangle 5"/>
          <p:cNvSpPr/>
          <p:nvPr/>
        </p:nvSpPr>
        <p:spPr>
          <a:xfrm>
            <a:off x="777240" y="5623560"/>
            <a:ext cx="10637215" cy="731520"/>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5623560"/>
            <a:ext cx="54864" cy="7315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88575" cy="731520"/>
          </a:xfrm>
          <a:prstGeom prst="rect">
            <a:avLst/>
          </a:prstGeom>
          <a:noFill/>
        </p:spPr>
        <p:txBody>
          <a:bodyPr wrap="square" anchor="ctr" lIns="0" rIns="0" tIns="0" bIns="0">
            <a:spAutoFit/>
          </a:bodyPr>
          <a:lstStyle/>
          <a:p>
            <a:pPr algn="l">
              <a:spcBef>
                <a:spcPts val="0"/>
              </a:spcBef>
              <a:spcAft>
                <a:spcPts val="600"/>
              </a:spcAft>
            </a:pPr>
            <a:r>
              <a:rPr sz="1500" b="1" i="0">
                <a:solidFill>
                  <a:srgbClr val="0D366B"/>
                </a:solidFill>
                <a:latin typeface="Helvetica Neue"/>
              </a:rPr>
              <a:t>Each gap maps to one contribution in this project — we return to this map at the end.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9264C"/>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1560" y="2377440"/>
            <a:ext cx="9601200" cy="457200"/>
          </a:xfrm>
          <a:prstGeom prst="rect">
            <a:avLst/>
          </a:prstGeom>
          <a:noFill/>
        </p:spPr>
        <p:txBody>
          <a:bodyPr wrap="square" anchor="t" lIns="0" rIns="0" tIns="0" bIns="0">
            <a:spAutoFit/>
          </a:bodyPr>
          <a:lstStyle/>
          <a:p>
            <a:pPr algn="l">
              <a:spcBef>
                <a:spcPts val="0"/>
              </a:spcBef>
              <a:spcAft>
                <a:spcPts val="600"/>
              </a:spcAft>
            </a:pPr>
            <a:r>
              <a:rPr sz="1600" b="1" i="0">
                <a:solidFill>
                  <a:srgbClr val="EB6834"/>
                </a:solidFill>
                <a:latin typeface="Helvetica Neue"/>
              </a:rPr>
              <a:t>02</a:t>
            </a:r>
          </a:p>
        </p:txBody>
      </p:sp>
      <p:sp>
        <p:nvSpPr>
          <p:cNvPr id="4" name="TextBox 3"/>
          <p:cNvSpPr txBox="1"/>
          <p:nvPr/>
        </p:nvSpPr>
        <p:spPr>
          <a:xfrm>
            <a:off x="1051560" y="2834640"/>
            <a:ext cx="9601200" cy="914400"/>
          </a:xfrm>
          <a:prstGeom prst="rect">
            <a:avLst/>
          </a:prstGeom>
          <a:noFill/>
        </p:spPr>
        <p:txBody>
          <a:bodyPr wrap="square" anchor="t" lIns="0" rIns="0" tIns="0" bIns="0">
            <a:spAutoFit/>
          </a:bodyPr>
          <a:lstStyle/>
          <a:p>
            <a:pPr algn="l">
              <a:spcBef>
                <a:spcPts val="0"/>
              </a:spcBef>
              <a:spcAft>
                <a:spcPts val="600"/>
              </a:spcAft>
            </a:pPr>
            <a:r>
              <a:rPr sz="3600" b="1" i="0">
                <a:solidFill>
                  <a:srgbClr val="FFFFFF"/>
                </a:solidFill>
                <a:latin typeface="Helvetica Neue"/>
              </a:rPr>
              <a:t>Our approach</a:t>
            </a:r>
          </a:p>
        </p:txBody>
      </p:sp>
      <p:sp>
        <p:nvSpPr>
          <p:cNvPr id="5" name="TextBox 4"/>
          <p:cNvSpPr txBox="1"/>
          <p:nvPr/>
        </p:nvSpPr>
        <p:spPr>
          <a:xfrm>
            <a:off x="1051560" y="3886200"/>
            <a:ext cx="8686800" cy="914400"/>
          </a:xfrm>
          <a:prstGeom prst="rect">
            <a:avLst/>
          </a:prstGeom>
          <a:noFill/>
        </p:spPr>
        <p:txBody>
          <a:bodyPr wrap="square" anchor="t" lIns="0" rIns="0" tIns="0" bIns="0">
            <a:spAutoFit/>
          </a:bodyPr>
          <a:lstStyle/>
          <a:p>
            <a:pPr algn="l">
              <a:lnSpc>
                <a:spcPct val="130000"/>
              </a:lnSpc>
              <a:spcBef>
                <a:spcPts val="0"/>
              </a:spcBef>
              <a:spcAft>
                <a:spcPts val="600"/>
              </a:spcAft>
            </a:pPr>
            <a:r>
              <a:rPr sz="1700" b="0" i="0">
                <a:solidFill>
                  <a:srgbClr val="CDE2FB"/>
                </a:solidFill>
                <a:latin typeface="Helvetica Neue"/>
              </a:rPr>
              <a:t>Four data streams reduced to one grain, 32 engineered predictors, nine models, and an evaluation protocol built to not flatter us.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274320"/>
          </a:xfrm>
          <a:prstGeom prst="rect">
            <a:avLst/>
          </a:prstGeom>
          <a:noFill/>
        </p:spPr>
        <p:txBody>
          <a:bodyPr wrap="square" anchor="t" lIns="0" rIns="0" tIns="0" bIns="0">
            <a:spAutoFit/>
          </a:bodyPr>
          <a:lstStyle/>
          <a:p>
            <a:pPr algn="l">
              <a:spcBef>
                <a:spcPts val="0"/>
              </a:spcBef>
              <a:spcAft>
                <a:spcPts val="600"/>
              </a:spcAft>
            </a:pPr>
            <a:r>
              <a:rPr sz="1200" b="1" i="0">
                <a:solidFill>
                  <a:srgbClr val="EB6834"/>
                </a:solidFill>
                <a:latin typeface="Helvetica Neue"/>
              </a:rPr>
              <a:t>OUR APPROACH</a:t>
            </a:r>
          </a:p>
        </p:txBody>
      </p:sp>
      <p:sp>
        <p:nvSpPr>
          <p:cNvPr id="4" name="TextBox 3"/>
          <p:cNvSpPr txBox="1"/>
          <p:nvPr/>
        </p:nvSpPr>
        <p:spPr>
          <a:xfrm>
            <a:off x="777240" y="914400"/>
            <a:ext cx="10637215" cy="548640"/>
          </a:xfrm>
          <a:prstGeom prst="rect">
            <a:avLst/>
          </a:prstGeom>
          <a:noFill/>
        </p:spPr>
        <p:txBody>
          <a:bodyPr wrap="square" anchor="t" lIns="0" rIns="0" tIns="0" bIns="0">
            <a:spAutoFit/>
          </a:bodyPr>
          <a:lstStyle/>
          <a:p>
            <a:pPr algn="l">
              <a:spcBef>
                <a:spcPts val="0"/>
              </a:spcBef>
              <a:spcAft>
                <a:spcPts val="600"/>
              </a:spcAft>
            </a:pPr>
            <a:r>
              <a:rPr sz="2800" b="1" i="0">
                <a:solidFill>
                  <a:srgbClr val="0D366B"/>
                </a:solidFill>
                <a:latin typeface="Helvetica Neue"/>
              </a:rPr>
              <a:t>Top-level system architecture</a:t>
            </a:r>
          </a:p>
        </p:txBody>
      </p:sp>
      <p:pic>
        <p:nvPicPr>
          <p:cNvPr id="5" name="Picture 4" descr="figure_4_1_system_architecture.png"/>
          <p:cNvPicPr>
            <a:picLocks noChangeAspect="1"/>
          </p:cNvPicPr>
          <p:nvPr/>
        </p:nvPicPr>
        <p:blipFill>
          <a:blip r:embed="rId2"/>
          <a:stretch>
            <a:fillRect/>
          </a:stretch>
        </p:blipFill>
        <p:spPr>
          <a:xfrm>
            <a:off x="2706630" y="1783080"/>
            <a:ext cx="6778434" cy="4343400"/>
          </a:xfrm>
          <a:prstGeom prst="rect">
            <a:avLst/>
          </a:prstGeom>
        </p:spPr>
      </p:pic>
      <p:sp>
        <p:nvSpPr>
          <p:cNvPr id="6" name="TextBox 5"/>
          <p:cNvSpPr txBox="1"/>
          <p:nvPr/>
        </p:nvSpPr>
        <p:spPr>
          <a:xfrm>
            <a:off x="777240" y="6272784"/>
            <a:ext cx="10637215" cy="457200"/>
          </a:xfrm>
          <a:prstGeom prst="rect">
            <a:avLst/>
          </a:prstGeom>
          <a:noFill/>
        </p:spPr>
        <p:txBody>
          <a:bodyPr wrap="square" anchor="t" lIns="0" rIns="0" tIns="0" bIns="0">
            <a:spAutoFit/>
          </a:bodyPr>
          <a:lstStyle/>
          <a:p>
            <a:pPr algn="l">
              <a:spcBef>
                <a:spcPts val="0"/>
              </a:spcBef>
              <a:spcAft>
                <a:spcPts val="600"/>
              </a:spcAft>
            </a:pPr>
            <a:r>
              <a:rPr sz="1300" b="0" i="0">
                <a:solidFill>
                  <a:srgbClr val="8A8983"/>
                </a:solidFill>
                <a:latin typeface="Helvetica Neue"/>
              </a:rPr>
              <a:t>Data integration → modelling and evaluation → REST serving → dashboard. Modules are separated by file and HTTP interfaces.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274320"/>
          </a:xfrm>
          <a:prstGeom prst="rect">
            <a:avLst/>
          </a:prstGeom>
          <a:noFill/>
        </p:spPr>
        <p:txBody>
          <a:bodyPr wrap="square" anchor="t" lIns="0" rIns="0" tIns="0" bIns="0">
            <a:spAutoFit/>
          </a:bodyPr>
          <a:lstStyle/>
          <a:p>
            <a:pPr algn="l">
              <a:spcBef>
                <a:spcPts val="0"/>
              </a:spcBef>
              <a:spcAft>
                <a:spcPts val="600"/>
              </a:spcAft>
            </a:pPr>
            <a:r>
              <a:rPr sz="1200" b="1" i="0">
                <a:solidFill>
                  <a:srgbClr val="EB6834"/>
                </a:solidFill>
                <a:latin typeface="Helvetica Neue"/>
              </a:rPr>
              <a:t>OUR APPROACH</a:t>
            </a:r>
          </a:p>
        </p:txBody>
      </p:sp>
      <p:sp>
        <p:nvSpPr>
          <p:cNvPr id="4" name="TextBox 3"/>
          <p:cNvSpPr txBox="1"/>
          <p:nvPr/>
        </p:nvSpPr>
        <p:spPr>
          <a:xfrm>
            <a:off x="777240" y="914400"/>
            <a:ext cx="10637215" cy="548640"/>
          </a:xfrm>
          <a:prstGeom prst="rect">
            <a:avLst/>
          </a:prstGeom>
          <a:noFill/>
        </p:spPr>
        <p:txBody>
          <a:bodyPr wrap="square" anchor="t" lIns="0" rIns="0" tIns="0" bIns="0">
            <a:spAutoFit/>
          </a:bodyPr>
          <a:lstStyle/>
          <a:p>
            <a:pPr algn="l">
              <a:spcBef>
                <a:spcPts val="0"/>
              </a:spcBef>
              <a:spcAft>
                <a:spcPts val="600"/>
              </a:spcAft>
            </a:pPr>
            <a:r>
              <a:rPr sz="2800" b="1" i="0">
                <a:solidFill>
                  <a:srgbClr val="0D366B"/>
                </a:solidFill>
                <a:latin typeface="Helvetica Neue"/>
              </a:rPr>
              <a:t>Four data streams, one grain</a:t>
            </a:r>
          </a:p>
        </p:txBody>
      </p:sp>
      <p:graphicFrame>
        <p:nvGraphicFramePr>
          <p:cNvPr id="5" name="Table 4"/>
          <p:cNvGraphicFramePr>
            <a:graphicFrameLocks noGrp="1"/>
          </p:cNvGraphicFramePr>
          <p:nvPr/>
        </p:nvGraphicFramePr>
        <p:xfrm>
          <a:off x="777240" y="1920240"/>
          <a:ext cx="10637213" cy="2304288"/>
        </p:xfrm>
        <a:graphic>
          <a:graphicData uri="http://schemas.openxmlformats.org/drawingml/2006/table">
            <a:tbl>
              <a:tblPr firstRow="1" bandRow="1">
                <a:tableStyleId>{5C22544A-7EE6-4342-B048-85BDC9FD1C3A}</a:tableStyleId>
              </a:tblPr>
              <a:tblGrid>
                <a:gridCol w="2015472"/>
                <a:gridCol w="2911237"/>
                <a:gridCol w="2239413"/>
                <a:gridCol w="3471091"/>
              </a:tblGrid>
              <a:tr h="384048">
                <a:tc>
                  <a:txBody>
                    <a:bodyPr wrap="square"/>
                    <a:lstStyle/>
                    <a:p>
                      <a:pPr algn="l"/>
                      <a:r>
                        <a:rPr sz="1200" b="1" i="0">
                          <a:solidFill>
                            <a:srgbClr val="FFFFFF"/>
                          </a:solidFill>
                          <a:latin typeface="Helvetica Neue"/>
                        </a:rPr>
                        <a:t>Stream</a:t>
                      </a:r>
                    </a:p>
                  </a:txBody>
                  <a:tcPr marL="91440" marR="91440">
                    <a:solidFill>
                      <a:srgbClr val="0D366B"/>
                    </a:solidFill>
                  </a:tcPr>
                </a:tc>
                <a:tc>
                  <a:txBody>
                    <a:bodyPr wrap="square"/>
                    <a:lstStyle/>
                    <a:p>
                      <a:pPr algn="l"/>
                      <a:r>
                        <a:rPr sz="1200" b="1" i="0">
                          <a:solidFill>
                            <a:srgbClr val="FFFFFF"/>
                          </a:solidFill>
                          <a:latin typeface="Helvetica Neue"/>
                        </a:rPr>
                        <a:t>Source</a:t>
                      </a:r>
                    </a:p>
                  </a:txBody>
                  <a:tcPr marL="91440" marR="91440">
                    <a:solidFill>
                      <a:srgbClr val="0D366B"/>
                    </a:solidFill>
                  </a:tcPr>
                </a:tc>
                <a:tc>
                  <a:txBody>
                    <a:bodyPr wrap="square"/>
                    <a:lstStyle/>
                    <a:p>
                      <a:pPr algn="l"/>
                      <a:r>
                        <a:rPr sz="1200" b="1" i="0">
                          <a:solidFill>
                            <a:srgbClr val="FFFFFF"/>
                          </a:solidFill>
                          <a:latin typeface="Helvetica Neue"/>
                        </a:rPr>
                        <a:t>Native grain</a:t>
                      </a:r>
                    </a:p>
                  </a:txBody>
                  <a:tcPr marL="91440" marR="91440">
                    <a:solidFill>
                      <a:srgbClr val="0D366B"/>
                    </a:solidFill>
                  </a:tcPr>
                </a:tc>
                <a:tc>
                  <a:txBody>
                    <a:bodyPr wrap="square"/>
                    <a:lstStyle/>
                    <a:p>
                      <a:pPr algn="l"/>
                      <a:r>
                        <a:rPr sz="1200" b="1" i="0">
                          <a:solidFill>
                            <a:srgbClr val="FFFFFF"/>
                          </a:solidFill>
                          <a:latin typeface="Helvetica Neue"/>
                        </a:rPr>
                        <a:t>Role</a:t>
                      </a:r>
                    </a:p>
                  </a:txBody>
                  <a:tcPr marL="91440" marR="91440">
                    <a:solidFill>
                      <a:srgbClr val="0D366B"/>
                    </a:solidFill>
                  </a:tcPr>
                </a:tc>
              </a:tr>
              <a:tr h="384048">
                <a:tc>
                  <a:txBody>
                    <a:bodyPr wrap="square"/>
                    <a:lstStyle/>
                    <a:p>
                      <a:pPr algn="l"/>
                      <a:r>
                        <a:rPr sz="1150" b="0" i="0">
                          <a:solidFill>
                            <a:srgbClr val="52514E"/>
                          </a:solidFill>
                          <a:latin typeface="Helvetica Neue"/>
                        </a:rPr>
                        <a:t>District yield</a:t>
                      </a:r>
                    </a:p>
                  </a:txBody>
                  <a:tcPr marL="91440" marR="91440">
                    <a:solidFill>
                      <a:srgbClr val="F7F6F4"/>
                    </a:solidFill>
                  </a:tcPr>
                </a:tc>
                <a:tc>
                  <a:txBody>
                    <a:bodyPr wrap="square"/>
                    <a:lstStyle/>
                    <a:p>
                      <a:pPr algn="l"/>
                      <a:r>
                        <a:rPr sz="1150" b="0" i="0">
                          <a:solidFill>
                            <a:srgbClr val="52514E"/>
                          </a:solidFill>
                          <a:latin typeface="Helvetica Neue"/>
                        </a:rPr>
                        <a:t>DCS Sri Lanka; FAOSTAT</a:t>
                      </a:r>
                    </a:p>
                  </a:txBody>
                  <a:tcPr marL="91440" marR="91440">
                    <a:solidFill>
                      <a:srgbClr val="F7F6F4"/>
                    </a:solidFill>
                  </a:tcPr>
                </a:tc>
                <a:tc>
                  <a:txBody>
                    <a:bodyPr wrap="square"/>
                    <a:lstStyle/>
                    <a:p>
                      <a:pPr algn="l"/>
                      <a:r>
                        <a:rPr sz="1150" b="0" i="0">
                          <a:solidFill>
                            <a:srgbClr val="52514E"/>
                          </a:solidFill>
                          <a:latin typeface="Helvetica Neue"/>
                        </a:rPr>
                        <a:t>District · season · year</a:t>
                      </a:r>
                    </a:p>
                  </a:txBody>
                  <a:tcPr marL="91440" marR="91440">
                    <a:solidFill>
                      <a:srgbClr val="F7F6F4"/>
                    </a:solidFill>
                  </a:tcPr>
                </a:tc>
                <a:tc>
                  <a:txBody>
                    <a:bodyPr wrap="square"/>
                    <a:lstStyle/>
                    <a:p>
                      <a:pPr algn="l"/>
                      <a:r>
                        <a:rPr sz="1150" b="0" i="0">
                          <a:solidFill>
                            <a:srgbClr val="52514E"/>
                          </a:solidFill>
                          <a:latin typeface="Helvetica Neue"/>
                        </a:rPr>
                        <a:t>Target and yield-history predictors</a:t>
                      </a:r>
                    </a:p>
                  </a:txBody>
                  <a:tcPr marL="91440" marR="91440">
                    <a:solidFill>
                      <a:srgbClr val="F7F6F4"/>
                    </a:solidFill>
                  </a:tcPr>
                </a:tc>
              </a:tr>
              <a:tr h="384048">
                <a:tc>
                  <a:txBody>
                    <a:bodyPr wrap="square"/>
                    <a:lstStyle/>
                    <a:p>
                      <a:pPr algn="l"/>
                      <a:r>
                        <a:rPr sz="1150" b="0" i="0">
                          <a:solidFill>
                            <a:srgbClr val="52514E"/>
                          </a:solidFill>
                          <a:latin typeface="Helvetica Neue"/>
                        </a:rPr>
                        <a:t>Daily weather</a:t>
                      </a:r>
                    </a:p>
                  </a:txBody>
                  <a:tcPr marL="91440" marR="91440">
                    <a:solidFill>
                      <a:srgbClr val="FCFCFB"/>
                    </a:solidFill>
                  </a:tcPr>
                </a:tc>
                <a:tc>
                  <a:txBody>
                    <a:bodyPr wrap="square"/>
                    <a:lstStyle/>
                    <a:p>
                      <a:pPr algn="l"/>
                      <a:r>
                        <a:rPr sz="1150" b="0" i="0">
                          <a:solidFill>
                            <a:srgbClr val="52514E"/>
                          </a:solidFill>
                          <a:latin typeface="Helvetica Neue"/>
                        </a:rPr>
                        <a:t>NASA POWER; CHIRPS</a:t>
                      </a:r>
                    </a:p>
                  </a:txBody>
                  <a:tcPr marL="91440" marR="91440">
                    <a:solidFill>
                      <a:srgbClr val="FCFCFB"/>
                    </a:solidFill>
                  </a:tcPr>
                </a:tc>
                <a:tc>
                  <a:txBody>
                    <a:bodyPr wrap="square"/>
                    <a:lstStyle/>
                    <a:p>
                      <a:pPr algn="l"/>
                      <a:r>
                        <a:rPr sz="1150" b="0" i="0">
                          <a:solidFill>
                            <a:srgbClr val="52514E"/>
                          </a:solidFill>
                          <a:latin typeface="Helvetica Neue"/>
                        </a:rPr>
                        <a:t>Daily</a:t>
                      </a:r>
                    </a:p>
                  </a:txBody>
                  <a:tcPr marL="91440" marR="91440">
                    <a:solidFill>
                      <a:srgbClr val="FCFCFB"/>
                    </a:solidFill>
                  </a:tcPr>
                </a:tc>
                <a:tc>
                  <a:txBody>
                    <a:bodyPr wrap="square"/>
                    <a:lstStyle/>
                    <a:p>
                      <a:pPr algn="l"/>
                      <a:r>
                        <a:rPr sz="1150" b="0" i="0">
                          <a:solidFill>
                            <a:srgbClr val="52514E"/>
                          </a:solidFill>
                          <a:latin typeface="Helvetica Neue"/>
                        </a:rPr>
                        <a:t>Temperature, rainfall, humidity, radiation</a:t>
                      </a:r>
                    </a:p>
                  </a:txBody>
                  <a:tcPr marL="91440" marR="91440">
                    <a:solidFill>
                      <a:srgbClr val="FCFCFB"/>
                    </a:solidFill>
                  </a:tcPr>
                </a:tc>
              </a:tr>
              <a:tr h="384048">
                <a:tc>
                  <a:txBody>
                    <a:bodyPr wrap="square"/>
                    <a:lstStyle/>
                    <a:p>
                      <a:pPr algn="l"/>
                      <a:r>
                        <a:rPr sz="1150" b="0" i="0">
                          <a:solidFill>
                            <a:srgbClr val="52514E"/>
                          </a:solidFill>
                          <a:latin typeface="Helvetica Neue"/>
                        </a:rPr>
                        <a:t>Vegetation indices</a:t>
                      </a:r>
                    </a:p>
                  </a:txBody>
                  <a:tcPr marL="91440" marR="91440">
                    <a:solidFill>
                      <a:srgbClr val="F7F6F4"/>
                    </a:solidFill>
                  </a:tcPr>
                </a:tc>
                <a:tc>
                  <a:txBody>
                    <a:bodyPr wrap="square"/>
                    <a:lstStyle/>
                    <a:p>
                      <a:pPr algn="l"/>
                      <a:r>
                        <a:rPr sz="1150" b="0" i="0">
                          <a:solidFill>
                            <a:srgbClr val="52514E"/>
                          </a:solidFill>
                          <a:latin typeface="Helvetica Neue"/>
                        </a:rPr>
                        <a:t>MODIS, Sentinel-2 via Earth Engine</a:t>
                      </a:r>
                    </a:p>
                  </a:txBody>
                  <a:tcPr marL="91440" marR="91440">
                    <a:solidFill>
                      <a:srgbClr val="F7F6F4"/>
                    </a:solidFill>
                  </a:tcPr>
                </a:tc>
                <a:tc>
                  <a:txBody>
                    <a:bodyPr wrap="square"/>
                    <a:lstStyle/>
                    <a:p>
                      <a:pPr algn="l"/>
                      <a:r>
                        <a:rPr sz="1150" b="0" i="0">
                          <a:solidFill>
                            <a:srgbClr val="52514E"/>
                          </a:solidFill>
                          <a:latin typeface="Helvetica Neue"/>
                        </a:rPr>
                        <a:t>5–16 day composite</a:t>
                      </a:r>
                    </a:p>
                  </a:txBody>
                  <a:tcPr marL="91440" marR="91440">
                    <a:solidFill>
                      <a:srgbClr val="F7F6F4"/>
                    </a:solidFill>
                  </a:tcPr>
                </a:tc>
                <a:tc>
                  <a:txBody>
                    <a:bodyPr wrap="square"/>
                    <a:lstStyle/>
                    <a:p>
                      <a:pPr algn="l"/>
                      <a:r>
                        <a:rPr sz="1150" b="0" i="0">
                          <a:solidFill>
                            <a:srgbClr val="52514E"/>
                          </a:solidFill>
                          <a:latin typeface="Helvetica Neue"/>
                        </a:rPr>
                        <a:t>Canopy vigour, anomaly, growth rate</a:t>
                      </a:r>
                    </a:p>
                  </a:txBody>
                  <a:tcPr marL="91440" marR="91440">
                    <a:solidFill>
                      <a:srgbClr val="F7F6F4"/>
                    </a:solidFill>
                  </a:tcPr>
                </a:tc>
              </a:tr>
              <a:tr h="384048">
                <a:tc>
                  <a:txBody>
                    <a:bodyPr wrap="square"/>
                    <a:lstStyle/>
                    <a:p>
                      <a:pPr algn="l"/>
                      <a:r>
                        <a:rPr sz="1150" b="0" i="0">
                          <a:solidFill>
                            <a:srgbClr val="52514E"/>
                          </a:solidFill>
                          <a:latin typeface="Helvetica Neue"/>
                        </a:rPr>
                        <a:t>Land surface temp.</a:t>
                      </a:r>
                    </a:p>
                  </a:txBody>
                  <a:tcPr marL="91440" marR="91440">
                    <a:solidFill>
                      <a:srgbClr val="FCFCFB"/>
                    </a:solidFill>
                  </a:tcPr>
                </a:tc>
                <a:tc>
                  <a:txBody>
                    <a:bodyPr wrap="square"/>
                    <a:lstStyle/>
                    <a:p>
                      <a:pPr algn="l"/>
                      <a:r>
                        <a:rPr sz="1150" b="0" i="0">
                          <a:solidFill>
                            <a:srgbClr val="52514E"/>
                          </a:solidFill>
                          <a:latin typeface="Helvetica Neue"/>
                        </a:rPr>
                        <a:t>MODIS MOD11A1</a:t>
                      </a:r>
                    </a:p>
                  </a:txBody>
                  <a:tcPr marL="91440" marR="91440">
                    <a:solidFill>
                      <a:srgbClr val="FCFCFB"/>
                    </a:solidFill>
                  </a:tcPr>
                </a:tc>
                <a:tc>
                  <a:txBody>
                    <a:bodyPr wrap="square"/>
                    <a:lstStyle/>
                    <a:p>
                      <a:pPr algn="l"/>
                      <a:r>
                        <a:rPr sz="1150" b="0" i="0">
                          <a:solidFill>
                            <a:srgbClr val="52514E"/>
                          </a:solidFill>
                          <a:latin typeface="Helvetica Neue"/>
                        </a:rPr>
                        <a:t>Daily, 1 km</a:t>
                      </a:r>
                    </a:p>
                  </a:txBody>
                  <a:tcPr marL="91440" marR="91440">
                    <a:solidFill>
                      <a:srgbClr val="FCFCFB"/>
                    </a:solidFill>
                  </a:tcPr>
                </a:tc>
                <a:tc>
                  <a:txBody>
                    <a:bodyPr wrap="square"/>
                    <a:lstStyle/>
                    <a:p>
                      <a:pPr algn="l"/>
                      <a:r>
                        <a:rPr sz="1150" b="0" i="0">
                          <a:solidFill>
                            <a:srgbClr val="52514E"/>
                          </a:solidFill>
                          <a:latin typeface="Helvetica Neue"/>
                        </a:rPr>
                        <a:t>Day and night thermal regime</a:t>
                      </a:r>
                    </a:p>
                  </a:txBody>
                  <a:tcPr marL="91440" marR="91440">
                    <a:solidFill>
                      <a:srgbClr val="FCFCFB"/>
                    </a:solidFill>
                  </a:tcPr>
                </a:tc>
              </a:tr>
              <a:tr h="384048">
                <a:tc>
                  <a:txBody>
                    <a:bodyPr wrap="square"/>
                    <a:lstStyle/>
                    <a:p>
                      <a:pPr algn="l"/>
                      <a:r>
                        <a:rPr sz="1150" b="0" i="0">
                          <a:solidFill>
                            <a:srgbClr val="52514E"/>
                          </a:solidFill>
                          <a:latin typeface="Helvetica Neue"/>
                        </a:rPr>
                        <a:t>Soil properties</a:t>
                      </a:r>
                    </a:p>
                  </a:txBody>
                  <a:tcPr marL="91440" marR="91440">
                    <a:solidFill>
                      <a:srgbClr val="F7F6F4"/>
                    </a:solidFill>
                  </a:tcPr>
                </a:tc>
                <a:tc>
                  <a:txBody>
                    <a:bodyPr wrap="square"/>
                    <a:lstStyle/>
                    <a:p>
                      <a:pPr algn="l"/>
                      <a:r>
                        <a:rPr sz="1150" b="0" i="0">
                          <a:solidFill>
                            <a:srgbClr val="52514E"/>
                          </a:solidFill>
                          <a:latin typeface="Helvetica Neue"/>
                        </a:rPr>
                        <a:t>ISRIC SoilGrids250m</a:t>
                      </a:r>
                    </a:p>
                  </a:txBody>
                  <a:tcPr marL="91440" marR="91440">
                    <a:solidFill>
                      <a:srgbClr val="F7F6F4"/>
                    </a:solidFill>
                  </a:tcPr>
                </a:tc>
                <a:tc>
                  <a:txBody>
                    <a:bodyPr wrap="square"/>
                    <a:lstStyle/>
                    <a:p>
                      <a:pPr algn="l"/>
                      <a:r>
                        <a:rPr sz="1150" b="0" i="0">
                          <a:solidFill>
                            <a:srgbClr val="52514E"/>
                          </a:solidFill>
                          <a:latin typeface="Helvetica Neue"/>
                        </a:rPr>
                        <a:t>Static, 250 m</a:t>
                      </a:r>
                    </a:p>
                  </a:txBody>
                  <a:tcPr marL="91440" marR="91440">
                    <a:solidFill>
                      <a:srgbClr val="F7F6F4"/>
                    </a:solidFill>
                  </a:tcPr>
                </a:tc>
                <a:tc>
                  <a:txBody>
                    <a:bodyPr wrap="square"/>
                    <a:lstStyle/>
                    <a:p>
                      <a:pPr algn="l"/>
                      <a:r>
                        <a:rPr sz="1150" b="0" i="0">
                          <a:solidFill>
                            <a:srgbClr val="52514E"/>
                          </a:solidFill>
                          <a:latin typeface="Helvetica Neue"/>
                        </a:rPr>
                        <a:t>pH, organic carbon, clay, sand</a:t>
                      </a:r>
                    </a:p>
                  </a:txBody>
                  <a:tcPr marL="91440" marR="91440">
                    <a:solidFill>
                      <a:srgbClr val="F7F6F4"/>
                    </a:solidFill>
                  </a:tcPr>
                </a:tc>
              </a:tr>
            </a:tbl>
          </a:graphicData>
        </a:graphic>
      </p:graphicFrame>
      <p:sp>
        <p:nvSpPr>
          <p:cNvPr id="6" name="Rectangle 5"/>
          <p:cNvSpPr/>
          <p:nvPr/>
        </p:nvSpPr>
        <p:spPr>
          <a:xfrm>
            <a:off x="777240" y="5623560"/>
            <a:ext cx="10637215" cy="731520"/>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5623560"/>
            <a:ext cx="54864" cy="7315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88575" cy="731520"/>
          </a:xfrm>
          <a:prstGeom prst="rect">
            <a:avLst/>
          </a:prstGeom>
          <a:noFill/>
        </p:spPr>
        <p:txBody>
          <a:bodyPr wrap="square" anchor="ctr" lIns="0" rIns="0" tIns="0" bIns="0">
            <a:spAutoFit/>
          </a:bodyPr>
          <a:lstStyle/>
          <a:p>
            <a:pPr algn="l">
              <a:spcBef>
                <a:spcPts val="0"/>
              </a:spcBef>
              <a:spcAft>
                <a:spcPts val="600"/>
              </a:spcAft>
            </a:pPr>
            <a:r>
              <a:rPr sz="1500" b="1" i="0">
                <a:solidFill>
                  <a:srgbClr val="0D366B"/>
                </a:solidFill>
                <a:latin typeface="Helvetica Neue"/>
              </a:rPr>
              <a:t>Everything is reduced to one record per district, season and year.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274320"/>
          </a:xfrm>
          <a:prstGeom prst="rect">
            <a:avLst/>
          </a:prstGeom>
          <a:noFill/>
        </p:spPr>
        <p:txBody>
          <a:bodyPr wrap="square" anchor="t" lIns="0" rIns="0" tIns="0" bIns="0">
            <a:spAutoFit/>
          </a:bodyPr>
          <a:lstStyle/>
          <a:p>
            <a:pPr algn="l">
              <a:spcBef>
                <a:spcPts val="0"/>
              </a:spcBef>
              <a:spcAft>
                <a:spcPts val="600"/>
              </a:spcAft>
            </a:pPr>
            <a:r>
              <a:rPr sz="1200" b="1" i="0">
                <a:solidFill>
                  <a:srgbClr val="EB6834"/>
                </a:solidFill>
                <a:latin typeface="Helvetica Neue"/>
              </a:rPr>
              <a:t>OUR APPROACH</a:t>
            </a:r>
          </a:p>
        </p:txBody>
      </p:sp>
      <p:sp>
        <p:nvSpPr>
          <p:cNvPr id="4" name="TextBox 3"/>
          <p:cNvSpPr txBox="1"/>
          <p:nvPr/>
        </p:nvSpPr>
        <p:spPr>
          <a:xfrm>
            <a:off x="777240" y="914400"/>
            <a:ext cx="10637215" cy="548640"/>
          </a:xfrm>
          <a:prstGeom prst="rect">
            <a:avLst/>
          </a:prstGeom>
          <a:noFill/>
        </p:spPr>
        <p:txBody>
          <a:bodyPr wrap="square" anchor="t" lIns="0" rIns="0" tIns="0" bIns="0">
            <a:spAutoFit/>
          </a:bodyPr>
          <a:lstStyle/>
          <a:p>
            <a:pPr algn="l">
              <a:spcBef>
                <a:spcPts val="0"/>
              </a:spcBef>
              <a:spcAft>
                <a:spcPts val="600"/>
              </a:spcAft>
            </a:pPr>
            <a:r>
              <a:rPr sz="2800" b="1" i="0">
                <a:solidFill>
                  <a:srgbClr val="0D366B"/>
                </a:solidFill>
                <a:latin typeface="Helvetica Neue"/>
              </a:rPr>
              <a:t>32 engineered predictors</a:t>
            </a:r>
          </a:p>
        </p:txBody>
      </p:sp>
      <p:sp>
        <p:nvSpPr>
          <p:cNvPr id="5" name="Rectangle 4"/>
          <p:cNvSpPr/>
          <p:nvPr/>
        </p:nvSpPr>
        <p:spPr>
          <a:xfrm>
            <a:off x="777240" y="1691640"/>
            <a:ext cx="45720" cy="292608"/>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691640"/>
            <a:ext cx="4884267" cy="320040"/>
          </a:xfrm>
          <a:prstGeom prst="rect">
            <a:avLst/>
          </a:prstGeom>
          <a:noFill/>
        </p:spPr>
        <p:txBody>
          <a:bodyPr wrap="square" anchor="t" lIns="0" rIns="0" tIns="0" bIns="0">
            <a:spAutoFit/>
          </a:bodyPr>
          <a:lstStyle/>
          <a:p>
            <a:pPr algn="l">
              <a:spcBef>
                <a:spcPts val="0"/>
              </a:spcBef>
              <a:spcAft>
                <a:spcPts val="600"/>
              </a:spcAft>
            </a:pPr>
            <a:r>
              <a:rPr sz="1700" b="1" i="0">
                <a:solidFill>
                  <a:srgbClr val="0D366B"/>
                </a:solidFill>
                <a:latin typeface="Helvetica Neue"/>
              </a:rPr>
              <a:t>Measured and derived</a:t>
            </a:r>
          </a:p>
        </p:txBody>
      </p:sp>
      <p:sp>
        <p:nvSpPr>
          <p:cNvPr id="7" name="TextBox 6"/>
          <p:cNvSpPr txBox="1"/>
          <p:nvPr/>
        </p:nvSpPr>
        <p:spPr>
          <a:xfrm>
            <a:off x="777240" y="2194560"/>
            <a:ext cx="5067147" cy="3200400"/>
          </a:xfrm>
          <a:prstGeom prst="rect">
            <a:avLst/>
          </a:prstGeom>
          <a:noFill/>
        </p:spPr>
        <p:txBody>
          <a:bodyPr wrap="square" anchor="t" lIns="0" rIns="0" tIns="0" bIns="0">
            <a:spAutoFit/>
          </a:bodyPr>
          <a:lstStyle/>
          <a:p>
            <a:pPr algn="l">
              <a:lnSpc>
                <a:spcPct val="120000"/>
              </a:lnSpc>
              <a:spcBef>
                <a:spcPts val="0"/>
              </a:spcBef>
              <a:spcAft>
                <a:spcPts val="200"/>
              </a:spcAft>
            </a:pPr>
            <a:r>
              <a:rPr sz="1500" b="1" i="0">
                <a:solidFill>
                  <a:srgbClr val="EB6834"/>
                </a:solidFill>
                <a:latin typeface="Helvetica Neue"/>
              </a:rPr>
              <a:t>•  </a:t>
            </a:r>
            <a:r>
              <a:rPr sz="1500" b="0" i="0">
                <a:solidFill>
                  <a:srgbClr val="52514E"/>
                </a:solidFill>
                <a:latin typeface="Helvetica Neue"/>
              </a:rPr>
              <a:t>Weather (9) — growing degree days, heat stress days, SPI drought index, rainfall totals and extremes</a:t>
            </a:r>
          </a:p>
          <a:p>
            <a:pPr algn="l">
              <a:lnSpc>
                <a:spcPct val="120000"/>
              </a:lnSpc>
              <a:spcBef>
                <a:spcPts val="900"/>
              </a:spcBef>
              <a:spcAft>
                <a:spcPts val="200"/>
              </a:spcAft>
            </a:pPr>
            <a:r>
              <a:rPr sz="1500" b="1" i="0">
                <a:solidFill>
                  <a:srgbClr val="EB6834"/>
                </a:solidFill>
                <a:latin typeface="Helvetica Neue"/>
              </a:rPr>
              <a:t>•  </a:t>
            </a:r>
            <a:r>
              <a:rPr sz="1500" b="0" i="0">
                <a:solidFill>
                  <a:srgbClr val="52514E"/>
                </a:solidFill>
                <a:latin typeface="Helvetica Neue"/>
              </a:rPr>
              <a:t>Satellite (11) — NDVI mean/max/min, anomaly, time-to-peak, growth rate, EVI, NDWI, day and night LST</a:t>
            </a:r>
          </a:p>
          <a:p>
            <a:pPr algn="l">
              <a:lnSpc>
                <a:spcPct val="120000"/>
              </a:lnSpc>
              <a:spcBef>
                <a:spcPts val="900"/>
              </a:spcBef>
              <a:spcAft>
                <a:spcPts val="200"/>
              </a:spcAft>
            </a:pPr>
            <a:r>
              <a:rPr sz="1500" b="1" i="0">
                <a:solidFill>
                  <a:srgbClr val="EB6834"/>
                </a:solidFill>
                <a:latin typeface="Helvetica Neue"/>
              </a:rPr>
              <a:t>•  </a:t>
            </a:r>
            <a:r>
              <a:rPr sz="1500" b="0" i="0">
                <a:solidFill>
                  <a:srgbClr val="52514E"/>
                </a:solidFill>
                <a:latin typeface="Helvetica Neue"/>
              </a:rPr>
              <a:t>History (5) — previous season, previous year, three-year average, season indicator, previous extent</a:t>
            </a:r>
          </a:p>
          <a:p>
            <a:pPr algn="l">
              <a:lnSpc>
                <a:spcPct val="120000"/>
              </a:lnSpc>
              <a:spcBef>
                <a:spcPts val="900"/>
              </a:spcBef>
              <a:spcAft>
                <a:spcPts val="200"/>
              </a:spcAft>
            </a:pPr>
            <a:r>
              <a:rPr sz="1500" b="1" i="0">
                <a:solidFill>
                  <a:srgbClr val="EB6834"/>
                </a:solidFill>
                <a:latin typeface="Helvetica Neue"/>
              </a:rPr>
              <a:t>•  </a:t>
            </a:r>
            <a:r>
              <a:rPr sz="1500" b="0" i="0">
                <a:solidFill>
                  <a:srgbClr val="52514E"/>
                </a:solidFill>
                <a:latin typeface="Helvetica Neue"/>
              </a:rPr>
              <a:t>Soil (4) — pH, organic carbon, clay and sand fraction</a:t>
            </a:r>
          </a:p>
        </p:txBody>
      </p:sp>
      <p:sp>
        <p:nvSpPr>
          <p:cNvPr id="8" name="Rectangle 7"/>
          <p:cNvSpPr/>
          <p:nvPr/>
        </p:nvSpPr>
        <p:spPr>
          <a:xfrm>
            <a:off x="6347307" y="1691640"/>
            <a:ext cx="45720" cy="2926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0187" y="1691640"/>
            <a:ext cx="4884267" cy="320040"/>
          </a:xfrm>
          <a:prstGeom prst="rect">
            <a:avLst/>
          </a:prstGeom>
          <a:noFill/>
        </p:spPr>
        <p:txBody>
          <a:bodyPr wrap="square" anchor="t" lIns="0" rIns="0" tIns="0" bIns="0">
            <a:spAutoFit/>
          </a:bodyPr>
          <a:lstStyle/>
          <a:p>
            <a:pPr algn="l">
              <a:spcBef>
                <a:spcPts val="0"/>
              </a:spcBef>
              <a:spcAft>
                <a:spcPts val="600"/>
              </a:spcAft>
            </a:pPr>
            <a:r>
              <a:rPr sz="1700" b="1" i="0">
                <a:solidFill>
                  <a:srgbClr val="0D366B"/>
                </a:solidFill>
                <a:latin typeface="Helvetica Neue"/>
              </a:rPr>
              <a:t>Interaction terms — encoded hypotheses</a:t>
            </a:r>
          </a:p>
        </p:txBody>
      </p:sp>
      <p:sp>
        <p:nvSpPr>
          <p:cNvPr id="10" name="TextBox 9"/>
          <p:cNvSpPr txBox="1"/>
          <p:nvPr/>
        </p:nvSpPr>
        <p:spPr>
          <a:xfrm>
            <a:off x="6347307" y="2194560"/>
            <a:ext cx="5067147" cy="3200400"/>
          </a:xfrm>
          <a:prstGeom prst="rect">
            <a:avLst/>
          </a:prstGeom>
          <a:noFill/>
        </p:spPr>
        <p:txBody>
          <a:bodyPr wrap="square" anchor="t" lIns="0" rIns="0" tIns="0" bIns="0">
            <a:spAutoFit/>
          </a:bodyPr>
          <a:lstStyle/>
          <a:p>
            <a:pPr algn="l">
              <a:lnSpc>
                <a:spcPct val="120000"/>
              </a:lnSpc>
              <a:spcBef>
                <a:spcPts val="0"/>
              </a:spcBef>
              <a:spcAft>
                <a:spcPts val="200"/>
              </a:spcAft>
            </a:pPr>
            <a:r>
              <a:rPr sz="1500" b="1" i="0">
                <a:solidFill>
                  <a:srgbClr val="2A78D6"/>
                </a:solidFill>
                <a:latin typeface="Helvetica Neue"/>
              </a:rPr>
              <a:t>•  </a:t>
            </a:r>
            <a:r>
              <a:rPr sz="1500" b="0" i="0">
                <a:solidFill>
                  <a:srgbClr val="52514E"/>
                </a:solidFill>
                <a:latin typeface="Helvetica Neue"/>
              </a:rPr>
              <a:t>rainfall × NDVI — rain only helps when there is a canopy to use it</a:t>
            </a:r>
          </a:p>
          <a:p>
            <a:pPr algn="l">
              <a:lnSpc>
                <a:spcPct val="120000"/>
              </a:lnSpc>
              <a:spcBef>
                <a:spcPts val="900"/>
              </a:spcBef>
              <a:spcAft>
                <a:spcPts val="200"/>
              </a:spcAft>
            </a:pPr>
            <a:r>
              <a:rPr sz="1500" b="1" i="0">
                <a:solidFill>
                  <a:srgbClr val="2A78D6"/>
                </a:solidFill>
                <a:latin typeface="Helvetica Neue"/>
              </a:rPr>
              <a:t>•  </a:t>
            </a:r>
            <a:r>
              <a:rPr sz="1500" b="0" i="0">
                <a:solidFill>
                  <a:srgbClr val="52514E"/>
                </a:solidFill>
                <a:latin typeface="Helvetica Neue"/>
              </a:rPr>
              <a:t>temperature × humidity — evaporative demand and fungal disease pressure</a:t>
            </a:r>
          </a:p>
          <a:p>
            <a:pPr algn="l">
              <a:lnSpc>
                <a:spcPct val="120000"/>
              </a:lnSpc>
              <a:spcBef>
                <a:spcPts val="900"/>
              </a:spcBef>
              <a:spcAft>
                <a:spcPts val="200"/>
              </a:spcAft>
            </a:pPr>
            <a:r>
              <a:rPr sz="1500" b="1" i="0">
                <a:solidFill>
                  <a:srgbClr val="2A78D6"/>
                </a:solidFill>
                <a:latin typeface="Helvetica Neue"/>
              </a:rPr>
              <a:t>•  </a:t>
            </a:r>
            <a:r>
              <a:rPr sz="1500" b="0" i="0">
                <a:solidFill>
                  <a:srgbClr val="52514E"/>
                </a:solidFill>
                <a:latin typeface="Helvetica Neue"/>
              </a:rPr>
              <a:t>NDVI × LST — is the green canopy also thermally stressed?</a:t>
            </a:r>
          </a:p>
          <a:p>
            <a:pPr algn="l">
              <a:lnSpc>
                <a:spcPct val="120000"/>
              </a:lnSpc>
              <a:spcBef>
                <a:spcPts val="900"/>
              </a:spcBef>
              <a:spcAft>
                <a:spcPts val="200"/>
              </a:spcAft>
            </a:pPr>
            <a:r>
              <a:rPr sz="1500" b="1" i="0">
                <a:solidFill>
                  <a:srgbClr val="2A78D6"/>
                </a:solidFill>
                <a:latin typeface="Helvetica Neue"/>
              </a:rPr>
              <a:t>•  </a:t>
            </a:r>
            <a:r>
              <a:rPr sz="1500" b="0" i="0">
                <a:solidFill>
                  <a:srgbClr val="52514E"/>
                </a:solidFill>
                <a:latin typeface="Helvetica Neue"/>
              </a:rPr>
              <a:t>These three are the only features built from hypothesis rather than measurement — and two of them top the SHAP ranking</a:t>
            </a:r>
          </a:p>
        </p:txBody>
      </p:sp>
      <p:sp>
        <p:nvSpPr>
          <p:cNvPr id="11" name="Rectangle 10"/>
          <p:cNvSpPr/>
          <p:nvPr/>
        </p:nvSpPr>
        <p:spPr>
          <a:xfrm>
            <a:off x="777240" y="5623560"/>
            <a:ext cx="10637215" cy="731520"/>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5623560"/>
            <a:ext cx="54864" cy="7315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5623560"/>
            <a:ext cx="10088575" cy="731520"/>
          </a:xfrm>
          <a:prstGeom prst="rect">
            <a:avLst/>
          </a:prstGeom>
          <a:noFill/>
        </p:spPr>
        <p:txBody>
          <a:bodyPr wrap="square" anchor="ctr" lIns="0" rIns="0" tIns="0" bIns="0">
            <a:spAutoFit/>
          </a:bodyPr>
          <a:lstStyle/>
          <a:p>
            <a:pPr algn="l">
              <a:spcBef>
                <a:spcPts val="0"/>
              </a:spcBef>
              <a:spcAft>
                <a:spcPts val="600"/>
              </a:spcAft>
            </a:pPr>
            <a:r>
              <a:rPr sz="1500" b="1" i="0">
                <a:solidFill>
                  <a:srgbClr val="0D366B"/>
                </a:solidFill>
                <a:latin typeface="Helvetica Neue"/>
              </a:rPr>
              <a:t>Yield-history features are shifted within district so a record never sees its own target.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274320"/>
          </a:xfrm>
          <a:prstGeom prst="rect">
            <a:avLst/>
          </a:prstGeom>
          <a:noFill/>
        </p:spPr>
        <p:txBody>
          <a:bodyPr wrap="square" anchor="t" lIns="0" rIns="0" tIns="0" bIns="0">
            <a:spAutoFit/>
          </a:bodyPr>
          <a:lstStyle/>
          <a:p>
            <a:pPr algn="l">
              <a:spcBef>
                <a:spcPts val="0"/>
              </a:spcBef>
              <a:spcAft>
                <a:spcPts val="600"/>
              </a:spcAft>
            </a:pPr>
            <a:r>
              <a:rPr sz="1200" b="1" i="0">
                <a:solidFill>
                  <a:srgbClr val="EB6834"/>
                </a:solidFill>
                <a:latin typeface="Helvetica Neue"/>
              </a:rPr>
              <a:t>OUR APPROACH</a:t>
            </a:r>
          </a:p>
        </p:txBody>
      </p:sp>
      <p:sp>
        <p:nvSpPr>
          <p:cNvPr id="4" name="TextBox 3"/>
          <p:cNvSpPr txBox="1"/>
          <p:nvPr/>
        </p:nvSpPr>
        <p:spPr>
          <a:xfrm>
            <a:off x="777240" y="914400"/>
            <a:ext cx="10637215" cy="548640"/>
          </a:xfrm>
          <a:prstGeom prst="rect">
            <a:avLst/>
          </a:prstGeom>
          <a:noFill/>
        </p:spPr>
        <p:txBody>
          <a:bodyPr wrap="square" anchor="t" lIns="0" rIns="0" tIns="0" bIns="0">
            <a:spAutoFit/>
          </a:bodyPr>
          <a:lstStyle/>
          <a:p>
            <a:pPr algn="l">
              <a:spcBef>
                <a:spcPts val="0"/>
              </a:spcBef>
              <a:spcAft>
                <a:spcPts val="600"/>
              </a:spcAft>
            </a:pPr>
            <a:r>
              <a:rPr sz="2800" b="1" i="0">
                <a:solidFill>
                  <a:srgbClr val="0D366B"/>
                </a:solidFill>
                <a:latin typeface="Helvetica Neue"/>
              </a:rPr>
              <a:t>Nine models, one protocol</a:t>
            </a:r>
          </a:p>
        </p:txBody>
      </p:sp>
      <p:graphicFrame>
        <p:nvGraphicFramePr>
          <p:cNvPr id="5" name="Table 4"/>
          <p:cNvGraphicFramePr>
            <a:graphicFrameLocks noGrp="1"/>
          </p:cNvGraphicFramePr>
          <p:nvPr/>
        </p:nvGraphicFramePr>
        <p:xfrm>
          <a:off x="777240" y="1920240"/>
          <a:ext cx="10637214" cy="3611880"/>
        </p:xfrm>
        <a:graphic>
          <a:graphicData uri="http://schemas.openxmlformats.org/drawingml/2006/table">
            <a:tbl>
              <a:tblPr firstRow="1" bandRow="1">
                <a:tableStyleId>{5C22544A-7EE6-4342-B048-85BDC9FD1C3A}</a:tableStyleId>
              </a:tblPr>
              <a:tblGrid>
                <a:gridCol w="2687296"/>
                <a:gridCol w="2463355"/>
                <a:gridCol w="5486563"/>
              </a:tblGrid>
              <a:tr h="361188">
                <a:tc>
                  <a:txBody>
                    <a:bodyPr wrap="square"/>
                    <a:lstStyle/>
                    <a:p>
                      <a:pPr algn="l"/>
                      <a:r>
                        <a:rPr sz="1200" b="1" i="0">
                          <a:solidFill>
                            <a:srgbClr val="FFFFFF"/>
                          </a:solidFill>
                          <a:latin typeface="Helvetica Neue"/>
                        </a:rPr>
                        <a:t>Model</a:t>
                      </a:r>
                    </a:p>
                  </a:txBody>
                  <a:tcPr marL="91440" marR="91440">
                    <a:solidFill>
                      <a:srgbClr val="0D366B"/>
                    </a:solidFill>
                  </a:tcPr>
                </a:tc>
                <a:tc>
                  <a:txBody>
                    <a:bodyPr wrap="square"/>
                    <a:lstStyle/>
                    <a:p>
                      <a:pPr algn="l"/>
                      <a:r>
                        <a:rPr sz="1200" b="1" i="0">
                          <a:solidFill>
                            <a:srgbClr val="FFFFFF"/>
                          </a:solidFill>
                          <a:latin typeface="Helvetica Neue"/>
                        </a:rPr>
                        <a:t>Family</a:t>
                      </a:r>
                    </a:p>
                  </a:txBody>
                  <a:tcPr marL="91440" marR="91440">
                    <a:solidFill>
                      <a:srgbClr val="0D366B"/>
                    </a:solidFill>
                  </a:tcPr>
                </a:tc>
                <a:tc>
                  <a:txBody>
                    <a:bodyPr wrap="square"/>
                    <a:lstStyle/>
                    <a:p>
                      <a:pPr algn="l"/>
                      <a:r>
                        <a:rPr sz="1200" b="1" i="0">
                          <a:solidFill>
                            <a:srgbClr val="FFFFFF"/>
                          </a:solidFill>
                          <a:latin typeface="Helvetica Neue"/>
                        </a:rPr>
                        <a:t>Why it is in the comparison</a:t>
                      </a:r>
                    </a:p>
                  </a:txBody>
                  <a:tcPr marL="91440" marR="91440">
                    <a:solidFill>
                      <a:srgbClr val="0D366B"/>
                    </a:solidFill>
                  </a:tcPr>
                </a:tc>
              </a:tr>
              <a:tr h="361188">
                <a:tc>
                  <a:txBody>
                    <a:bodyPr wrap="square"/>
                    <a:lstStyle/>
                    <a:p>
                      <a:pPr algn="l"/>
                      <a:r>
                        <a:rPr sz="1150" b="0" i="0">
                          <a:solidFill>
                            <a:srgbClr val="52514E"/>
                          </a:solidFill>
                          <a:latin typeface="Helvetica Neue"/>
                        </a:rPr>
                        <a:t>Random Forest</a:t>
                      </a:r>
                    </a:p>
                  </a:txBody>
                  <a:tcPr marL="91440" marR="91440">
                    <a:solidFill>
                      <a:srgbClr val="F7F6F4"/>
                    </a:solidFill>
                  </a:tcPr>
                </a:tc>
                <a:tc>
                  <a:txBody>
                    <a:bodyPr wrap="square"/>
                    <a:lstStyle/>
                    <a:p>
                      <a:pPr algn="l"/>
                      <a:r>
                        <a:rPr sz="1150" b="0" i="0">
                          <a:solidFill>
                            <a:srgbClr val="52514E"/>
                          </a:solidFill>
                          <a:latin typeface="Helvetica Neue"/>
                        </a:rPr>
                        <a:t>Bagged trees</a:t>
                      </a:r>
                    </a:p>
                  </a:txBody>
                  <a:tcPr marL="91440" marR="91440">
                    <a:solidFill>
                      <a:srgbClr val="F7F6F4"/>
                    </a:solidFill>
                  </a:tcPr>
                </a:tc>
                <a:tc>
                  <a:txBody>
                    <a:bodyPr wrap="square"/>
                    <a:lstStyle/>
                    <a:p>
                      <a:pPr algn="l"/>
                      <a:r>
                        <a:rPr sz="1150" b="0" i="0">
                          <a:solidFill>
                            <a:srgbClr val="52514E"/>
                          </a:solidFill>
                          <a:latin typeface="Helvetica Neue"/>
                        </a:rPr>
                        <a:t>Variance reduction; robust small-sample baseline</a:t>
                      </a:r>
                    </a:p>
                  </a:txBody>
                  <a:tcPr marL="91440" marR="91440">
                    <a:solidFill>
                      <a:srgbClr val="F7F6F4"/>
                    </a:solidFill>
                  </a:tcPr>
                </a:tc>
              </a:tr>
              <a:tr h="361188">
                <a:tc>
                  <a:txBody>
                    <a:bodyPr wrap="square"/>
                    <a:lstStyle/>
                    <a:p>
                      <a:pPr algn="l"/>
                      <a:r>
                        <a:rPr sz="1150" b="0" i="0">
                          <a:solidFill>
                            <a:srgbClr val="52514E"/>
                          </a:solidFill>
                          <a:latin typeface="Helvetica Neue"/>
                        </a:rPr>
                        <a:t>XGBoost</a:t>
                      </a:r>
                    </a:p>
                  </a:txBody>
                  <a:tcPr marL="91440" marR="91440">
                    <a:solidFill>
                      <a:srgbClr val="FCFCFB"/>
                    </a:solidFill>
                  </a:tcPr>
                </a:tc>
                <a:tc>
                  <a:txBody>
                    <a:bodyPr wrap="square"/>
                    <a:lstStyle/>
                    <a:p>
                      <a:pPr algn="l"/>
                      <a:r>
                        <a:rPr sz="1150" b="0" i="0">
                          <a:solidFill>
                            <a:srgbClr val="52514E"/>
                          </a:solidFill>
                          <a:latin typeface="Helvetica Neue"/>
                        </a:rPr>
                        <a:t>Boosted trees</a:t>
                      </a:r>
                    </a:p>
                  </a:txBody>
                  <a:tcPr marL="91440" marR="91440">
                    <a:solidFill>
                      <a:srgbClr val="FCFCFB"/>
                    </a:solidFill>
                  </a:tcPr>
                </a:tc>
                <a:tc>
                  <a:txBody>
                    <a:bodyPr wrap="square"/>
                    <a:lstStyle/>
                    <a:p>
                      <a:pPr algn="l"/>
                      <a:r>
                        <a:rPr sz="1150" b="0" i="0">
                          <a:solidFill>
                            <a:srgbClr val="52514E"/>
                          </a:solidFill>
                          <a:latin typeface="Helvetica Neue"/>
                        </a:rPr>
                        <a:t>Bias reduction under explicit regularisation</a:t>
                      </a:r>
                    </a:p>
                  </a:txBody>
                  <a:tcPr marL="91440" marR="91440">
                    <a:solidFill>
                      <a:srgbClr val="FCFCFB"/>
                    </a:solidFill>
                  </a:tcPr>
                </a:tc>
              </a:tr>
              <a:tr h="361188">
                <a:tc>
                  <a:txBody>
                    <a:bodyPr wrap="square"/>
                    <a:lstStyle/>
                    <a:p>
                      <a:pPr algn="l"/>
                      <a:r>
                        <a:rPr sz="1150" b="0" i="0">
                          <a:solidFill>
                            <a:srgbClr val="52514E"/>
                          </a:solidFill>
                          <a:latin typeface="Helvetica Neue"/>
                        </a:rPr>
                        <a:t>SVR</a:t>
                      </a:r>
                    </a:p>
                  </a:txBody>
                  <a:tcPr marL="91440" marR="91440">
                    <a:solidFill>
                      <a:srgbClr val="F7F6F4"/>
                    </a:solidFill>
                  </a:tcPr>
                </a:tc>
                <a:tc>
                  <a:txBody>
                    <a:bodyPr wrap="square"/>
                    <a:lstStyle/>
                    <a:p>
                      <a:pPr algn="l"/>
                      <a:r>
                        <a:rPr sz="1150" b="0" i="0">
                          <a:solidFill>
                            <a:srgbClr val="52514E"/>
                          </a:solidFill>
                          <a:latin typeface="Helvetica Neue"/>
                        </a:rPr>
                        <a:t>Kernel method</a:t>
                      </a:r>
                    </a:p>
                  </a:txBody>
                  <a:tcPr marL="91440" marR="91440">
                    <a:solidFill>
                      <a:srgbClr val="F7F6F4"/>
                    </a:solidFill>
                  </a:tcPr>
                </a:tc>
                <a:tc>
                  <a:txBody>
                    <a:bodyPr wrap="square"/>
                    <a:lstStyle/>
                    <a:p>
                      <a:pPr algn="l"/>
                      <a:r>
                        <a:rPr sz="1150" b="0" i="0">
                          <a:solidFill>
                            <a:srgbClr val="52514E"/>
                          </a:solidFill>
                          <a:latin typeface="Helvetica Neue"/>
                        </a:rPr>
                        <a:t>Capacity independent of sample size</a:t>
                      </a:r>
                    </a:p>
                  </a:txBody>
                  <a:tcPr marL="91440" marR="91440">
                    <a:solidFill>
                      <a:srgbClr val="F7F6F4"/>
                    </a:solidFill>
                  </a:tcPr>
                </a:tc>
              </a:tr>
              <a:tr h="361188">
                <a:tc>
                  <a:txBody>
                    <a:bodyPr wrap="square"/>
                    <a:lstStyle/>
                    <a:p>
                      <a:pPr algn="l"/>
                      <a:r>
                        <a:rPr sz="1150" b="0" i="0">
                          <a:solidFill>
                            <a:srgbClr val="52514E"/>
                          </a:solidFill>
                          <a:latin typeface="Helvetica Neue"/>
                        </a:rPr>
                        <a:t>LSTM / BiLSTM</a:t>
                      </a:r>
                    </a:p>
                  </a:txBody>
                  <a:tcPr marL="91440" marR="91440">
                    <a:solidFill>
                      <a:srgbClr val="FCFCFB"/>
                    </a:solidFill>
                  </a:tcPr>
                </a:tc>
                <a:tc>
                  <a:txBody>
                    <a:bodyPr wrap="square"/>
                    <a:lstStyle/>
                    <a:p>
                      <a:pPr algn="l"/>
                      <a:r>
                        <a:rPr sz="1150" b="0" i="0">
                          <a:solidFill>
                            <a:srgbClr val="52514E"/>
                          </a:solidFill>
                          <a:latin typeface="Helvetica Neue"/>
                        </a:rPr>
                        <a:t>Recurrent</a:t>
                      </a:r>
                    </a:p>
                  </a:txBody>
                  <a:tcPr marL="91440" marR="91440">
                    <a:solidFill>
                      <a:srgbClr val="FCFCFB"/>
                    </a:solidFill>
                  </a:tcPr>
                </a:tc>
                <a:tc>
                  <a:txBody>
                    <a:bodyPr wrap="square"/>
                    <a:lstStyle/>
                    <a:p>
                      <a:pPr algn="l"/>
                      <a:r>
                        <a:rPr sz="1150" b="0" i="0">
                          <a:solidFill>
                            <a:srgbClr val="52514E"/>
                          </a:solidFill>
                          <a:latin typeface="Helvetica Neue"/>
                        </a:rPr>
                        <a:t>Temporal integration of the weather sequence</a:t>
                      </a:r>
                    </a:p>
                  </a:txBody>
                  <a:tcPr marL="91440" marR="91440">
                    <a:solidFill>
                      <a:srgbClr val="FCFCFB"/>
                    </a:solidFill>
                  </a:tcPr>
                </a:tc>
              </a:tr>
              <a:tr h="361188">
                <a:tc>
                  <a:txBody>
                    <a:bodyPr wrap="square"/>
                    <a:lstStyle/>
                    <a:p>
                      <a:pPr algn="l"/>
                      <a:r>
                        <a:rPr sz="1150" b="0" i="0">
                          <a:solidFill>
                            <a:srgbClr val="52514E"/>
                          </a:solidFill>
                          <a:latin typeface="Helvetica Neue"/>
                        </a:rPr>
                        <a:t>1D-CNN</a:t>
                      </a:r>
                    </a:p>
                  </a:txBody>
                  <a:tcPr marL="91440" marR="91440">
                    <a:solidFill>
                      <a:srgbClr val="F7F6F4"/>
                    </a:solidFill>
                  </a:tcPr>
                </a:tc>
                <a:tc>
                  <a:txBody>
                    <a:bodyPr wrap="square"/>
                    <a:lstStyle/>
                    <a:p>
                      <a:pPr algn="l"/>
                      <a:r>
                        <a:rPr sz="1150" b="0" i="0">
                          <a:solidFill>
                            <a:srgbClr val="52514E"/>
                          </a:solidFill>
                          <a:latin typeface="Helvetica Neue"/>
                        </a:rPr>
                        <a:t>Convolutional</a:t>
                      </a:r>
                    </a:p>
                  </a:txBody>
                  <a:tcPr marL="91440" marR="91440">
                    <a:solidFill>
                      <a:srgbClr val="F7F6F4"/>
                    </a:solidFill>
                  </a:tcPr>
                </a:tc>
                <a:tc>
                  <a:txBody>
                    <a:bodyPr wrap="square"/>
                    <a:lstStyle/>
                    <a:p>
                      <a:pPr algn="l"/>
                      <a:r>
                        <a:rPr sz="1150" b="0" i="0">
                          <a:solidFill>
                            <a:srgbClr val="52514E"/>
                          </a:solidFill>
                          <a:latin typeface="Helvetica Neue"/>
                        </a:rPr>
                        <a:t>Local shape of the NDVI trajectory</a:t>
                      </a:r>
                    </a:p>
                  </a:txBody>
                  <a:tcPr marL="91440" marR="91440">
                    <a:solidFill>
                      <a:srgbClr val="F7F6F4"/>
                    </a:solidFill>
                  </a:tcPr>
                </a:tc>
              </a:tr>
              <a:tr h="361188">
                <a:tc>
                  <a:txBody>
                    <a:bodyPr wrap="square"/>
                    <a:lstStyle/>
                    <a:p>
                      <a:pPr algn="l"/>
                      <a:r>
                        <a:rPr sz="1150" b="0" i="0">
                          <a:solidFill>
                            <a:srgbClr val="52514E"/>
                          </a:solidFill>
                          <a:latin typeface="Helvetica Neue"/>
                        </a:rPr>
                        <a:t>Hybrid CNN-LSTM</a:t>
                      </a:r>
                    </a:p>
                  </a:txBody>
                  <a:tcPr marL="91440" marR="91440">
                    <a:solidFill>
                      <a:srgbClr val="FCFCFB"/>
                    </a:solidFill>
                  </a:tcPr>
                </a:tc>
                <a:tc>
                  <a:txBody>
                    <a:bodyPr wrap="square"/>
                    <a:lstStyle/>
                    <a:p>
                      <a:pPr algn="l"/>
                      <a:r>
                        <a:rPr sz="1150" b="0" i="0">
                          <a:solidFill>
                            <a:srgbClr val="52514E"/>
                          </a:solidFill>
                          <a:latin typeface="Helvetica Neue"/>
                        </a:rPr>
                        <a:t>Two-branch</a:t>
                      </a:r>
                    </a:p>
                  </a:txBody>
                  <a:tcPr marL="91440" marR="91440">
                    <a:solidFill>
                      <a:srgbClr val="FCFCFB"/>
                    </a:solidFill>
                  </a:tcPr>
                </a:tc>
                <a:tc>
                  <a:txBody>
                    <a:bodyPr wrap="square"/>
                    <a:lstStyle/>
                    <a:p>
                      <a:pPr algn="l"/>
                      <a:r>
                        <a:rPr sz="1150" b="0" i="0">
                          <a:solidFill>
                            <a:srgbClr val="52514E"/>
                          </a:solidFill>
                          <a:latin typeface="Helvetica Neue"/>
                        </a:rPr>
                        <a:t>NOVELTY — season injected after feature extraction</a:t>
                      </a:r>
                    </a:p>
                  </a:txBody>
                  <a:tcPr marL="91440" marR="91440">
                    <a:solidFill>
                      <a:srgbClr val="FCFCFB"/>
                    </a:solidFill>
                  </a:tcPr>
                </a:tc>
              </a:tr>
              <a:tr h="361188">
                <a:tc>
                  <a:txBody>
                    <a:bodyPr wrap="square"/>
                    <a:lstStyle/>
                    <a:p>
                      <a:pPr algn="l"/>
                      <a:r>
                        <a:rPr sz="1150" b="0" i="0">
                          <a:solidFill>
                            <a:srgbClr val="52514E"/>
                          </a:solidFill>
                          <a:latin typeface="Helvetica Neue"/>
                        </a:rPr>
                        <a:t>Symbolic regression</a:t>
                      </a:r>
                    </a:p>
                  </a:txBody>
                  <a:tcPr marL="91440" marR="91440">
                    <a:solidFill>
                      <a:srgbClr val="F7F6F4"/>
                    </a:solidFill>
                  </a:tcPr>
                </a:tc>
                <a:tc>
                  <a:txBody>
                    <a:bodyPr wrap="square"/>
                    <a:lstStyle/>
                    <a:p>
                      <a:pPr algn="l"/>
                      <a:r>
                        <a:rPr sz="1150" b="0" i="0">
                          <a:solidFill>
                            <a:srgbClr val="52514E"/>
                          </a:solidFill>
                          <a:latin typeface="Helvetica Neue"/>
                        </a:rPr>
                        <a:t>Genetic programming</a:t>
                      </a:r>
                    </a:p>
                  </a:txBody>
                  <a:tcPr marL="91440" marR="91440">
                    <a:solidFill>
                      <a:srgbClr val="F7F6F4"/>
                    </a:solidFill>
                  </a:tcPr>
                </a:tc>
                <a:tc>
                  <a:txBody>
                    <a:bodyPr wrap="square"/>
                    <a:lstStyle/>
                    <a:p>
                      <a:pPr algn="l"/>
                      <a:r>
                        <a:rPr sz="1150" b="0" i="0">
                          <a:solidFill>
                            <a:srgbClr val="52514E"/>
                          </a:solidFill>
                          <a:latin typeface="Helvetica Neue"/>
                        </a:rPr>
                        <a:t>A human-readable closed-form equation</a:t>
                      </a:r>
                    </a:p>
                  </a:txBody>
                  <a:tcPr marL="91440" marR="91440">
                    <a:solidFill>
                      <a:srgbClr val="F7F6F4"/>
                    </a:solidFill>
                  </a:tcPr>
                </a:tc>
              </a:tr>
              <a:tr h="361188">
                <a:tc>
                  <a:txBody>
                    <a:bodyPr wrap="square"/>
                    <a:lstStyle/>
                    <a:p>
                      <a:pPr algn="l"/>
                      <a:r>
                        <a:rPr sz="1150" b="0" i="0">
                          <a:solidFill>
                            <a:srgbClr val="52514E"/>
                          </a:solidFill>
                          <a:latin typeface="Helvetica Neue"/>
                        </a:rPr>
                        <a:t>Physics-residual</a:t>
                      </a:r>
                    </a:p>
                  </a:txBody>
                  <a:tcPr marL="91440" marR="91440">
                    <a:solidFill>
                      <a:srgbClr val="FCFCFB"/>
                    </a:solidFill>
                  </a:tcPr>
                </a:tc>
                <a:tc>
                  <a:txBody>
                    <a:bodyPr wrap="square"/>
                    <a:lstStyle/>
                    <a:p>
                      <a:pPr algn="l"/>
                      <a:r>
                        <a:rPr sz="1150" b="0" i="0">
                          <a:solidFill>
                            <a:srgbClr val="52514E"/>
                          </a:solidFill>
                          <a:latin typeface="Helvetica Neue"/>
                        </a:rPr>
                        <a:t>Mechanistic + ML</a:t>
                      </a:r>
                    </a:p>
                  </a:txBody>
                  <a:tcPr marL="91440" marR="91440">
                    <a:solidFill>
                      <a:srgbClr val="FCFCFB"/>
                    </a:solidFill>
                  </a:tcPr>
                </a:tc>
                <a:tc>
                  <a:txBody>
                    <a:bodyPr wrap="square"/>
                    <a:lstStyle/>
                    <a:p>
                      <a:pPr algn="l"/>
                      <a:r>
                        <a:rPr sz="1150" b="0" i="0">
                          <a:solidFill>
                            <a:srgbClr val="52514E"/>
                          </a:solidFill>
                          <a:latin typeface="Helvetica Neue"/>
                        </a:rPr>
                        <a:t>NOVELTY — agronomic prior plus learned residual</a:t>
                      </a:r>
                    </a:p>
                  </a:txBody>
                  <a:tcPr marL="91440" marR="91440">
                    <a:solidFill>
                      <a:srgbClr val="FCFCFB"/>
                    </a:solidFill>
                  </a:tcPr>
                </a:tc>
              </a:tr>
              <a:tr h="361188">
                <a:tc>
                  <a:txBody>
                    <a:bodyPr wrap="square"/>
                    <a:lstStyle/>
                    <a:p>
                      <a:pPr algn="l"/>
                      <a:r>
                        <a:rPr sz="1150" b="0" i="0">
                          <a:solidFill>
                            <a:srgbClr val="52514E"/>
                          </a:solidFill>
                          <a:latin typeface="Helvetica Neue"/>
                        </a:rPr>
                        <a:t>Convex stacking</a:t>
                      </a:r>
                    </a:p>
                  </a:txBody>
                  <a:tcPr marL="91440" marR="91440">
                    <a:solidFill>
                      <a:srgbClr val="F7F6F4"/>
                    </a:solidFill>
                  </a:tcPr>
                </a:tc>
                <a:tc>
                  <a:txBody>
                    <a:bodyPr wrap="square"/>
                    <a:lstStyle/>
                    <a:p>
                      <a:pPr algn="l"/>
                      <a:r>
                        <a:rPr sz="1150" b="0" i="0">
                          <a:solidFill>
                            <a:srgbClr val="52514E"/>
                          </a:solidFill>
                          <a:latin typeface="Helvetica Neue"/>
                        </a:rPr>
                        <a:t>Ensemble</a:t>
                      </a:r>
                    </a:p>
                  </a:txBody>
                  <a:tcPr marL="91440" marR="91440">
                    <a:solidFill>
                      <a:srgbClr val="F7F6F4"/>
                    </a:solidFill>
                  </a:tcPr>
                </a:tc>
                <a:tc>
                  <a:txBody>
                    <a:bodyPr wrap="square"/>
                    <a:lstStyle/>
                    <a:p>
                      <a:pPr algn="l"/>
                      <a:r>
                        <a:rPr sz="1150" b="0" i="0">
                          <a:solidFill>
                            <a:srgbClr val="52514E"/>
                          </a:solidFill>
                          <a:latin typeface="Helvetica Neue"/>
                        </a:rPr>
                        <a:t>Constrained blend of all of the above</a:t>
                      </a:r>
                    </a:p>
                  </a:txBody>
                  <a:tcPr marL="91440" marR="91440">
                    <a:solidFill>
                      <a:srgbClr val="F7F6F4"/>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9264C"/>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1560" y="2377440"/>
            <a:ext cx="9601200" cy="457200"/>
          </a:xfrm>
          <a:prstGeom prst="rect">
            <a:avLst/>
          </a:prstGeom>
          <a:noFill/>
        </p:spPr>
        <p:txBody>
          <a:bodyPr wrap="square" anchor="t" lIns="0" rIns="0" tIns="0" bIns="0">
            <a:spAutoFit/>
          </a:bodyPr>
          <a:lstStyle/>
          <a:p>
            <a:pPr algn="l">
              <a:spcBef>
                <a:spcPts val="0"/>
              </a:spcBef>
              <a:spcAft>
                <a:spcPts val="600"/>
              </a:spcAft>
            </a:pPr>
            <a:r>
              <a:rPr sz="1600" b="1" i="0">
                <a:solidFill>
                  <a:srgbClr val="EB6834"/>
                </a:solidFill>
                <a:latin typeface="Helvetica Neue"/>
              </a:rPr>
              <a:t>03</a:t>
            </a:r>
          </a:p>
        </p:txBody>
      </p:sp>
      <p:sp>
        <p:nvSpPr>
          <p:cNvPr id="4" name="TextBox 3"/>
          <p:cNvSpPr txBox="1"/>
          <p:nvPr/>
        </p:nvSpPr>
        <p:spPr>
          <a:xfrm>
            <a:off x="1051560" y="2834640"/>
            <a:ext cx="9601200" cy="914400"/>
          </a:xfrm>
          <a:prstGeom prst="rect">
            <a:avLst/>
          </a:prstGeom>
          <a:noFill/>
        </p:spPr>
        <p:txBody>
          <a:bodyPr wrap="square" anchor="t" lIns="0" rIns="0" tIns="0" bIns="0">
            <a:spAutoFit/>
          </a:bodyPr>
          <a:lstStyle/>
          <a:p>
            <a:pPr algn="l">
              <a:spcBef>
                <a:spcPts val="0"/>
              </a:spcBef>
              <a:spcAft>
                <a:spcPts val="600"/>
              </a:spcAft>
            </a:pPr>
            <a:r>
              <a:rPr sz="3600" b="1" i="0">
                <a:solidFill>
                  <a:srgbClr val="FFFFFF"/>
                </a:solidFill>
                <a:latin typeface="Helvetica Neue"/>
              </a:rPr>
              <a:t>Two novelties</a:t>
            </a:r>
          </a:p>
        </p:txBody>
      </p:sp>
      <p:sp>
        <p:nvSpPr>
          <p:cNvPr id="5" name="TextBox 4"/>
          <p:cNvSpPr txBox="1"/>
          <p:nvPr/>
        </p:nvSpPr>
        <p:spPr>
          <a:xfrm>
            <a:off x="1051560" y="3886200"/>
            <a:ext cx="8686800" cy="914400"/>
          </a:xfrm>
          <a:prstGeom prst="rect">
            <a:avLst/>
          </a:prstGeom>
          <a:noFill/>
        </p:spPr>
        <p:txBody>
          <a:bodyPr wrap="square" anchor="t" lIns="0" rIns="0" tIns="0" bIns="0">
            <a:spAutoFit/>
          </a:bodyPr>
          <a:lstStyle/>
          <a:p>
            <a:pPr algn="l">
              <a:lnSpc>
                <a:spcPct val="130000"/>
              </a:lnSpc>
              <a:spcBef>
                <a:spcPts val="0"/>
              </a:spcBef>
              <a:spcAft>
                <a:spcPts val="600"/>
              </a:spcAft>
            </a:pPr>
            <a:r>
              <a:rPr sz="1700" b="0" i="0">
                <a:solidFill>
                  <a:srgbClr val="CDE2FB"/>
                </a:solidFill>
                <a:latin typeface="Helvetica Neue"/>
              </a:rPr>
              <a:t>One asks what to do when there is not enough data to learn from. The other asks how to represent two monsoon seasons in one network.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274320"/>
          </a:xfrm>
          <a:prstGeom prst="rect">
            <a:avLst/>
          </a:prstGeom>
          <a:noFill/>
        </p:spPr>
        <p:txBody>
          <a:bodyPr wrap="square" anchor="t" lIns="0" rIns="0" tIns="0" bIns="0">
            <a:spAutoFit/>
          </a:bodyPr>
          <a:lstStyle/>
          <a:p>
            <a:pPr algn="l">
              <a:spcBef>
                <a:spcPts val="0"/>
              </a:spcBef>
              <a:spcAft>
                <a:spcPts val="600"/>
              </a:spcAft>
            </a:pPr>
            <a:r>
              <a:rPr sz="1200" b="1" i="0">
                <a:solidFill>
                  <a:srgbClr val="EB6834"/>
                </a:solidFill>
                <a:latin typeface="Helvetica Neue"/>
              </a:rPr>
              <a:t>NOVELTY</a:t>
            </a:r>
          </a:p>
        </p:txBody>
      </p:sp>
      <p:sp>
        <p:nvSpPr>
          <p:cNvPr id="4" name="TextBox 3"/>
          <p:cNvSpPr txBox="1"/>
          <p:nvPr/>
        </p:nvSpPr>
        <p:spPr>
          <a:xfrm>
            <a:off x="777240" y="914400"/>
            <a:ext cx="10637215" cy="548640"/>
          </a:xfrm>
          <a:prstGeom prst="rect">
            <a:avLst/>
          </a:prstGeom>
          <a:noFill/>
        </p:spPr>
        <p:txBody>
          <a:bodyPr wrap="square" anchor="t" lIns="0" rIns="0" tIns="0" bIns="0">
            <a:spAutoFit/>
          </a:bodyPr>
          <a:lstStyle/>
          <a:p>
            <a:pPr algn="l">
              <a:spcBef>
                <a:spcPts val="0"/>
              </a:spcBef>
              <a:spcAft>
                <a:spcPts val="600"/>
              </a:spcAft>
            </a:pPr>
            <a:r>
              <a:rPr sz="2800" b="1" i="0">
                <a:solidFill>
                  <a:srgbClr val="0D366B"/>
                </a:solidFill>
                <a:latin typeface="Helvetica Neue"/>
              </a:rPr>
              <a:t>Novelty 1 — the physics-residual hybrid</a:t>
            </a:r>
          </a:p>
        </p:txBody>
      </p:sp>
      <p:sp>
        <p:nvSpPr>
          <p:cNvPr id="5" name="TextBox 4"/>
          <p:cNvSpPr txBox="1"/>
          <p:nvPr/>
        </p:nvSpPr>
        <p:spPr>
          <a:xfrm>
            <a:off x="777240" y="1691640"/>
            <a:ext cx="10637215" cy="3749040"/>
          </a:xfrm>
          <a:prstGeom prst="rect">
            <a:avLst/>
          </a:prstGeom>
          <a:noFill/>
        </p:spPr>
        <p:txBody>
          <a:bodyPr wrap="square" anchor="t" lIns="0" rIns="0" tIns="0" bIns="0">
            <a:spAutoFit/>
          </a:bodyPr>
          <a:lstStyle/>
          <a:p>
            <a:pPr algn="l">
              <a:lnSpc>
                <a:spcPct val="122000"/>
              </a:lnSpc>
              <a:spcBef>
                <a:spcPts val="0"/>
              </a:spcBef>
              <a:spcAft>
                <a:spcPts val="200"/>
              </a:spcAft>
            </a:pPr>
            <a:r>
              <a:rPr sz="1550" b="1" i="0">
                <a:solidFill>
                  <a:srgbClr val="EB6834"/>
                </a:solidFill>
                <a:latin typeface="Helvetica Neue"/>
              </a:rPr>
              <a:t>▸  </a:t>
            </a:r>
            <a:r>
              <a:rPr sz="1550" b="1" i="0">
                <a:solidFill>
                  <a:srgbClr val="0B0B0B"/>
                </a:solidFill>
                <a:latin typeface="Helvetica Neue"/>
              </a:rPr>
              <a:t>The problem  </a:t>
            </a:r>
            <a:r>
              <a:rPr sz="1550" b="0" i="0">
                <a:solidFill>
                  <a:srgbClr val="52514E"/>
                </a:solidFill>
                <a:latin typeface="Helvetica Neue"/>
              </a:rPr>
              <a:t>with 28 records, every relationship learned from data spends statistical budget we do not have</a:t>
            </a:r>
          </a:p>
          <a:p>
            <a:pPr algn="l">
              <a:lnSpc>
                <a:spcPct val="122000"/>
              </a:lnSpc>
              <a:spcBef>
                <a:spcPts val="800"/>
              </a:spcBef>
              <a:spcAft>
                <a:spcPts val="200"/>
              </a:spcAft>
            </a:pPr>
            <a:r>
              <a:rPr sz="1550" b="1" i="0">
                <a:solidFill>
                  <a:srgbClr val="EB6834"/>
                </a:solidFill>
                <a:latin typeface="Helvetica Neue"/>
              </a:rPr>
              <a:t>▸  </a:t>
            </a:r>
            <a:r>
              <a:rPr sz="1550" b="1" i="0">
                <a:solidFill>
                  <a:srgbClr val="0B0B0B"/>
                </a:solidFill>
                <a:latin typeface="Helvetica Neue"/>
              </a:rPr>
              <a:t>The idea  </a:t>
            </a:r>
            <a:r>
              <a:rPr sz="1550" b="0" i="0">
                <a:solidFill>
                  <a:srgbClr val="52514E"/>
                </a:solidFill>
                <a:latin typeface="Helvetica Neue"/>
              </a:rPr>
              <a:t>supply the agronomy instead of learning it, and let the model learn only what the physics cannot explain</a:t>
            </a:r>
          </a:p>
          <a:p>
            <a:pPr algn="l">
              <a:lnSpc>
                <a:spcPct val="122000"/>
              </a:lnSpc>
              <a:spcBef>
                <a:spcPts val="800"/>
              </a:spcBef>
              <a:spcAft>
                <a:spcPts val="200"/>
              </a:spcAft>
            </a:pPr>
            <a:r>
              <a:rPr sz="1550" b="1" i="0">
                <a:solidFill>
                  <a:srgbClr val="EB6834"/>
                </a:solidFill>
                <a:latin typeface="Helvetica Neue"/>
              </a:rPr>
              <a:t>▸  </a:t>
            </a:r>
            <a:r>
              <a:rPr sz="1550" b="1" i="0">
                <a:solidFill>
                  <a:srgbClr val="0B0B0B"/>
                </a:solidFill>
                <a:latin typeface="Helvetica Neue"/>
              </a:rPr>
              <a:t>Stage 1 — mechanistic backbone  </a:t>
            </a:r>
            <a:r>
              <a:rPr sz="1550" b="0" i="0">
                <a:solidFill>
                  <a:srgbClr val="52514E"/>
                </a:solidFill>
                <a:latin typeface="Helvetica Neue"/>
              </a:rPr>
              <a:t>thermal time (growing degree days), water limitation (FAO-33, onion Ky ≈ 1.1), heat stress — multiplied into one suitability term</a:t>
            </a:r>
          </a:p>
          <a:p>
            <a:pPr algn="l">
              <a:lnSpc>
                <a:spcPct val="122000"/>
              </a:lnSpc>
              <a:spcBef>
                <a:spcPts val="800"/>
              </a:spcBef>
              <a:spcAft>
                <a:spcPts val="200"/>
              </a:spcAft>
            </a:pPr>
            <a:r>
              <a:rPr sz="1550" b="1" i="0">
                <a:solidFill>
                  <a:srgbClr val="EB6834"/>
                </a:solidFill>
                <a:latin typeface="Helvetica Neue"/>
              </a:rPr>
              <a:t>▸  </a:t>
            </a:r>
            <a:r>
              <a:rPr sz="1550" b="1" i="0">
                <a:solidFill>
                  <a:srgbClr val="0B0B0B"/>
                </a:solidFill>
                <a:latin typeface="Helvetica Neue"/>
              </a:rPr>
              <a:t>Calibration  </a:t>
            </a:r>
            <a:r>
              <a:rPr sz="1550" b="0" i="0">
                <a:solidFill>
                  <a:srgbClr val="52514E"/>
                </a:solidFill>
                <a:latin typeface="Helvetica Neue"/>
              </a:rPr>
              <a:t>only two parameters — an intercept and a slope — are fitted, and they are refitted inside every cross-validation fold</a:t>
            </a:r>
          </a:p>
          <a:p>
            <a:pPr algn="l">
              <a:lnSpc>
                <a:spcPct val="122000"/>
              </a:lnSpc>
              <a:spcBef>
                <a:spcPts val="800"/>
              </a:spcBef>
              <a:spcAft>
                <a:spcPts val="200"/>
              </a:spcAft>
            </a:pPr>
            <a:r>
              <a:rPr sz="1550" b="1" i="0">
                <a:solidFill>
                  <a:srgbClr val="EB6834"/>
                </a:solidFill>
                <a:latin typeface="Helvetica Neue"/>
              </a:rPr>
              <a:t>▸  </a:t>
            </a:r>
            <a:r>
              <a:rPr sz="1550" b="1" i="0">
                <a:solidFill>
                  <a:srgbClr val="0B0B0B"/>
                </a:solidFill>
                <a:latin typeface="Helvetica Neue"/>
              </a:rPr>
              <a:t>Stage 2 — learned residual  </a:t>
            </a:r>
            <a:r>
              <a:rPr sz="1550" b="0" i="0">
                <a:solidFill>
                  <a:srgbClr val="52514E"/>
                </a:solidFill>
                <a:latin typeface="Helvetica Neue"/>
              </a:rPr>
              <a:t>a Random Forest on the difference between observed yield and the calibrated backbone</a:t>
            </a:r>
          </a:p>
        </p:txBody>
      </p:sp>
      <p:sp>
        <p:nvSpPr>
          <p:cNvPr id="6" name="Rectangle 5"/>
          <p:cNvSpPr/>
          <p:nvPr/>
        </p:nvSpPr>
        <p:spPr>
          <a:xfrm>
            <a:off x="777240" y="5623560"/>
            <a:ext cx="10637215" cy="731520"/>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5623560"/>
            <a:ext cx="54864" cy="7315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88575" cy="731520"/>
          </a:xfrm>
          <a:prstGeom prst="rect">
            <a:avLst/>
          </a:prstGeom>
          <a:noFill/>
        </p:spPr>
        <p:txBody>
          <a:bodyPr wrap="square" anchor="ctr" lIns="0" rIns="0" tIns="0" bIns="0">
            <a:spAutoFit/>
          </a:bodyPr>
          <a:lstStyle/>
          <a:p>
            <a:pPr algn="l">
              <a:spcBef>
                <a:spcPts val="0"/>
              </a:spcBef>
              <a:spcAft>
                <a:spcPts val="600"/>
              </a:spcAft>
            </a:pPr>
            <a:r>
              <a:rPr sz="1500" b="1" i="0">
                <a:solidFill>
                  <a:srgbClr val="0D366B"/>
                </a:solidFill>
                <a:latin typeface="Helvetica Neue"/>
              </a:rPr>
              <a:t>A prior that is only approximately right is worth more than the degrees of freedom it saves.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274320"/>
          </a:xfrm>
          <a:prstGeom prst="rect">
            <a:avLst/>
          </a:prstGeom>
          <a:noFill/>
        </p:spPr>
        <p:txBody>
          <a:bodyPr wrap="square" anchor="t" lIns="0" rIns="0" tIns="0" bIns="0">
            <a:spAutoFit/>
          </a:bodyPr>
          <a:lstStyle/>
          <a:p>
            <a:pPr algn="l">
              <a:spcBef>
                <a:spcPts val="0"/>
              </a:spcBef>
              <a:spcAft>
                <a:spcPts val="600"/>
              </a:spcAft>
            </a:pPr>
            <a:r>
              <a:rPr sz="1200" b="1" i="0">
                <a:solidFill>
                  <a:srgbClr val="EB6834"/>
                </a:solidFill>
                <a:latin typeface="Helvetica Neue"/>
              </a:rPr>
              <a:t>NOVELTY</a:t>
            </a:r>
          </a:p>
        </p:txBody>
      </p:sp>
      <p:sp>
        <p:nvSpPr>
          <p:cNvPr id="4" name="TextBox 3"/>
          <p:cNvSpPr txBox="1"/>
          <p:nvPr/>
        </p:nvSpPr>
        <p:spPr>
          <a:xfrm>
            <a:off x="777240" y="914400"/>
            <a:ext cx="10637215" cy="548640"/>
          </a:xfrm>
          <a:prstGeom prst="rect">
            <a:avLst/>
          </a:prstGeom>
          <a:noFill/>
        </p:spPr>
        <p:txBody>
          <a:bodyPr wrap="square" anchor="t" lIns="0" rIns="0" tIns="0" bIns="0">
            <a:spAutoFit/>
          </a:bodyPr>
          <a:lstStyle/>
          <a:p>
            <a:pPr algn="l">
              <a:spcBef>
                <a:spcPts val="0"/>
              </a:spcBef>
              <a:spcAft>
                <a:spcPts val="600"/>
              </a:spcAft>
            </a:pPr>
            <a:r>
              <a:rPr sz="2800" b="1" i="0">
                <a:solidFill>
                  <a:srgbClr val="0D366B"/>
                </a:solidFill>
                <a:latin typeface="Helvetica Neue"/>
              </a:rPr>
              <a:t>Novelty 2 — season-aware hybrid CNN-LSTM</a:t>
            </a:r>
          </a:p>
        </p:txBody>
      </p:sp>
      <p:pic>
        <p:nvPicPr>
          <p:cNvPr id="5" name="Picture 4" descr="figure_5_2_cnn_lstm_hybrid.png"/>
          <p:cNvPicPr>
            <a:picLocks noChangeAspect="1"/>
          </p:cNvPicPr>
          <p:nvPr/>
        </p:nvPicPr>
        <p:blipFill>
          <a:blip r:embed="rId2"/>
          <a:stretch>
            <a:fillRect/>
          </a:stretch>
        </p:blipFill>
        <p:spPr>
          <a:xfrm>
            <a:off x="3413606" y="1783080"/>
            <a:ext cx="5364483" cy="3977639"/>
          </a:xfrm>
          <a:prstGeom prst="rect">
            <a:avLst/>
          </a:prstGeom>
        </p:spPr>
      </p:pic>
      <p:sp>
        <p:nvSpPr>
          <p:cNvPr id="6" name="TextBox 5"/>
          <p:cNvSpPr txBox="1"/>
          <p:nvPr/>
        </p:nvSpPr>
        <p:spPr>
          <a:xfrm>
            <a:off x="777240" y="5907023"/>
            <a:ext cx="10637215" cy="457200"/>
          </a:xfrm>
          <a:prstGeom prst="rect">
            <a:avLst/>
          </a:prstGeom>
          <a:noFill/>
        </p:spPr>
        <p:txBody>
          <a:bodyPr wrap="square" anchor="t" lIns="0" rIns="0" tIns="0" bIns="0">
            <a:spAutoFit/>
          </a:bodyPr>
          <a:lstStyle/>
          <a:p>
            <a:pPr algn="l">
              <a:spcBef>
                <a:spcPts val="0"/>
              </a:spcBef>
              <a:spcAft>
                <a:spcPts val="600"/>
              </a:spcAft>
            </a:pPr>
            <a:r>
              <a:rPr sz="1300" b="0" i="0">
                <a:solidFill>
                  <a:srgbClr val="8A8983"/>
                </a:solidFill>
                <a:latin typeface="Helvetica Neue"/>
              </a:rPr>
              <a:t>The season indicator is concatenated AFTER both branches finish feature extraction — so the branches share parameters across seasons and only the small dense head learns season-specific baselines.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274320"/>
          </a:xfrm>
          <a:prstGeom prst="rect">
            <a:avLst/>
          </a:prstGeom>
          <a:noFill/>
        </p:spPr>
        <p:txBody>
          <a:bodyPr wrap="square" anchor="t" lIns="0" rIns="0" tIns="0" bIns="0">
            <a:spAutoFit/>
          </a:bodyPr>
          <a:lstStyle/>
          <a:p>
            <a:pPr algn="l">
              <a:spcBef>
                <a:spcPts val="0"/>
              </a:spcBef>
              <a:spcAft>
                <a:spcPts val="600"/>
              </a:spcAft>
            </a:pPr>
            <a:r>
              <a:rPr sz="1200" b="1" i="0">
                <a:solidFill>
                  <a:srgbClr val="EB6834"/>
                </a:solidFill>
                <a:latin typeface="Helvetica Neue"/>
              </a:rPr>
              <a:t>PROTOCOL</a:t>
            </a:r>
          </a:p>
        </p:txBody>
      </p:sp>
      <p:sp>
        <p:nvSpPr>
          <p:cNvPr id="4" name="TextBox 3"/>
          <p:cNvSpPr txBox="1"/>
          <p:nvPr/>
        </p:nvSpPr>
        <p:spPr>
          <a:xfrm>
            <a:off x="777240" y="914400"/>
            <a:ext cx="10637215" cy="548640"/>
          </a:xfrm>
          <a:prstGeom prst="rect">
            <a:avLst/>
          </a:prstGeom>
          <a:noFill/>
        </p:spPr>
        <p:txBody>
          <a:bodyPr wrap="square" anchor="t" lIns="0" rIns="0" tIns="0" bIns="0">
            <a:spAutoFit/>
          </a:bodyPr>
          <a:lstStyle/>
          <a:p>
            <a:pPr algn="l">
              <a:spcBef>
                <a:spcPts val="0"/>
              </a:spcBef>
              <a:spcAft>
                <a:spcPts val="600"/>
              </a:spcAft>
            </a:pPr>
            <a:r>
              <a:rPr sz="2800" b="1" i="0">
                <a:solidFill>
                  <a:srgbClr val="0D366B"/>
                </a:solidFill>
                <a:latin typeface="Helvetica Neue"/>
              </a:rPr>
              <a:t>How we evaluate — and why it lowers our score</a:t>
            </a:r>
          </a:p>
        </p:txBody>
      </p:sp>
      <p:sp>
        <p:nvSpPr>
          <p:cNvPr id="5" name="Rectangle 4"/>
          <p:cNvSpPr/>
          <p:nvPr/>
        </p:nvSpPr>
        <p:spPr>
          <a:xfrm>
            <a:off x="777240" y="1691640"/>
            <a:ext cx="45720" cy="292608"/>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691640"/>
            <a:ext cx="4884267" cy="320040"/>
          </a:xfrm>
          <a:prstGeom prst="rect">
            <a:avLst/>
          </a:prstGeom>
          <a:noFill/>
        </p:spPr>
        <p:txBody>
          <a:bodyPr wrap="square" anchor="t" lIns="0" rIns="0" tIns="0" bIns="0">
            <a:spAutoFit/>
          </a:bodyPr>
          <a:lstStyle/>
          <a:p>
            <a:pPr algn="l">
              <a:spcBef>
                <a:spcPts val="0"/>
              </a:spcBef>
              <a:spcAft>
                <a:spcPts val="600"/>
              </a:spcAft>
            </a:pPr>
            <a:r>
              <a:rPr sz="1700" b="1" i="0">
                <a:solidFill>
                  <a:srgbClr val="0D366B"/>
                </a:solidFill>
                <a:latin typeface="Helvetica Neue"/>
              </a:rPr>
              <a:t>What most papers do</a:t>
            </a:r>
          </a:p>
        </p:txBody>
      </p:sp>
      <p:sp>
        <p:nvSpPr>
          <p:cNvPr id="7" name="TextBox 6"/>
          <p:cNvSpPr txBox="1"/>
          <p:nvPr/>
        </p:nvSpPr>
        <p:spPr>
          <a:xfrm>
            <a:off x="777240" y="2194560"/>
            <a:ext cx="5067147" cy="3200400"/>
          </a:xfrm>
          <a:prstGeom prst="rect">
            <a:avLst/>
          </a:prstGeom>
          <a:noFill/>
        </p:spPr>
        <p:txBody>
          <a:bodyPr wrap="square" anchor="t" lIns="0" rIns="0" tIns="0" bIns="0">
            <a:spAutoFit/>
          </a:bodyPr>
          <a:lstStyle/>
          <a:p>
            <a:pPr algn="l">
              <a:lnSpc>
                <a:spcPct val="120000"/>
              </a:lnSpc>
              <a:spcBef>
                <a:spcPts val="0"/>
              </a:spcBef>
              <a:spcAft>
                <a:spcPts val="200"/>
              </a:spcAft>
            </a:pPr>
            <a:r>
              <a:rPr sz="1500" b="1" i="0">
                <a:solidFill>
                  <a:srgbClr val="EB6834"/>
                </a:solidFill>
                <a:latin typeface="Helvetica Neue"/>
              </a:rPr>
              <a:t>•  </a:t>
            </a:r>
            <a:r>
              <a:rPr sz="1500" b="0" i="0">
                <a:solidFill>
                  <a:srgbClr val="52514E"/>
                </a:solidFill>
                <a:latin typeface="Helvetica Neue"/>
              </a:rPr>
              <a:t>Split records at random into train and test</a:t>
            </a:r>
          </a:p>
          <a:p>
            <a:pPr algn="l">
              <a:lnSpc>
                <a:spcPct val="120000"/>
              </a:lnSpc>
              <a:spcBef>
                <a:spcPts val="900"/>
              </a:spcBef>
              <a:spcAft>
                <a:spcPts val="200"/>
              </a:spcAft>
            </a:pPr>
            <a:r>
              <a:rPr sz="1500" b="1" i="0">
                <a:solidFill>
                  <a:srgbClr val="EB6834"/>
                </a:solidFill>
                <a:latin typeface="Helvetica Neue"/>
              </a:rPr>
              <a:t>•  </a:t>
            </a:r>
            <a:r>
              <a:rPr sz="1500" b="0" i="0">
                <a:solidFill>
                  <a:srgbClr val="52514E"/>
                </a:solidFill>
                <a:latin typeface="Helvetica Neue"/>
              </a:rPr>
              <a:t>Districts from the same year land on both sides</a:t>
            </a:r>
          </a:p>
          <a:p>
            <a:pPr algn="l">
              <a:lnSpc>
                <a:spcPct val="120000"/>
              </a:lnSpc>
              <a:spcBef>
                <a:spcPts val="900"/>
              </a:spcBef>
              <a:spcAft>
                <a:spcPts val="200"/>
              </a:spcAft>
            </a:pPr>
            <a:r>
              <a:rPr sz="1500" b="1" i="0">
                <a:solidFill>
                  <a:srgbClr val="EB6834"/>
                </a:solidFill>
                <a:latin typeface="Helvetica Neue"/>
              </a:rPr>
              <a:t>•  </a:t>
            </a:r>
            <a:r>
              <a:rPr sz="1500" b="0" i="0">
                <a:solidFill>
                  <a:srgbClr val="52514E"/>
                </a:solidFill>
                <a:latin typeface="Helvetica Neue"/>
              </a:rPr>
              <a:t>They share a weather regime and a monsoon anomaly</a:t>
            </a:r>
          </a:p>
          <a:p>
            <a:pPr algn="l">
              <a:lnSpc>
                <a:spcPct val="120000"/>
              </a:lnSpc>
              <a:spcBef>
                <a:spcPts val="900"/>
              </a:spcBef>
              <a:spcAft>
                <a:spcPts val="200"/>
              </a:spcAft>
            </a:pPr>
            <a:r>
              <a:rPr sz="1500" b="1" i="0">
                <a:solidFill>
                  <a:srgbClr val="EB6834"/>
                </a:solidFill>
                <a:latin typeface="Helvetica Neue"/>
              </a:rPr>
              <a:t>•  </a:t>
            </a:r>
            <a:r>
              <a:rPr sz="1500" b="0" i="0">
                <a:solidFill>
                  <a:srgbClr val="52514E"/>
                </a:solidFill>
                <a:latin typeface="Helvetica Neue"/>
              </a:rPr>
              <a:t>The model effectively sees the answer for the year it predicts</a:t>
            </a:r>
          </a:p>
          <a:p>
            <a:pPr algn="l">
              <a:lnSpc>
                <a:spcPct val="120000"/>
              </a:lnSpc>
              <a:spcBef>
                <a:spcPts val="900"/>
              </a:spcBef>
              <a:spcAft>
                <a:spcPts val="200"/>
              </a:spcAft>
            </a:pPr>
            <a:r>
              <a:rPr sz="1500" b="1" i="0">
                <a:solidFill>
                  <a:srgbClr val="EB6834"/>
                </a:solidFill>
                <a:latin typeface="Helvetica Neue"/>
              </a:rPr>
              <a:t>•  </a:t>
            </a:r>
            <a:r>
              <a:rPr sz="1500" b="0" i="0">
                <a:solidFill>
                  <a:srgbClr val="52514E"/>
                </a:solidFill>
                <a:latin typeface="Helvetica Neue"/>
              </a:rPr>
              <a:t>Reported scores are optimistic and do not survive deployment</a:t>
            </a:r>
          </a:p>
        </p:txBody>
      </p:sp>
      <p:sp>
        <p:nvSpPr>
          <p:cNvPr id="8" name="Rectangle 7"/>
          <p:cNvSpPr/>
          <p:nvPr/>
        </p:nvSpPr>
        <p:spPr>
          <a:xfrm>
            <a:off x="6347307" y="1691640"/>
            <a:ext cx="45720" cy="2926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0187" y="1691640"/>
            <a:ext cx="4884267" cy="320040"/>
          </a:xfrm>
          <a:prstGeom prst="rect">
            <a:avLst/>
          </a:prstGeom>
          <a:noFill/>
        </p:spPr>
        <p:txBody>
          <a:bodyPr wrap="square" anchor="t" lIns="0" rIns="0" tIns="0" bIns="0">
            <a:spAutoFit/>
          </a:bodyPr>
          <a:lstStyle/>
          <a:p>
            <a:pPr algn="l">
              <a:spcBef>
                <a:spcPts val="0"/>
              </a:spcBef>
              <a:spcAft>
                <a:spcPts val="600"/>
              </a:spcAft>
            </a:pPr>
            <a:r>
              <a:rPr sz="1700" b="1" i="0">
                <a:solidFill>
                  <a:srgbClr val="0D366B"/>
                </a:solidFill>
                <a:latin typeface="Helvetica Neue"/>
              </a:rPr>
              <a:t>What we do</a:t>
            </a:r>
          </a:p>
        </p:txBody>
      </p:sp>
      <p:sp>
        <p:nvSpPr>
          <p:cNvPr id="10" name="TextBox 9"/>
          <p:cNvSpPr txBox="1"/>
          <p:nvPr/>
        </p:nvSpPr>
        <p:spPr>
          <a:xfrm>
            <a:off x="6347307" y="2194560"/>
            <a:ext cx="5067147" cy="3200400"/>
          </a:xfrm>
          <a:prstGeom prst="rect">
            <a:avLst/>
          </a:prstGeom>
          <a:noFill/>
        </p:spPr>
        <p:txBody>
          <a:bodyPr wrap="square" anchor="t" lIns="0" rIns="0" tIns="0" bIns="0">
            <a:spAutoFit/>
          </a:bodyPr>
          <a:lstStyle/>
          <a:p>
            <a:pPr algn="l">
              <a:lnSpc>
                <a:spcPct val="120000"/>
              </a:lnSpc>
              <a:spcBef>
                <a:spcPts val="0"/>
              </a:spcBef>
              <a:spcAft>
                <a:spcPts val="200"/>
              </a:spcAft>
            </a:pPr>
            <a:r>
              <a:rPr sz="1500" b="1" i="0">
                <a:solidFill>
                  <a:srgbClr val="2A78D6"/>
                </a:solidFill>
                <a:latin typeface="Helvetica Neue"/>
              </a:rPr>
              <a:t>•  </a:t>
            </a:r>
            <a:r>
              <a:rPr sz="1500" b="0" i="0">
                <a:solidFill>
                  <a:srgbClr val="52514E"/>
                </a:solidFill>
                <a:latin typeface="Helvetica Neue"/>
              </a:rPr>
              <a:t>Leave-One-Year-Out: hold out an entire year, rotate through all seven</a:t>
            </a:r>
          </a:p>
          <a:p>
            <a:pPr algn="l">
              <a:lnSpc>
                <a:spcPct val="120000"/>
              </a:lnSpc>
              <a:spcBef>
                <a:spcPts val="900"/>
              </a:spcBef>
              <a:spcAft>
                <a:spcPts val="200"/>
              </a:spcAft>
            </a:pPr>
            <a:r>
              <a:rPr sz="1500" b="1" i="0">
                <a:solidFill>
                  <a:srgbClr val="2A78D6"/>
                </a:solidFill>
                <a:latin typeface="Helvetica Neue"/>
              </a:rPr>
              <a:t>•  </a:t>
            </a:r>
            <a:r>
              <a:rPr sz="1500" b="0" i="0">
                <a:solidFill>
                  <a:srgbClr val="52514E"/>
                </a:solidFill>
                <a:latin typeface="Helvetica Neue"/>
              </a:rPr>
              <a:t>Hyperparameters chosen by an inner search inside the training partition only</a:t>
            </a:r>
          </a:p>
          <a:p>
            <a:pPr algn="l">
              <a:lnSpc>
                <a:spcPct val="120000"/>
              </a:lnSpc>
              <a:spcBef>
                <a:spcPts val="900"/>
              </a:spcBef>
              <a:spcAft>
                <a:spcPts val="200"/>
              </a:spcAft>
            </a:pPr>
            <a:r>
              <a:rPr sz="1500" b="1" i="0">
                <a:solidFill>
                  <a:srgbClr val="2A78D6"/>
                </a:solidFill>
                <a:latin typeface="Helvetica Neue"/>
              </a:rPr>
              <a:t>•  </a:t>
            </a:r>
            <a:r>
              <a:rPr sz="1500" b="0" i="0">
                <a:solidFill>
                  <a:srgbClr val="52514E"/>
                </a:solidFill>
                <a:latin typeface="Helvetica Neue"/>
              </a:rPr>
              <a:t>Every fitted quantity — including the physics calibration — refitted per fold</a:t>
            </a:r>
          </a:p>
          <a:p>
            <a:pPr algn="l">
              <a:lnSpc>
                <a:spcPct val="120000"/>
              </a:lnSpc>
              <a:spcBef>
                <a:spcPts val="900"/>
              </a:spcBef>
              <a:spcAft>
                <a:spcPts val="200"/>
              </a:spcAft>
            </a:pPr>
            <a:r>
              <a:rPr sz="1500" b="1" i="0">
                <a:solidFill>
                  <a:srgbClr val="2A78D6"/>
                </a:solidFill>
                <a:latin typeface="Helvetica Neue"/>
              </a:rPr>
              <a:t>•  </a:t>
            </a:r>
            <a:r>
              <a:rPr sz="1500" b="0" i="0">
                <a:solidFill>
                  <a:srgbClr val="52514E"/>
                </a:solidFill>
                <a:latin typeface="Helvetica Neue"/>
              </a:rPr>
              <a:t>Models compared with the paired Wilcoxon signed-rank test</a:t>
            </a:r>
          </a:p>
          <a:p>
            <a:pPr algn="l">
              <a:lnSpc>
                <a:spcPct val="120000"/>
              </a:lnSpc>
              <a:spcBef>
                <a:spcPts val="900"/>
              </a:spcBef>
              <a:spcAft>
                <a:spcPts val="200"/>
              </a:spcAft>
            </a:pPr>
            <a:r>
              <a:rPr sz="1500" b="1" i="0">
                <a:solidFill>
                  <a:srgbClr val="2A78D6"/>
                </a:solidFill>
                <a:latin typeface="Helvetica Neue"/>
              </a:rPr>
              <a:t>•  </a:t>
            </a:r>
            <a:r>
              <a:rPr sz="1500" b="0" i="0">
                <a:solidFill>
                  <a:srgbClr val="52514E"/>
                </a:solidFill>
                <a:latin typeface="Helvetica Neue"/>
              </a:rPr>
              <a:t>Split-conformal prediction intervals attached to every forecast</a:t>
            </a:r>
          </a:p>
        </p:txBody>
      </p:sp>
      <p:sp>
        <p:nvSpPr>
          <p:cNvPr id="11" name="Rectangle 10"/>
          <p:cNvSpPr/>
          <p:nvPr/>
        </p:nvSpPr>
        <p:spPr>
          <a:xfrm>
            <a:off x="777240" y="5623560"/>
            <a:ext cx="10637215" cy="731520"/>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5623560"/>
            <a:ext cx="54864" cy="7315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5623560"/>
            <a:ext cx="10088575" cy="731520"/>
          </a:xfrm>
          <a:prstGeom prst="rect">
            <a:avLst/>
          </a:prstGeom>
          <a:noFill/>
        </p:spPr>
        <p:txBody>
          <a:bodyPr wrap="square" anchor="ctr" lIns="0" rIns="0" tIns="0" bIns="0">
            <a:spAutoFit/>
          </a:bodyPr>
          <a:lstStyle/>
          <a:p>
            <a:pPr algn="l">
              <a:spcBef>
                <a:spcPts val="0"/>
              </a:spcBef>
              <a:spcAft>
                <a:spcPts val="600"/>
              </a:spcAft>
            </a:pPr>
            <a:r>
              <a:rPr sz="1500" b="1" i="0">
                <a:solidFill>
                  <a:srgbClr val="0D366B"/>
                </a:solidFill>
                <a:latin typeface="Helvetica Neue"/>
              </a:rPr>
              <a:t>A random split would have given us far better-looking numbers. It would also have been wrong.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9264C"/>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1560" y="2377440"/>
            <a:ext cx="9601200" cy="457200"/>
          </a:xfrm>
          <a:prstGeom prst="rect">
            <a:avLst/>
          </a:prstGeom>
          <a:noFill/>
        </p:spPr>
        <p:txBody>
          <a:bodyPr wrap="square" anchor="t" lIns="0" rIns="0" tIns="0" bIns="0">
            <a:spAutoFit/>
          </a:bodyPr>
          <a:lstStyle/>
          <a:p>
            <a:pPr algn="l">
              <a:spcBef>
                <a:spcPts val="0"/>
              </a:spcBef>
              <a:spcAft>
                <a:spcPts val="600"/>
              </a:spcAft>
            </a:pPr>
            <a:r>
              <a:rPr sz="1600" b="1" i="0">
                <a:solidFill>
                  <a:srgbClr val="EB6834"/>
                </a:solidFill>
                <a:latin typeface="Helvetica Neue"/>
              </a:rPr>
              <a:t>04</a:t>
            </a:r>
          </a:p>
        </p:txBody>
      </p:sp>
      <p:sp>
        <p:nvSpPr>
          <p:cNvPr id="4" name="TextBox 3"/>
          <p:cNvSpPr txBox="1"/>
          <p:nvPr/>
        </p:nvSpPr>
        <p:spPr>
          <a:xfrm>
            <a:off x="1051560" y="2834640"/>
            <a:ext cx="9601200" cy="914400"/>
          </a:xfrm>
          <a:prstGeom prst="rect">
            <a:avLst/>
          </a:prstGeom>
          <a:noFill/>
        </p:spPr>
        <p:txBody>
          <a:bodyPr wrap="square" anchor="t" lIns="0" rIns="0" tIns="0" bIns="0">
            <a:spAutoFit/>
          </a:bodyPr>
          <a:lstStyle/>
          <a:p>
            <a:pPr algn="l">
              <a:spcBef>
                <a:spcPts val="0"/>
              </a:spcBef>
              <a:spcAft>
                <a:spcPts val="600"/>
              </a:spcAft>
            </a:pPr>
            <a:r>
              <a:rPr sz="3600" b="1" i="0">
                <a:solidFill>
                  <a:srgbClr val="FFFFFF"/>
                </a:solidFill>
                <a:latin typeface="Helvetica Neue"/>
              </a:rPr>
              <a:t>Results</a:t>
            </a:r>
          </a:p>
        </p:txBody>
      </p:sp>
      <p:sp>
        <p:nvSpPr>
          <p:cNvPr id="5" name="TextBox 4"/>
          <p:cNvSpPr txBox="1"/>
          <p:nvPr/>
        </p:nvSpPr>
        <p:spPr>
          <a:xfrm>
            <a:off x="1051560" y="3886200"/>
            <a:ext cx="8686800" cy="914400"/>
          </a:xfrm>
          <a:prstGeom prst="rect">
            <a:avLst/>
          </a:prstGeom>
          <a:noFill/>
        </p:spPr>
        <p:txBody>
          <a:bodyPr wrap="square" anchor="t" lIns="0" rIns="0" tIns="0" bIns="0">
            <a:spAutoFit/>
          </a:bodyPr>
          <a:lstStyle/>
          <a:p>
            <a:pPr algn="l">
              <a:lnSpc>
                <a:spcPct val="130000"/>
              </a:lnSpc>
              <a:spcBef>
                <a:spcPts val="0"/>
              </a:spcBef>
              <a:spcAft>
                <a:spcPts val="600"/>
              </a:spcAft>
            </a:pPr>
            <a:r>
              <a:rPr sz="1700" b="0" i="0">
                <a:solidFill>
                  <a:srgbClr val="CDE2FB"/>
                </a:solidFill>
                <a:latin typeface="Helvetica Neue"/>
              </a:rPr>
              <a:t>Everything that follows is measured on the 28 seasonal records we actually collected. One slide, clearly labelled, uses synthetic data.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274320"/>
          </a:xfrm>
          <a:prstGeom prst="rect">
            <a:avLst/>
          </a:prstGeom>
          <a:noFill/>
        </p:spPr>
        <p:txBody>
          <a:bodyPr wrap="square" anchor="t" lIns="0" rIns="0" tIns="0" bIns="0">
            <a:spAutoFit/>
          </a:bodyPr>
          <a:lstStyle/>
          <a:p>
            <a:pPr algn="l">
              <a:spcBef>
                <a:spcPts val="0"/>
              </a:spcBef>
              <a:spcAft>
                <a:spcPts val="600"/>
              </a:spcAft>
            </a:pPr>
            <a:r>
              <a:rPr sz="1200" b="1" i="0">
                <a:solidFill>
                  <a:srgbClr val="EB6834"/>
                </a:solidFill>
                <a:latin typeface="Helvetica Neue"/>
              </a:rPr>
              <a:t>RESULTS</a:t>
            </a:r>
          </a:p>
        </p:txBody>
      </p:sp>
      <p:sp>
        <p:nvSpPr>
          <p:cNvPr id="4" name="TextBox 3"/>
          <p:cNvSpPr txBox="1"/>
          <p:nvPr/>
        </p:nvSpPr>
        <p:spPr>
          <a:xfrm>
            <a:off x="777240" y="914400"/>
            <a:ext cx="10637215" cy="548640"/>
          </a:xfrm>
          <a:prstGeom prst="rect">
            <a:avLst/>
          </a:prstGeom>
          <a:noFill/>
        </p:spPr>
        <p:txBody>
          <a:bodyPr wrap="square" anchor="t" lIns="0" rIns="0" tIns="0" bIns="0">
            <a:spAutoFit/>
          </a:bodyPr>
          <a:lstStyle/>
          <a:p>
            <a:pPr algn="l">
              <a:spcBef>
                <a:spcPts val="0"/>
              </a:spcBef>
              <a:spcAft>
                <a:spcPts val="600"/>
              </a:spcAft>
            </a:pPr>
            <a:r>
              <a:rPr sz="2800" b="1" i="0">
                <a:solidFill>
                  <a:srgbClr val="0D366B"/>
                </a:solidFill>
                <a:latin typeface="Helvetica Neue"/>
              </a:rPr>
              <a:t>What the data actually is</a:t>
            </a:r>
          </a:p>
        </p:txBody>
      </p:sp>
      <p:sp>
        <p:nvSpPr>
          <p:cNvPr id="5" name="Rectangle 4"/>
          <p:cNvSpPr/>
          <p:nvPr/>
        </p:nvSpPr>
        <p:spPr>
          <a:xfrm>
            <a:off x="777240" y="2194560"/>
            <a:ext cx="3350666" cy="2651760"/>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2194560"/>
            <a:ext cx="3350666" cy="64008"/>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33272" y="2761488"/>
            <a:ext cx="2838602" cy="1097280"/>
          </a:xfrm>
          <a:prstGeom prst="rect">
            <a:avLst/>
          </a:prstGeom>
          <a:noFill/>
        </p:spPr>
        <p:txBody>
          <a:bodyPr wrap="square" anchor="t" lIns="0" rIns="0" tIns="0" bIns="0">
            <a:spAutoFit/>
          </a:bodyPr>
          <a:lstStyle/>
          <a:p>
            <a:pPr algn="l">
              <a:spcBef>
                <a:spcPts val="0"/>
              </a:spcBef>
              <a:spcAft>
                <a:spcPts val="600"/>
              </a:spcAft>
            </a:pPr>
            <a:r>
              <a:rPr sz="4800" b="1" i="0">
                <a:solidFill>
                  <a:srgbClr val="4A3AA7"/>
                </a:solidFill>
                <a:latin typeface="Helvetica Neue"/>
              </a:rPr>
              <a:t>28</a:t>
            </a:r>
          </a:p>
        </p:txBody>
      </p:sp>
      <p:sp>
        <p:nvSpPr>
          <p:cNvPr id="8" name="TextBox 7"/>
          <p:cNvSpPr txBox="1"/>
          <p:nvPr/>
        </p:nvSpPr>
        <p:spPr>
          <a:xfrm>
            <a:off x="1033272" y="3886200"/>
            <a:ext cx="2838602" cy="822960"/>
          </a:xfrm>
          <a:prstGeom prst="rect">
            <a:avLst/>
          </a:prstGeom>
          <a:noFill/>
        </p:spPr>
        <p:txBody>
          <a:bodyPr wrap="square" anchor="t" lIns="0" rIns="0" tIns="0" bIns="0">
            <a:spAutoFit/>
          </a:bodyPr>
          <a:lstStyle/>
          <a:p>
            <a:pPr algn="l">
              <a:lnSpc>
                <a:spcPct val="122000"/>
              </a:lnSpc>
              <a:spcBef>
                <a:spcPts val="0"/>
              </a:spcBef>
              <a:spcAft>
                <a:spcPts val="600"/>
              </a:spcAft>
            </a:pPr>
            <a:r>
              <a:rPr sz="1400" b="0" i="0">
                <a:solidFill>
                  <a:srgbClr val="52514E"/>
                </a:solidFill>
                <a:latin typeface="Helvetica Neue"/>
              </a:rPr>
              <a:t>seasonal records collected — 4 districts × 7 years</a:t>
            </a:r>
          </a:p>
        </p:txBody>
      </p:sp>
      <p:sp>
        <p:nvSpPr>
          <p:cNvPr id="9" name="Rectangle 8"/>
          <p:cNvSpPr/>
          <p:nvPr/>
        </p:nvSpPr>
        <p:spPr>
          <a:xfrm>
            <a:off x="4420514" y="2194560"/>
            <a:ext cx="3350666" cy="2651760"/>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20514" y="2194560"/>
            <a:ext cx="3350666" cy="64008"/>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76546" y="2761488"/>
            <a:ext cx="2838602" cy="1097280"/>
          </a:xfrm>
          <a:prstGeom prst="rect">
            <a:avLst/>
          </a:prstGeom>
          <a:noFill/>
        </p:spPr>
        <p:txBody>
          <a:bodyPr wrap="square" anchor="t" lIns="0" rIns="0" tIns="0" bIns="0">
            <a:spAutoFit/>
          </a:bodyPr>
          <a:lstStyle/>
          <a:p>
            <a:pPr algn="l">
              <a:spcBef>
                <a:spcPts val="0"/>
              </a:spcBef>
              <a:spcAft>
                <a:spcPts val="600"/>
              </a:spcAft>
            </a:pPr>
            <a:r>
              <a:rPr sz="4800" b="1" i="0">
                <a:solidFill>
                  <a:srgbClr val="EB6834"/>
                </a:solidFill>
                <a:latin typeface="Helvetica Neue"/>
              </a:rPr>
              <a:t>32</a:t>
            </a:r>
          </a:p>
        </p:txBody>
      </p:sp>
      <p:sp>
        <p:nvSpPr>
          <p:cNvPr id="12" name="TextBox 11"/>
          <p:cNvSpPr txBox="1"/>
          <p:nvPr/>
        </p:nvSpPr>
        <p:spPr>
          <a:xfrm>
            <a:off x="4676546" y="3886200"/>
            <a:ext cx="2838602" cy="822960"/>
          </a:xfrm>
          <a:prstGeom prst="rect">
            <a:avLst/>
          </a:prstGeom>
          <a:noFill/>
        </p:spPr>
        <p:txBody>
          <a:bodyPr wrap="square" anchor="t" lIns="0" rIns="0" tIns="0" bIns="0">
            <a:spAutoFit/>
          </a:bodyPr>
          <a:lstStyle/>
          <a:p>
            <a:pPr algn="l">
              <a:lnSpc>
                <a:spcPct val="122000"/>
              </a:lnSpc>
              <a:spcBef>
                <a:spcPts val="0"/>
              </a:spcBef>
              <a:spcAft>
                <a:spcPts val="600"/>
              </a:spcAft>
            </a:pPr>
            <a:r>
              <a:rPr sz="1400" b="0" i="0">
                <a:solidFill>
                  <a:srgbClr val="52514E"/>
                </a:solidFill>
                <a:latin typeface="Helvetica Neue"/>
              </a:rPr>
              <a:t>candidate predictors — more features than observations</a:t>
            </a:r>
          </a:p>
        </p:txBody>
      </p:sp>
      <p:sp>
        <p:nvSpPr>
          <p:cNvPr id="13" name="Rectangle 12"/>
          <p:cNvSpPr/>
          <p:nvPr/>
        </p:nvSpPr>
        <p:spPr>
          <a:xfrm>
            <a:off x="8063788" y="2194560"/>
            <a:ext cx="3350666" cy="2651760"/>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3788" y="2194560"/>
            <a:ext cx="3350666"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19820" y="2761488"/>
            <a:ext cx="2838602" cy="1097280"/>
          </a:xfrm>
          <a:prstGeom prst="rect">
            <a:avLst/>
          </a:prstGeom>
          <a:noFill/>
        </p:spPr>
        <p:txBody>
          <a:bodyPr wrap="square" anchor="t" lIns="0" rIns="0" tIns="0" bIns="0">
            <a:spAutoFit/>
          </a:bodyPr>
          <a:lstStyle/>
          <a:p>
            <a:pPr algn="l">
              <a:spcBef>
                <a:spcPts val="0"/>
              </a:spcBef>
              <a:spcAft>
                <a:spcPts val="600"/>
              </a:spcAft>
            </a:pPr>
            <a:r>
              <a:rPr sz="4800" b="1" i="0">
                <a:solidFill>
                  <a:srgbClr val="2A78D6"/>
                </a:solidFill>
                <a:latin typeface="Helvetica Neue"/>
              </a:rPr>
              <a:t>1</a:t>
            </a:r>
          </a:p>
        </p:txBody>
      </p:sp>
      <p:sp>
        <p:nvSpPr>
          <p:cNvPr id="16" name="TextBox 15"/>
          <p:cNvSpPr txBox="1"/>
          <p:nvPr/>
        </p:nvSpPr>
        <p:spPr>
          <a:xfrm>
            <a:off x="8319820" y="3886200"/>
            <a:ext cx="2838602" cy="822960"/>
          </a:xfrm>
          <a:prstGeom prst="rect">
            <a:avLst/>
          </a:prstGeom>
          <a:noFill/>
        </p:spPr>
        <p:txBody>
          <a:bodyPr wrap="square" anchor="t" lIns="0" rIns="0" tIns="0" bIns="0">
            <a:spAutoFit/>
          </a:bodyPr>
          <a:lstStyle/>
          <a:p>
            <a:pPr algn="l">
              <a:lnSpc>
                <a:spcPct val="122000"/>
              </a:lnSpc>
              <a:spcBef>
                <a:spcPts val="0"/>
              </a:spcBef>
              <a:spcAft>
                <a:spcPts val="600"/>
              </a:spcAft>
            </a:pPr>
            <a:r>
              <a:rPr sz="1400" b="0" i="0">
                <a:solidFill>
                  <a:srgbClr val="52514E"/>
                </a:solidFill>
                <a:latin typeface="Helvetica Neue"/>
              </a:rPr>
              <a:t>season only — Yala; no Maha in the collected record</a:t>
            </a:r>
          </a:p>
        </p:txBody>
      </p:sp>
      <p:sp>
        <p:nvSpPr>
          <p:cNvPr id="17" name="TextBox 16"/>
          <p:cNvSpPr txBox="1"/>
          <p:nvPr/>
        </p:nvSpPr>
        <p:spPr>
          <a:xfrm>
            <a:off x="777240" y="5257800"/>
            <a:ext cx="10637215" cy="731520"/>
          </a:xfrm>
          <a:prstGeom prst="rect">
            <a:avLst/>
          </a:prstGeom>
          <a:noFill/>
        </p:spPr>
        <p:txBody>
          <a:bodyPr wrap="square" anchor="t" lIns="0" rIns="0" tIns="0" bIns="0">
            <a:spAutoFit/>
          </a:bodyPr>
          <a:lstStyle/>
          <a:p>
            <a:pPr algn="l">
              <a:lnSpc>
                <a:spcPct val="125000"/>
              </a:lnSpc>
              <a:spcBef>
                <a:spcPts val="0"/>
              </a:spcBef>
              <a:spcAft>
                <a:spcPts val="600"/>
              </a:spcAft>
            </a:pPr>
            <a:r>
              <a:rPr sz="1500" b="0" i="0">
                <a:solidFill>
                  <a:srgbClr val="52514E"/>
                </a:solidFill>
                <a:latin typeface="Helvetica Neue"/>
              </a:rPr>
              <a:t>Anuradhapura, Kurunegala, Matale and Polonnaruwa, 2019–2025. Mean yield 16.39 MT/Ha (range 8.50–24.06). Each cross-validation fold trains on 24 records. Read every result that follows against this slide.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274320"/>
          </a:xfrm>
          <a:prstGeom prst="rect">
            <a:avLst/>
          </a:prstGeom>
          <a:noFill/>
        </p:spPr>
        <p:txBody>
          <a:bodyPr wrap="square" anchor="t" lIns="0" rIns="0" tIns="0" bIns="0">
            <a:spAutoFit/>
          </a:bodyPr>
          <a:lstStyle/>
          <a:p>
            <a:pPr algn="l">
              <a:spcBef>
                <a:spcPts val="0"/>
              </a:spcBef>
              <a:spcAft>
                <a:spcPts val="600"/>
              </a:spcAft>
            </a:pPr>
            <a:r>
              <a:rPr sz="1200" b="1" i="0">
                <a:solidFill>
                  <a:srgbClr val="EB6834"/>
                </a:solidFill>
                <a:latin typeface="Helvetica Neue"/>
              </a:rPr>
              <a:t>RESULTS</a:t>
            </a:r>
          </a:p>
        </p:txBody>
      </p:sp>
      <p:sp>
        <p:nvSpPr>
          <p:cNvPr id="4" name="TextBox 3"/>
          <p:cNvSpPr txBox="1"/>
          <p:nvPr/>
        </p:nvSpPr>
        <p:spPr>
          <a:xfrm>
            <a:off x="777240" y="914400"/>
            <a:ext cx="10637215" cy="548640"/>
          </a:xfrm>
          <a:prstGeom prst="rect">
            <a:avLst/>
          </a:prstGeom>
          <a:noFill/>
        </p:spPr>
        <p:txBody>
          <a:bodyPr wrap="square" anchor="t" lIns="0" rIns="0" tIns="0" bIns="0">
            <a:spAutoFit/>
          </a:bodyPr>
          <a:lstStyle/>
          <a:p>
            <a:pPr algn="l">
              <a:spcBef>
                <a:spcPts val="0"/>
              </a:spcBef>
              <a:spcAft>
                <a:spcPts val="600"/>
              </a:spcAft>
            </a:pPr>
            <a:r>
              <a:rPr sz="2800" b="1" i="0">
                <a:solidFill>
                  <a:srgbClr val="0D366B"/>
                </a:solidFill>
                <a:latin typeface="Helvetica Neue"/>
              </a:rPr>
              <a:t>Model comparison under Leave-One-Year-Out CV</a:t>
            </a:r>
          </a:p>
        </p:txBody>
      </p:sp>
      <p:pic>
        <p:nvPicPr>
          <p:cNvPr id="5" name="Picture 4" descr="model_comparison.png"/>
          <p:cNvPicPr>
            <a:picLocks noChangeAspect="1"/>
          </p:cNvPicPr>
          <p:nvPr/>
        </p:nvPicPr>
        <p:blipFill>
          <a:blip r:embed="rId2"/>
          <a:stretch>
            <a:fillRect/>
          </a:stretch>
        </p:blipFill>
        <p:spPr>
          <a:xfrm>
            <a:off x="2039041" y="1783080"/>
            <a:ext cx="8113613" cy="4343400"/>
          </a:xfrm>
          <a:prstGeom prst="rect">
            <a:avLst/>
          </a:prstGeom>
        </p:spPr>
      </p:pic>
      <p:sp>
        <p:nvSpPr>
          <p:cNvPr id="6" name="TextBox 5"/>
          <p:cNvSpPr txBox="1"/>
          <p:nvPr/>
        </p:nvSpPr>
        <p:spPr>
          <a:xfrm>
            <a:off x="777240" y="6272784"/>
            <a:ext cx="10637215" cy="457200"/>
          </a:xfrm>
          <a:prstGeom prst="rect">
            <a:avLst/>
          </a:prstGeom>
          <a:noFill/>
        </p:spPr>
        <p:txBody>
          <a:bodyPr wrap="square" anchor="t" lIns="0" rIns="0" tIns="0" bIns="0">
            <a:spAutoFit/>
          </a:bodyPr>
          <a:lstStyle/>
          <a:p>
            <a:pPr algn="l">
              <a:spcBef>
                <a:spcPts val="0"/>
              </a:spcBef>
              <a:spcAft>
                <a:spcPts val="600"/>
              </a:spcAft>
            </a:pPr>
            <a:r>
              <a:rPr sz="1300" b="0" i="0">
                <a:solidFill>
                  <a:srgbClr val="8A8983"/>
                </a:solidFill>
                <a:latin typeface="Helvetica Neue"/>
              </a:rPr>
              <a:t>Physics-residual hybrid leads at RMSE 3.90 MT/Ha, R² 0.091. Every deep architecture falls below the mean predictor.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274320"/>
          </a:xfrm>
          <a:prstGeom prst="rect">
            <a:avLst/>
          </a:prstGeom>
          <a:noFill/>
        </p:spPr>
        <p:txBody>
          <a:bodyPr wrap="square" anchor="t" lIns="0" rIns="0" tIns="0" bIns="0">
            <a:spAutoFit/>
          </a:bodyPr>
          <a:lstStyle/>
          <a:p>
            <a:pPr algn="l">
              <a:spcBef>
                <a:spcPts val="0"/>
              </a:spcBef>
              <a:spcAft>
                <a:spcPts val="600"/>
              </a:spcAft>
            </a:pPr>
            <a:r>
              <a:rPr sz="1200" b="1" i="0">
                <a:solidFill>
                  <a:srgbClr val="EB6834"/>
                </a:solidFill>
                <a:latin typeface="Helvetica Neue"/>
              </a:rPr>
              <a:t>RESULTS</a:t>
            </a:r>
          </a:p>
        </p:txBody>
      </p:sp>
      <p:sp>
        <p:nvSpPr>
          <p:cNvPr id="4" name="TextBox 3"/>
          <p:cNvSpPr txBox="1"/>
          <p:nvPr/>
        </p:nvSpPr>
        <p:spPr>
          <a:xfrm>
            <a:off x="777240" y="914400"/>
            <a:ext cx="10637215" cy="548640"/>
          </a:xfrm>
          <a:prstGeom prst="rect">
            <a:avLst/>
          </a:prstGeom>
          <a:noFill/>
        </p:spPr>
        <p:txBody>
          <a:bodyPr wrap="square" anchor="t" lIns="0" rIns="0" tIns="0" bIns="0">
            <a:spAutoFit/>
          </a:bodyPr>
          <a:lstStyle/>
          <a:p>
            <a:pPr algn="l">
              <a:spcBef>
                <a:spcPts val="0"/>
              </a:spcBef>
              <a:spcAft>
                <a:spcPts val="600"/>
              </a:spcAft>
            </a:pPr>
            <a:r>
              <a:rPr sz="2800" b="1" i="0">
                <a:solidFill>
                  <a:srgbClr val="0D366B"/>
                </a:solidFill>
                <a:latin typeface="Helvetica Neue"/>
              </a:rPr>
              <a:t>Finding 1 — deep learning fails at this scale</a:t>
            </a:r>
          </a:p>
        </p:txBody>
      </p:sp>
      <p:sp>
        <p:nvSpPr>
          <p:cNvPr id="5" name="TextBox 4"/>
          <p:cNvSpPr txBox="1"/>
          <p:nvPr/>
        </p:nvSpPr>
        <p:spPr>
          <a:xfrm>
            <a:off x="777240" y="1691640"/>
            <a:ext cx="10637215" cy="3749040"/>
          </a:xfrm>
          <a:prstGeom prst="rect">
            <a:avLst/>
          </a:prstGeom>
          <a:noFill/>
        </p:spPr>
        <p:txBody>
          <a:bodyPr wrap="square" anchor="t" lIns="0" rIns="0" tIns="0" bIns="0">
            <a:spAutoFit/>
          </a:bodyPr>
          <a:lstStyle/>
          <a:p>
            <a:pPr algn="l">
              <a:lnSpc>
                <a:spcPct val="122000"/>
              </a:lnSpc>
              <a:spcBef>
                <a:spcPts val="0"/>
              </a:spcBef>
              <a:spcAft>
                <a:spcPts val="200"/>
              </a:spcAft>
            </a:pPr>
            <a:r>
              <a:rPr sz="1700" b="1" i="0">
                <a:solidFill>
                  <a:srgbClr val="EB6834"/>
                </a:solidFill>
                <a:latin typeface="Helvetica Neue"/>
              </a:rPr>
              <a:t>▸  </a:t>
            </a:r>
            <a:r>
              <a:rPr sz="1700" b="1" i="0">
                <a:solidFill>
                  <a:srgbClr val="0B0B0B"/>
                </a:solidFill>
                <a:latin typeface="Helvetica Neue"/>
              </a:rPr>
              <a:t>The outcome  </a:t>
            </a:r>
            <a:r>
              <a:rPr sz="1700" b="0" i="0">
                <a:solidFill>
                  <a:srgbClr val="52514E"/>
                </a:solidFill>
                <a:latin typeface="Helvetica Neue"/>
              </a:rPr>
              <a:t>all four deep architectures score below a constant-mean predictor; the paired Wilcoxon test rejects parity with the classical family at p &lt; 0.0001</a:t>
            </a:r>
          </a:p>
          <a:p>
            <a:pPr algn="l">
              <a:lnSpc>
                <a:spcPct val="122000"/>
              </a:lnSpc>
              <a:spcBef>
                <a:spcPts val="1100"/>
              </a:spcBef>
              <a:spcAft>
                <a:spcPts val="200"/>
              </a:spcAft>
            </a:pPr>
            <a:r>
              <a:rPr sz="1700" b="1" i="0">
                <a:solidFill>
                  <a:srgbClr val="EB6834"/>
                </a:solidFill>
                <a:latin typeface="Helvetica Neue"/>
              </a:rPr>
              <a:t>▸  </a:t>
            </a:r>
            <a:r>
              <a:rPr sz="1700" b="1" i="0">
                <a:solidFill>
                  <a:srgbClr val="0B0B0B"/>
                </a:solidFill>
                <a:latin typeface="Helvetica Neue"/>
              </a:rPr>
              <a:t>The hybrid CNN-LSTM does not beat its own components  </a:t>
            </a:r>
            <a:r>
              <a:rPr sz="1700" b="0" i="0">
                <a:solidFill>
                  <a:srgbClr val="52514E"/>
                </a:solidFill>
                <a:latin typeface="Helvetica Neue"/>
              </a:rPr>
              <a:t>it sits between the CNN and the LSTM</a:t>
            </a:r>
          </a:p>
          <a:p>
            <a:pPr algn="l">
              <a:lnSpc>
                <a:spcPct val="122000"/>
              </a:lnSpc>
              <a:spcBef>
                <a:spcPts val="1100"/>
              </a:spcBef>
              <a:spcAft>
                <a:spcPts val="200"/>
              </a:spcAft>
            </a:pPr>
            <a:r>
              <a:rPr sz="1700" b="1" i="0">
                <a:solidFill>
                  <a:srgbClr val="EB6834"/>
                </a:solidFill>
                <a:latin typeface="Helvetica Neue"/>
              </a:rPr>
              <a:t>▸  </a:t>
            </a:r>
            <a:r>
              <a:rPr sz="1700" b="1" i="0">
                <a:solidFill>
                  <a:srgbClr val="0B0B0B"/>
                </a:solidFill>
                <a:latin typeface="Helvetica Neue"/>
              </a:rPr>
              <a:t>Why  </a:t>
            </a:r>
            <a:r>
              <a:rPr sz="1700" b="0" i="0">
                <a:solidFill>
                  <a:srgbClr val="52514E"/>
                </a:solidFill>
                <a:latin typeface="Helvetica Neue"/>
              </a:rPr>
              <a:t>representation learning trades sample efficiency for expressive power — at 24 training records per fold there is nothing to trade with</a:t>
            </a:r>
          </a:p>
          <a:p>
            <a:pPr algn="l">
              <a:lnSpc>
                <a:spcPct val="122000"/>
              </a:lnSpc>
              <a:spcBef>
                <a:spcPts val="1100"/>
              </a:spcBef>
              <a:spcAft>
                <a:spcPts val="200"/>
              </a:spcAft>
            </a:pPr>
            <a:r>
              <a:rPr sz="1700" b="1" i="0">
                <a:solidFill>
                  <a:srgbClr val="EB6834"/>
                </a:solidFill>
                <a:latin typeface="Helvetica Neue"/>
              </a:rPr>
              <a:t>▸  </a:t>
            </a:r>
            <a:r>
              <a:rPr sz="1700" b="1" i="0">
                <a:solidFill>
                  <a:srgbClr val="0B0B0B"/>
                </a:solidFill>
                <a:latin typeface="Helvetica Neue"/>
              </a:rPr>
              <a:t>It is not a bug  </a:t>
            </a:r>
            <a:r>
              <a:rPr sz="1700" b="0" i="0">
                <a:solidFill>
                  <a:srgbClr val="52514E"/>
                </a:solidFill>
                <a:latin typeface="Helvetica Neue"/>
              </a:rPr>
              <a:t>the same code reaches R² 0.842 on a larger sample (slide 27)</a:t>
            </a:r>
          </a:p>
          <a:p>
            <a:pPr algn="l">
              <a:lnSpc>
                <a:spcPct val="122000"/>
              </a:lnSpc>
              <a:spcBef>
                <a:spcPts val="1100"/>
              </a:spcBef>
              <a:spcAft>
                <a:spcPts val="200"/>
              </a:spcAft>
            </a:pPr>
            <a:r>
              <a:rPr sz="1700" b="1" i="0">
                <a:solidFill>
                  <a:srgbClr val="EB6834"/>
                </a:solidFill>
                <a:latin typeface="Helvetica Neue"/>
              </a:rPr>
              <a:t>▸  </a:t>
            </a:r>
            <a:r>
              <a:rPr sz="1700" b="1" i="0">
                <a:solidFill>
                  <a:srgbClr val="0B0B0B"/>
                </a:solidFill>
                <a:latin typeface="Helvetica Neue"/>
              </a:rPr>
              <a:t>It survives scale  </a:t>
            </a:r>
            <a:r>
              <a:rPr sz="1700" b="0" i="0">
                <a:solidFill>
                  <a:srgbClr val="52514E"/>
                </a:solidFill>
                <a:latin typeface="Helvetica Neue"/>
              </a:rPr>
              <a:t>even at ~160 records the classical models still lead 0.842 to 0.271</a:t>
            </a:r>
          </a:p>
        </p:txBody>
      </p:sp>
      <p:sp>
        <p:nvSpPr>
          <p:cNvPr id="6" name="Rectangle 5"/>
          <p:cNvSpPr/>
          <p:nvPr/>
        </p:nvSpPr>
        <p:spPr>
          <a:xfrm>
            <a:off x="777240" y="5623560"/>
            <a:ext cx="10637215" cy="731520"/>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5623560"/>
            <a:ext cx="54864" cy="7315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88575" cy="731520"/>
          </a:xfrm>
          <a:prstGeom prst="rect">
            <a:avLst/>
          </a:prstGeom>
          <a:noFill/>
        </p:spPr>
        <p:txBody>
          <a:bodyPr wrap="square" anchor="ctr" lIns="0" rIns="0" tIns="0" bIns="0">
            <a:spAutoFit/>
          </a:bodyPr>
          <a:lstStyle/>
          <a:p>
            <a:pPr algn="l">
              <a:spcBef>
                <a:spcPts val="0"/>
              </a:spcBef>
              <a:spcAft>
                <a:spcPts val="600"/>
              </a:spcAft>
            </a:pPr>
            <a:r>
              <a:rPr sz="1500" b="1" i="0">
                <a:solidFill>
                  <a:srgbClr val="0D366B"/>
                </a:solidFill>
                <a:latin typeface="Helvetica Neue"/>
              </a:rPr>
              <a:t>Actionable guidance the literature does not give: at this sample size, do not start with deep learning.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274320"/>
          </a:xfrm>
          <a:prstGeom prst="rect">
            <a:avLst/>
          </a:prstGeom>
          <a:noFill/>
        </p:spPr>
        <p:txBody>
          <a:bodyPr wrap="square" anchor="t" lIns="0" rIns="0" tIns="0" bIns="0">
            <a:spAutoFit/>
          </a:bodyPr>
          <a:lstStyle/>
          <a:p>
            <a:pPr algn="l">
              <a:spcBef>
                <a:spcPts val="0"/>
              </a:spcBef>
              <a:spcAft>
                <a:spcPts val="600"/>
              </a:spcAft>
            </a:pPr>
            <a:r>
              <a:rPr sz="1200" b="1" i="0">
                <a:solidFill>
                  <a:srgbClr val="EB6834"/>
                </a:solidFill>
                <a:latin typeface="Helvetica Neue"/>
              </a:rPr>
              <a:t>RESULTS</a:t>
            </a:r>
          </a:p>
        </p:txBody>
      </p:sp>
      <p:sp>
        <p:nvSpPr>
          <p:cNvPr id="4" name="TextBox 3"/>
          <p:cNvSpPr txBox="1"/>
          <p:nvPr/>
        </p:nvSpPr>
        <p:spPr>
          <a:xfrm>
            <a:off x="777240" y="914400"/>
            <a:ext cx="10637215" cy="548640"/>
          </a:xfrm>
          <a:prstGeom prst="rect">
            <a:avLst/>
          </a:prstGeom>
          <a:noFill/>
        </p:spPr>
        <p:txBody>
          <a:bodyPr wrap="square" anchor="t" lIns="0" rIns="0" tIns="0" bIns="0">
            <a:spAutoFit/>
          </a:bodyPr>
          <a:lstStyle/>
          <a:p>
            <a:pPr algn="l">
              <a:spcBef>
                <a:spcPts val="0"/>
              </a:spcBef>
              <a:spcAft>
                <a:spcPts val="600"/>
              </a:spcAft>
            </a:pPr>
            <a:r>
              <a:rPr sz="2800" b="1" i="0">
                <a:solidFill>
                  <a:srgbClr val="0D366B"/>
                </a:solidFill>
                <a:latin typeface="Helvetica Neue"/>
              </a:rPr>
              <a:t>Finding 2 — the agronomic prior earns its place</a:t>
            </a:r>
          </a:p>
        </p:txBody>
      </p:sp>
      <p:pic>
        <p:nvPicPr>
          <p:cNvPr id="5" name="Picture 4" descr="physics_ablation.png"/>
          <p:cNvPicPr>
            <a:picLocks noChangeAspect="1"/>
          </p:cNvPicPr>
          <p:nvPr/>
        </p:nvPicPr>
        <p:blipFill>
          <a:blip r:embed="rId2"/>
          <a:stretch>
            <a:fillRect/>
          </a:stretch>
        </p:blipFill>
        <p:spPr>
          <a:xfrm>
            <a:off x="2648824" y="1783080"/>
            <a:ext cx="6894047" cy="3931920"/>
          </a:xfrm>
          <a:prstGeom prst="rect">
            <a:avLst/>
          </a:prstGeom>
        </p:spPr>
      </p:pic>
      <p:sp>
        <p:nvSpPr>
          <p:cNvPr id="6" name="TextBox 5"/>
          <p:cNvSpPr txBox="1"/>
          <p:nvPr/>
        </p:nvSpPr>
        <p:spPr>
          <a:xfrm>
            <a:off x="777240" y="5861304"/>
            <a:ext cx="10637215" cy="457200"/>
          </a:xfrm>
          <a:prstGeom prst="rect">
            <a:avLst/>
          </a:prstGeom>
          <a:noFill/>
        </p:spPr>
        <p:txBody>
          <a:bodyPr wrap="square" anchor="t" lIns="0" rIns="0" tIns="0" bIns="0">
            <a:spAutoFit/>
          </a:bodyPr>
          <a:lstStyle/>
          <a:p>
            <a:pPr algn="l">
              <a:spcBef>
                <a:spcPts val="0"/>
              </a:spcBef>
              <a:spcAft>
                <a:spcPts val="600"/>
              </a:spcAft>
            </a:pPr>
            <a:r>
              <a:rPr sz="1300" b="0" i="0">
                <a:solidFill>
                  <a:srgbClr val="8A8983"/>
                </a:solidFill>
                <a:latin typeface="Helvetica Neue"/>
              </a:rPr>
              <a:t>Backbone alone is worse than the mean. Learner alone reaches 0.020. Together they reach 0.091 — a +0.070 lift over the same learner.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274320"/>
          </a:xfrm>
          <a:prstGeom prst="rect">
            <a:avLst/>
          </a:prstGeom>
          <a:noFill/>
        </p:spPr>
        <p:txBody>
          <a:bodyPr wrap="square" anchor="t" lIns="0" rIns="0" tIns="0" bIns="0">
            <a:spAutoFit/>
          </a:bodyPr>
          <a:lstStyle/>
          <a:p>
            <a:pPr algn="l">
              <a:spcBef>
                <a:spcPts val="0"/>
              </a:spcBef>
              <a:spcAft>
                <a:spcPts val="600"/>
              </a:spcAft>
            </a:pPr>
            <a:r>
              <a:rPr sz="1200" b="1" i="0">
                <a:solidFill>
                  <a:srgbClr val="EB6834"/>
                </a:solidFill>
                <a:latin typeface="Helvetica Neue"/>
              </a:rPr>
              <a:t>RESULTS</a:t>
            </a:r>
          </a:p>
        </p:txBody>
      </p:sp>
      <p:sp>
        <p:nvSpPr>
          <p:cNvPr id="4" name="TextBox 3"/>
          <p:cNvSpPr txBox="1"/>
          <p:nvPr/>
        </p:nvSpPr>
        <p:spPr>
          <a:xfrm>
            <a:off x="777240" y="914400"/>
            <a:ext cx="10637215" cy="548640"/>
          </a:xfrm>
          <a:prstGeom prst="rect">
            <a:avLst/>
          </a:prstGeom>
          <a:noFill/>
        </p:spPr>
        <p:txBody>
          <a:bodyPr wrap="square" anchor="t" lIns="0" rIns="0" tIns="0" bIns="0">
            <a:spAutoFit/>
          </a:bodyPr>
          <a:lstStyle/>
          <a:p>
            <a:pPr algn="l">
              <a:spcBef>
                <a:spcPts val="0"/>
              </a:spcBef>
              <a:spcAft>
                <a:spcPts val="600"/>
              </a:spcAft>
            </a:pPr>
            <a:r>
              <a:rPr sz="2800" b="1" i="0">
                <a:solidFill>
                  <a:srgbClr val="0D366B"/>
                </a:solidFill>
                <a:latin typeface="Helvetica Neue"/>
              </a:rPr>
              <a:t>Finding 3 — stacking beats the mean, not the best model</a:t>
            </a:r>
          </a:p>
        </p:txBody>
      </p:sp>
      <p:pic>
        <p:nvPicPr>
          <p:cNvPr id="5" name="Picture 4" descr="stacking.png"/>
          <p:cNvPicPr>
            <a:picLocks noChangeAspect="1"/>
          </p:cNvPicPr>
          <p:nvPr/>
        </p:nvPicPr>
        <p:blipFill>
          <a:blip r:embed="rId2"/>
          <a:stretch>
            <a:fillRect/>
          </a:stretch>
        </p:blipFill>
        <p:spPr>
          <a:xfrm>
            <a:off x="2241024" y="1783080"/>
            <a:ext cx="7709647" cy="3931920"/>
          </a:xfrm>
          <a:prstGeom prst="rect">
            <a:avLst/>
          </a:prstGeom>
        </p:spPr>
      </p:pic>
      <p:sp>
        <p:nvSpPr>
          <p:cNvPr id="6" name="TextBox 5"/>
          <p:cNvSpPr txBox="1"/>
          <p:nvPr/>
        </p:nvSpPr>
        <p:spPr>
          <a:xfrm>
            <a:off x="777240" y="5861304"/>
            <a:ext cx="10637215" cy="457200"/>
          </a:xfrm>
          <a:prstGeom prst="rect">
            <a:avLst/>
          </a:prstGeom>
          <a:noFill/>
        </p:spPr>
        <p:txBody>
          <a:bodyPr wrap="square" anchor="t" lIns="0" rIns="0" tIns="0" bIns="0">
            <a:spAutoFit/>
          </a:bodyPr>
          <a:lstStyle/>
          <a:p>
            <a:pPr algn="l">
              <a:spcBef>
                <a:spcPts val="0"/>
              </a:spcBef>
              <a:spcAft>
                <a:spcPts val="600"/>
              </a:spcAft>
            </a:pPr>
            <a:r>
              <a:rPr sz="1300" b="0" i="0">
                <a:solidFill>
                  <a:srgbClr val="8A8983"/>
                </a:solidFill>
                <a:latin typeface="Helvetica Neue"/>
              </a:rPr>
              <a:t>The learned convex blend clearly beats the equal-weight mean — the forecast-combination puzzle does not hold here — but no blend beats the single physics-residual hybrid.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274320"/>
          </a:xfrm>
          <a:prstGeom prst="rect">
            <a:avLst/>
          </a:prstGeom>
          <a:noFill/>
        </p:spPr>
        <p:txBody>
          <a:bodyPr wrap="square" anchor="t" lIns="0" rIns="0" tIns="0" bIns="0">
            <a:spAutoFit/>
          </a:bodyPr>
          <a:lstStyle/>
          <a:p>
            <a:pPr algn="l">
              <a:spcBef>
                <a:spcPts val="0"/>
              </a:spcBef>
              <a:spcAft>
                <a:spcPts val="600"/>
              </a:spcAft>
            </a:pPr>
            <a:r>
              <a:rPr sz="1200" b="1" i="0">
                <a:solidFill>
                  <a:srgbClr val="EB6834"/>
                </a:solidFill>
                <a:latin typeface="Helvetica Neue"/>
              </a:rPr>
              <a:t>RESULTS</a:t>
            </a:r>
          </a:p>
        </p:txBody>
      </p:sp>
      <p:sp>
        <p:nvSpPr>
          <p:cNvPr id="4" name="TextBox 3"/>
          <p:cNvSpPr txBox="1"/>
          <p:nvPr/>
        </p:nvSpPr>
        <p:spPr>
          <a:xfrm>
            <a:off x="777240" y="914400"/>
            <a:ext cx="10637215" cy="548640"/>
          </a:xfrm>
          <a:prstGeom prst="rect">
            <a:avLst/>
          </a:prstGeom>
          <a:noFill/>
        </p:spPr>
        <p:txBody>
          <a:bodyPr wrap="square" anchor="t" lIns="0" rIns="0" tIns="0" bIns="0">
            <a:spAutoFit/>
          </a:bodyPr>
          <a:lstStyle/>
          <a:p>
            <a:pPr algn="l">
              <a:spcBef>
                <a:spcPts val="0"/>
              </a:spcBef>
              <a:spcAft>
                <a:spcPts val="600"/>
              </a:spcAft>
            </a:pPr>
            <a:r>
              <a:rPr sz="2800" b="1" i="0">
                <a:solidFill>
                  <a:srgbClr val="0D366B"/>
                </a:solidFill>
                <a:latin typeface="Helvetica Neue"/>
              </a:rPr>
              <a:t>Which data source is worth paying for?</a:t>
            </a:r>
          </a:p>
        </p:txBody>
      </p:sp>
      <p:pic>
        <p:nvPicPr>
          <p:cNvPr id="5" name="Picture 4" descr="ablation_sources.png"/>
          <p:cNvPicPr>
            <a:picLocks noChangeAspect="1"/>
          </p:cNvPicPr>
          <p:nvPr/>
        </p:nvPicPr>
        <p:blipFill>
          <a:blip r:embed="rId2"/>
          <a:stretch>
            <a:fillRect/>
          </a:stretch>
        </p:blipFill>
        <p:spPr>
          <a:xfrm>
            <a:off x="1999590" y="1783080"/>
            <a:ext cx="8192514" cy="3931920"/>
          </a:xfrm>
          <a:prstGeom prst="rect">
            <a:avLst/>
          </a:prstGeom>
        </p:spPr>
      </p:pic>
      <p:sp>
        <p:nvSpPr>
          <p:cNvPr id="6" name="TextBox 5"/>
          <p:cNvSpPr txBox="1"/>
          <p:nvPr/>
        </p:nvSpPr>
        <p:spPr>
          <a:xfrm>
            <a:off x="777240" y="5861304"/>
            <a:ext cx="10637215" cy="457200"/>
          </a:xfrm>
          <a:prstGeom prst="rect">
            <a:avLst/>
          </a:prstGeom>
          <a:noFill/>
        </p:spPr>
        <p:txBody>
          <a:bodyPr wrap="square" anchor="t" lIns="0" rIns="0" tIns="0" bIns="0">
            <a:spAutoFit/>
          </a:bodyPr>
          <a:lstStyle/>
          <a:p>
            <a:pPr algn="l">
              <a:spcBef>
                <a:spcPts val="0"/>
              </a:spcBef>
              <a:spcAft>
                <a:spcPts val="600"/>
              </a:spcAft>
            </a:pPr>
            <a:r>
              <a:rPr sz="1300" b="0" i="0">
                <a:solidFill>
                  <a:srgbClr val="8A8983"/>
                </a:solidFill>
                <a:latin typeface="Helvetica Neue"/>
              </a:rPr>
              <a:t>Six configurations, identical model, protocol and seed. Only the full set approaches the baseline.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274320"/>
          </a:xfrm>
          <a:prstGeom prst="rect">
            <a:avLst/>
          </a:prstGeom>
          <a:noFill/>
        </p:spPr>
        <p:txBody>
          <a:bodyPr wrap="square" anchor="t" lIns="0" rIns="0" tIns="0" bIns="0">
            <a:spAutoFit/>
          </a:bodyPr>
          <a:lstStyle/>
          <a:p>
            <a:pPr algn="l">
              <a:spcBef>
                <a:spcPts val="0"/>
              </a:spcBef>
              <a:spcAft>
                <a:spcPts val="600"/>
              </a:spcAft>
            </a:pPr>
            <a:r>
              <a:rPr sz="1200" b="1" i="0">
                <a:solidFill>
                  <a:srgbClr val="EB6834"/>
                </a:solidFill>
                <a:latin typeface="Helvetica Neue"/>
              </a:rPr>
              <a:t>RESULTS</a:t>
            </a:r>
          </a:p>
        </p:txBody>
      </p:sp>
      <p:sp>
        <p:nvSpPr>
          <p:cNvPr id="4" name="TextBox 3"/>
          <p:cNvSpPr txBox="1"/>
          <p:nvPr/>
        </p:nvSpPr>
        <p:spPr>
          <a:xfrm>
            <a:off x="777240" y="914400"/>
            <a:ext cx="10637215" cy="548640"/>
          </a:xfrm>
          <a:prstGeom prst="rect">
            <a:avLst/>
          </a:prstGeom>
          <a:noFill/>
        </p:spPr>
        <p:txBody>
          <a:bodyPr wrap="square" anchor="t" lIns="0" rIns="0" tIns="0" bIns="0">
            <a:spAutoFit/>
          </a:bodyPr>
          <a:lstStyle/>
          <a:p>
            <a:pPr algn="l">
              <a:spcBef>
                <a:spcPts val="0"/>
              </a:spcBef>
              <a:spcAft>
                <a:spcPts val="600"/>
              </a:spcAft>
            </a:pPr>
            <a:r>
              <a:rPr sz="2800" b="1" i="0">
                <a:solidFill>
                  <a:srgbClr val="0D366B"/>
                </a:solidFill>
                <a:latin typeface="Helvetica Neue"/>
              </a:rPr>
              <a:t>Predictability varies sharply by district</a:t>
            </a:r>
          </a:p>
        </p:txBody>
      </p:sp>
      <p:pic>
        <p:nvPicPr>
          <p:cNvPr id="5" name="Picture 4" descr="per_district.png"/>
          <p:cNvPicPr>
            <a:picLocks noChangeAspect="1"/>
          </p:cNvPicPr>
          <p:nvPr/>
        </p:nvPicPr>
        <p:blipFill>
          <a:blip r:embed="rId2"/>
          <a:stretch>
            <a:fillRect/>
          </a:stretch>
        </p:blipFill>
        <p:spPr>
          <a:xfrm>
            <a:off x="1923775" y="1783080"/>
            <a:ext cx="8344145" cy="3840480"/>
          </a:xfrm>
          <a:prstGeom prst="rect">
            <a:avLst/>
          </a:prstGeom>
        </p:spPr>
      </p:pic>
      <p:sp>
        <p:nvSpPr>
          <p:cNvPr id="6" name="TextBox 5"/>
          <p:cNvSpPr txBox="1"/>
          <p:nvPr/>
        </p:nvSpPr>
        <p:spPr>
          <a:xfrm>
            <a:off x="777240" y="5769864"/>
            <a:ext cx="10637215" cy="457200"/>
          </a:xfrm>
          <a:prstGeom prst="rect">
            <a:avLst/>
          </a:prstGeom>
          <a:noFill/>
        </p:spPr>
        <p:txBody>
          <a:bodyPr wrap="square" anchor="t" lIns="0" rIns="0" tIns="0" bIns="0">
            <a:spAutoFit/>
          </a:bodyPr>
          <a:lstStyle/>
          <a:p>
            <a:pPr algn="l">
              <a:spcBef>
                <a:spcPts val="0"/>
              </a:spcBef>
              <a:spcAft>
                <a:spcPts val="600"/>
              </a:spcAft>
            </a:pPr>
            <a:r>
              <a:rPr sz="1300" b="0" i="0">
                <a:solidFill>
                  <a:srgbClr val="8A8983"/>
                </a:solidFill>
                <a:latin typeface="Helvetica Neue"/>
              </a:rPr>
              <a:t>Anuradhapura is most predictable; Kurunegala is worst by R² but better than Matale by absolute error.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274320"/>
          </a:xfrm>
          <a:prstGeom prst="rect">
            <a:avLst/>
          </a:prstGeom>
          <a:noFill/>
        </p:spPr>
        <p:txBody>
          <a:bodyPr wrap="square" anchor="t" lIns="0" rIns="0" tIns="0" bIns="0">
            <a:spAutoFit/>
          </a:bodyPr>
          <a:lstStyle/>
          <a:p>
            <a:pPr algn="l">
              <a:spcBef>
                <a:spcPts val="0"/>
              </a:spcBef>
              <a:spcAft>
                <a:spcPts val="600"/>
              </a:spcAft>
            </a:pPr>
            <a:r>
              <a:rPr sz="1200" b="1" i="0">
                <a:solidFill>
                  <a:srgbClr val="EB6834"/>
                </a:solidFill>
                <a:latin typeface="Helvetica Neue"/>
              </a:rPr>
              <a:t>RESULTS</a:t>
            </a:r>
          </a:p>
        </p:txBody>
      </p:sp>
      <p:sp>
        <p:nvSpPr>
          <p:cNvPr id="4" name="TextBox 3"/>
          <p:cNvSpPr txBox="1"/>
          <p:nvPr/>
        </p:nvSpPr>
        <p:spPr>
          <a:xfrm>
            <a:off x="777240" y="914400"/>
            <a:ext cx="10637215" cy="548640"/>
          </a:xfrm>
          <a:prstGeom prst="rect">
            <a:avLst/>
          </a:prstGeom>
          <a:noFill/>
        </p:spPr>
        <p:txBody>
          <a:bodyPr wrap="square" anchor="t" lIns="0" rIns="0" tIns="0" bIns="0">
            <a:spAutoFit/>
          </a:bodyPr>
          <a:lstStyle/>
          <a:p>
            <a:pPr algn="l">
              <a:spcBef>
                <a:spcPts val="0"/>
              </a:spcBef>
              <a:spcAft>
                <a:spcPts val="600"/>
              </a:spcAft>
            </a:pPr>
            <a:r>
              <a:rPr sz="2800" b="1" i="0">
                <a:solidFill>
                  <a:srgbClr val="0D366B"/>
                </a:solidFill>
                <a:latin typeface="Helvetica Neue"/>
              </a:rPr>
              <a:t>What drives the forecast</a:t>
            </a:r>
          </a:p>
        </p:txBody>
      </p:sp>
      <p:pic>
        <p:nvPicPr>
          <p:cNvPr id="5" name="Picture 4" descr="shap_top.png"/>
          <p:cNvPicPr>
            <a:picLocks noChangeAspect="1"/>
          </p:cNvPicPr>
          <p:nvPr/>
        </p:nvPicPr>
        <p:blipFill>
          <a:blip r:embed="rId2"/>
          <a:stretch>
            <a:fillRect/>
          </a:stretch>
        </p:blipFill>
        <p:spPr>
          <a:xfrm>
            <a:off x="2123806" y="1783080"/>
            <a:ext cx="7944083" cy="3931920"/>
          </a:xfrm>
          <a:prstGeom prst="rect">
            <a:avLst/>
          </a:prstGeom>
        </p:spPr>
      </p:pic>
      <p:sp>
        <p:nvSpPr>
          <p:cNvPr id="6" name="TextBox 5"/>
          <p:cNvSpPr txBox="1"/>
          <p:nvPr/>
        </p:nvSpPr>
        <p:spPr>
          <a:xfrm>
            <a:off x="777240" y="5861304"/>
            <a:ext cx="10637215" cy="457200"/>
          </a:xfrm>
          <a:prstGeom prst="rect">
            <a:avLst/>
          </a:prstGeom>
          <a:noFill/>
        </p:spPr>
        <p:txBody>
          <a:bodyPr wrap="square" anchor="t" lIns="0" rIns="0" tIns="0" bIns="0">
            <a:spAutoFit/>
          </a:bodyPr>
          <a:lstStyle/>
          <a:p>
            <a:pPr algn="l">
              <a:spcBef>
                <a:spcPts val="0"/>
              </a:spcBef>
              <a:spcAft>
                <a:spcPts val="600"/>
              </a:spcAft>
            </a:pPr>
            <a:r>
              <a:rPr sz="1300" b="0" i="0">
                <a:solidFill>
                  <a:srgbClr val="8A8983"/>
                </a:solidFill>
                <a:latin typeface="Helvetica Neue"/>
              </a:rPr>
              <a:t>Two of the three engineered interaction terms outrank every raw measurement they were built from.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274320"/>
          </a:xfrm>
          <a:prstGeom prst="rect">
            <a:avLst/>
          </a:prstGeom>
          <a:noFill/>
        </p:spPr>
        <p:txBody>
          <a:bodyPr wrap="square" anchor="t" lIns="0" rIns="0" tIns="0" bIns="0">
            <a:spAutoFit/>
          </a:bodyPr>
          <a:lstStyle/>
          <a:p>
            <a:pPr algn="l">
              <a:spcBef>
                <a:spcPts val="0"/>
              </a:spcBef>
              <a:spcAft>
                <a:spcPts val="600"/>
              </a:spcAft>
            </a:pPr>
            <a:r>
              <a:rPr sz="1200" b="1" i="0">
                <a:solidFill>
                  <a:srgbClr val="EB6834"/>
                </a:solidFill>
                <a:latin typeface="Helvetica Neue"/>
              </a:rPr>
              <a:t>RESULTS</a:t>
            </a:r>
          </a:p>
        </p:txBody>
      </p:sp>
      <p:sp>
        <p:nvSpPr>
          <p:cNvPr id="4" name="TextBox 3"/>
          <p:cNvSpPr txBox="1"/>
          <p:nvPr/>
        </p:nvSpPr>
        <p:spPr>
          <a:xfrm>
            <a:off x="777240" y="914400"/>
            <a:ext cx="10637215" cy="548640"/>
          </a:xfrm>
          <a:prstGeom prst="rect">
            <a:avLst/>
          </a:prstGeom>
          <a:noFill/>
        </p:spPr>
        <p:txBody>
          <a:bodyPr wrap="square" anchor="t" lIns="0" rIns="0" tIns="0" bIns="0">
            <a:spAutoFit/>
          </a:bodyPr>
          <a:lstStyle/>
          <a:p>
            <a:pPr algn="l">
              <a:spcBef>
                <a:spcPts val="0"/>
              </a:spcBef>
              <a:spcAft>
                <a:spcPts val="600"/>
              </a:spcAft>
            </a:pPr>
            <a:r>
              <a:rPr sz="2800" b="1" i="0">
                <a:solidFill>
                  <a:srgbClr val="0D366B"/>
                </a:solidFill>
                <a:latin typeface="Helvetica Neue"/>
              </a:rPr>
              <a:t>Every forecast ships with a calibrated interval</a:t>
            </a:r>
          </a:p>
        </p:txBody>
      </p:sp>
      <p:pic>
        <p:nvPicPr>
          <p:cNvPr id="5" name="Picture 4" descr="conformal.png"/>
          <p:cNvPicPr>
            <a:picLocks noChangeAspect="1"/>
          </p:cNvPicPr>
          <p:nvPr/>
        </p:nvPicPr>
        <p:blipFill>
          <a:blip r:embed="rId2"/>
          <a:stretch>
            <a:fillRect/>
          </a:stretch>
        </p:blipFill>
        <p:spPr>
          <a:xfrm>
            <a:off x="2420822" y="1783080"/>
            <a:ext cx="7350050" cy="3931920"/>
          </a:xfrm>
          <a:prstGeom prst="rect">
            <a:avLst/>
          </a:prstGeom>
        </p:spPr>
      </p:pic>
      <p:sp>
        <p:nvSpPr>
          <p:cNvPr id="6" name="TextBox 5"/>
          <p:cNvSpPr txBox="1"/>
          <p:nvPr/>
        </p:nvSpPr>
        <p:spPr>
          <a:xfrm>
            <a:off x="777240" y="5861304"/>
            <a:ext cx="10637215" cy="457200"/>
          </a:xfrm>
          <a:prstGeom prst="rect">
            <a:avLst/>
          </a:prstGeom>
          <a:noFill/>
        </p:spPr>
        <p:txBody>
          <a:bodyPr wrap="square" anchor="t" lIns="0" rIns="0" tIns="0" bIns="0">
            <a:spAutoFit/>
          </a:bodyPr>
          <a:lstStyle/>
          <a:p>
            <a:pPr algn="l">
              <a:spcBef>
                <a:spcPts val="0"/>
              </a:spcBef>
              <a:spcAft>
                <a:spcPts val="600"/>
              </a:spcAft>
            </a:pPr>
            <a:r>
              <a:rPr sz="1300" b="0" i="0">
                <a:solidFill>
                  <a:srgbClr val="8A8983"/>
                </a:solidFill>
                <a:latin typeface="Helvetica Neue"/>
              </a:rPr>
              <a:t>Split-conformal, distribution-free, at 90% nominal coverage. Interval width ranks the models the same way point error does.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274320"/>
          </a:xfrm>
          <a:prstGeom prst="rect">
            <a:avLst/>
          </a:prstGeom>
          <a:noFill/>
        </p:spPr>
        <p:txBody>
          <a:bodyPr wrap="square" anchor="t" lIns="0" rIns="0" tIns="0" bIns="0">
            <a:spAutoFit/>
          </a:bodyPr>
          <a:lstStyle/>
          <a:p>
            <a:pPr algn="l">
              <a:spcBef>
                <a:spcPts val="0"/>
              </a:spcBef>
              <a:spcAft>
                <a:spcPts val="600"/>
              </a:spcAft>
            </a:pPr>
            <a:r>
              <a:rPr sz="1200" b="1" i="0">
                <a:solidFill>
                  <a:srgbClr val="EB6834"/>
                </a:solidFill>
                <a:latin typeface="Helvetica Neue"/>
              </a:rPr>
              <a:t>ARCHITECTURE VALIDATION</a:t>
            </a:r>
          </a:p>
        </p:txBody>
      </p:sp>
      <p:sp>
        <p:nvSpPr>
          <p:cNvPr id="4" name="TextBox 3"/>
          <p:cNvSpPr txBox="1"/>
          <p:nvPr/>
        </p:nvSpPr>
        <p:spPr>
          <a:xfrm>
            <a:off x="777240" y="914400"/>
            <a:ext cx="10637215" cy="548640"/>
          </a:xfrm>
          <a:prstGeom prst="rect">
            <a:avLst/>
          </a:prstGeom>
          <a:noFill/>
        </p:spPr>
        <p:txBody>
          <a:bodyPr wrap="square" anchor="t" lIns="0" rIns="0" tIns="0" bIns="0">
            <a:spAutoFit/>
          </a:bodyPr>
          <a:lstStyle/>
          <a:p>
            <a:pPr algn="l">
              <a:spcBef>
                <a:spcPts val="0"/>
              </a:spcBef>
              <a:spcAft>
                <a:spcPts val="600"/>
              </a:spcAft>
            </a:pPr>
            <a:r>
              <a:rPr sz="2800" b="1" i="0">
                <a:solidFill>
                  <a:srgbClr val="0D366B"/>
                </a:solidFill>
                <a:latin typeface="Helvetica Neue"/>
              </a:rPr>
              <a:t>Is the pipeline correct? Yes — and here is the proof</a:t>
            </a:r>
          </a:p>
        </p:txBody>
      </p:sp>
      <p:pic>
        <p:nvPicPr>
          <p:cNvPr id="5" name="Picture 4" descr="sample_size.png"/>
          <p:cNvPicPr>
            <a:picLocks noChangeAspect="1"/>
          </p:cNvPicPr>
          <p:nvPr/>
        </p:nvPicPr>
        <p:blipFill>
          <a:blip r:embed="rId2"/>
          <a:stretch>
            <a:fillRect/>
          </a:stretch>
        </p:blipFill>
        <p:spPr>
          <a:xfrm>
            <a:off x="2848469" y="1783080"/>
            <a:ext cx="6494756" cy="3840480"/>
          </a:xfrm>
          <a:prstGeom prst="rect">
            <a:avLst/>
          </a:prstGeom>
        </p:spPr>
      </p:pic>
      <p:sp>
        <p:nvSpPr>
          <p:cNvPr id="6" name="TextBox 5"/>
          <p:cNvSpPr txBox="1"/>
          <p:nvPr/>
        </p:nvSpPr>
        <p:spPr>
          <a:xfrm>
            <a:off x="777240" y="5769864"/>
            <a:ext cx="10637215" cy="457200"/>
          </a:xfrm>
          <a:prstGeom prst="rect">
            <a:avLst/>
          </a:prstGeom>
          <a:noFill/>
        </p:spPr>
        <p:txBody>
          <a:bodyPr wrap="square" anchor="t" lIns="0" rIns="0" tIns="0" bIns="0">
            <a:spAutoFit/>
          </a:bodyPr>
          <a:lstStyle/>
          <a:p>
            <a:pPr algn="l">
              <a:spcBef>
                <a:spcPts val="0"/>
              </a:spcBef>
              <a:spcAft>
                <a:spcPts val="600"/>
              </a:spcAft>
            </a:pPr>
            <a:r>
              <a:rPr sz="1300" b="0" i="0">
                <a:solidFill>
                  <a:srgbClr val="8A8983"/>
                </a:solidFill>
                <a:latin typeface="Helvetica Neue"/>
              </a:rPr>
              <a:t>SYNTHETIC REFERENCE. The right-hand bar is not a claim about Sri Lankan onion yield — it shows the same code on an adequate sample.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274320"/>
          </a:xfrm>
          <a:prstGeom prst="rect">
            <a:avLst/>
          </a:prstGeom>
          <a:noFill/>
        </p:spPr>
        <p:txBody>
          <a:bodyPr wrap="square" anchor="t" lIns="0" rIns="0" tIns="0" bIns="0">
            <a:spAutoFit/>
          </a:bodyPr>
          <a:lstStyle/>
          <a:p>
            <a:pPr algn="l">
              <a:spcBef>
                <a:spcPts val="0"/>
              </a:spcBef>
              <a:spcAft>
                <a:spcPts val="600"/>
              </a:spcAft>
            </a:pPr>
            <a:r>
              <a:rPr sz="1200" b="1" i="0">
                <a:solidFill>
                  <a:srgbClr val="EB6834"/>
                </a:solidFill>
                <a:latin typeface="Helvetica Neue"/>
              </a:rPr>
              <a:t>CONTRIBUTIONS</a:t>
            </a:r>
          </a:p>
        </p:txBody>
      </p:sp>
      <p:sp>
        <p:nvSpPr>
          <p:cNvPr id="4" name="TextBox 3"/>
          <p:cNvSpPr txBox="1"/>
          <p:nvPr/>
        </p:nvSpPr>
        <p:spPr>
          <a:xfrm>
            <a:off x="777240" y="914400"/>
            <a:ext cx="10637215" cy="548640"/>
          </a:xfrm>
          <a:prstGeom prst="rect">
            <a:avLst/>
          </a:prstGeom>
          <a:noFill/>
        </p:spPr>
        <p:txBody>
          <a:bodyPr wrap="square" anchor="t" lIns="0" rIns="0" tIns="0" bIns="0">
            <a:spAutoFit/>
          </a:bodyPr>
          <a:lstStyle/>
          <a:p>
            <a:pPr algn="l">
              <a:spcBef>
                <a:spcPts val="0"/>
              </a:spcBef>
              <a:spcAft>
                <a:spcPts val="600"/>
              </a:spcAft>
            </a:pPr>
            <a:r>
              <a:rPr sz="2800" b="1" i="0">
                <a:solidFill>
                  <a:srgbClr val="0D366B"/>
                </a:solidFill>
                <a:latin typeface="Helvetica Neue"/>
              </a:rPr>
              <a:t>Contributions against the five gaps</a:t>
            </a:r>
          </a:p>
        </p:txBody>
      </p:sp>
      <p:graphicFrame>
        <p:nvGraphicFramePr>
          <p:cNvPr id="5" name="Table 4"/>
          <p:cNvGraphicFramePr>
            <a:graphicFrameLocks noGrp="1"/>
          </p:cNvGraphicFramePr>
          <p:nvPr/>
        </p:nvGraphicFramePr>
        <p:xfrm>
          <a:off x="777240" y="1920240"/>
          <a:ext cx="10637214" cy="2304288"/>
        </p:xfrm>
        <a:graphic>
          <a:graphicData uri="http://schemas.openxmlformats.org/drawingml/2006/table">
            <a:tbl>
              <a:tblPr firstRow="1" bandRow="1">
                <a:tableStyleId>{5C22544A-7EE6-4342-B048-85BDC9FD1C3A}</a:tableStyleId>
              </a:tblPr>
              <a:tblGrid>
                <a:gridCol w="3807003"/>
                <a:gridCol w="6830211"/>
              </a:tblGrid>
              <a:tr h="384048">
                <a:tc>
                  <a:txBody>
                    <a:bodyPr wrap="square"/>
                    <a:lstStyle/>
                    <a:p>
                      <a:pPr algn="l"/>
                      <a:r>
                        <a:rPr sz="1200" b="1" i="0">
                          <a:solidFill>
                            <a:srgbClr val="FFFFFF"/>
                          </a:solidFill>
                          <a:latin typeface="Helvetica Neue"/>
                        </a:rPr>
                        <a:t>Gap</a:t>
                      </a:r>
                    </a:p>
                  </a:txBody>
                  <a:tcPr marL="91440" marR="91440">
                    <a:solidFill>
                      <a:srgbClr val="0D366B"/>
                    </a:solidFill>
                  </a:tcPr>
                </a:tc>
                <a:tc>
                  <a:txBody>
                    <a:bodyPr wrap="square"/>
                    <a:lstStyle/>
                    <a:p>
                      <a:pPr algn="l"/>
                      <a:r>
                        <a:rPr sz="1200" b="1" i="0">
                          <a:solidFill>
                            <a:srgbClr val="FFFFFF"/>
                          </a:solidFill>
                          <a:latin typeface="Helvetica Neue"/>
                        </a:rPr>
                        <a:t>What we delivered</a:t>
                      </a:r>
                    </a:p>
                  </a:txBody>
                  <a:tcPr marL="91440" marR="91440">
                    <a:solidFill>
                      <a:srgbClr val="0D366B"/>
                    </a:solidFill>
                  </a:tcPr>
                </a:tc>
              </a:tr>
              <a:tr h="384048">
                <a:tc>
                  <a:txBody>
                    <a:bodyPr wrap="square"/>
                    <a:lstStyle/>
                    <a:p>
                      <a:pPr algn="l"/>
                      <a:r>
                        <a:rPr sz="1150" b="0" i="0">
                          <a:solidFill>
                            <a:srgbClr val="52514E"/>
                          </a:solidFill>
                          <a:latin typeface="Helvetica Neue"/>
                        </a:rPr>
                        <a:t>1  No system for big onion in Sri Lanka</a:t>
                      </a:r>
                    </a:p>
                  </a:txBody>
                  <a:tcPr marL="91440" marR="91440">
                    <a:solidFill>
                      <a:srgbClr val="F7F6F4"/>
                    </a:solidFill>
                  </a:tcPr>
                </a:tc>
                <a:tc>
                  <a:txBody>
                    <a:bodyPr wrap="square"/>
                    <a:lstStyle/>
                    <a:p>
                      <a:pPr algn="l"/>
                      <a:r>
                        <a:rPr sz="1150" b="0" i="0">
                          <a:solidFill>
                            <a:srgbClr val="52514E"/>
                          </a:solidFill>
                          <a:latin typeface="Helvetica Neue"/>
                        </a:rPr>
                        <a:t>First end-to-end pipeline, REST service and dashboard for the crop</a:t>
                      </a:r>
                    </a:p>
                  </a:txBody>
                  <a:tcPr marL="91440" marR="91440">
                    <a:solidFill>
                      <a:srgbClr val="F7F6F4"/>
                    </a:solidFill>
                  </a:tcPr>
                </a:tc>
              </a:tr>
              <a:tr h="384048">
                <a:tc>
                  <a:txBody>
                    <a:bodyPr wrap="square"/>
                    <a:lstStyle/>
                    <a:p>
                      <a:pPr algn="l"/>
                      <a:r>
                        <a:rPr sz="1150" b="0" i="0">
                          <a:solidFill>
                            <a:srgbClr val="52514E"/>
                          </a:solidFill>
                          <a:latin typeface="Helvetica Neue"/>
                        </a:rPr>
                        <a:t>2  No small-sample model guidance</a:t>
                      </a:r>
                    </a:p>
                  </a:txBody>
                  <a:tcPr marL="91440" marR="91440">
                    <a:solidFill>
                      <a:srgbClr val="FCFCFB"/>
                    </a:solidFill>
                  </a:tcPr>
                </a:tc>
                <a:tc>
                  <a:txBody>
                    <a:bodyPr wrap="square"/>
                    <a:lstStyle/>
                    <a:p>
                      <a:pPr algn="l"/>
                      <a:r>
                        <a:rPr sz="1150" b="0" i="0">
                          <a:solidFill>
                            <a:srgbClr val="52514E"/>
                          </a:solidFill>
                          <a:latin typeface="Helvetica Neue"/>
                        </a:rPr>
                        <a:t>Nine families, one protocol, paired significance tests — with a replication at larger n</a:t>
                      </a:r>
                    </a:p>
                  </a:txBody>
                  <a:tcPr marL="91440" marR="91440">
                    <a:solidFill>
                      <a:srgbClr val="FCFCFB"/>
                    </a:solidFill>
                  </a:tcPr>
                </a:tc>
              </a:tr>
              <a:tr h="384048">
                <a:tc>
                  <a:txBody>
                    <a:bodyPr wrap="square"/>
                    <a:lstStyle/>
                    <a:p>
                      <a:pPr algn="l"/>
                      <a:r>
                        <a:rPr sz="1150" b="0" i="0">
                          <a:solidFill>
                            <a:srgbClr val="52514E"/>
                          </a:solidFill>
                          <a:latin typeface="Helvetica Neue"/>
                        </a:rPr>
                        <a:t>3  Mechanistic + learned rarely combined</a:t>
                      </a:r>
                    </a:p>
                  </a:txBody>
                  <a:tcPr marL="91440" marR="91440">
                    <a:solidFill>
                      <a:srgbClr val="F7F6F4"/>
                    </a:solidFill>
                  </a:tcPr>
                </a:tc>
                <a:tc>
                  <a:txBody>
                    <a:bodyPr wrap="square"/>
                    <a:lstStyle/>
                    <a:p>
                      <a:pPr algn="l"/>
                      <a:r>
                        <a:rPr sz="1150" b="0" i="0">
                          <a:solidFill>
                            <a:srgbClr val="52514E"/>
                          </a:solidFill>
                          <a:latin typeface="Helvetica Neue"/>
                        </a:rPr>
                        <a:t>Closed-form FAO-33 / GDD backbone + residual learner, +0.070 R², independently confirmed by stacking weights</a:t>
                      </a:r>
                    </a:p>
                  </a:txBody>
                  <a:tcPr marL="91440" marR="91440">
                    <a:solidFill>
                      <a:srgbClr val="F7F6F4"/>
                    </a:solidFill>
                  </a:tcPr>
                </a:tc>
              </a:tr>
              <a:tr h="384048">
                <a:tc>
                  <a:txBody>
                    <a:bodyPr wrap="square"/>
                    <a:lstStyle/>
                    <a:p>
                      <a:pPr algn="l"/>
                      <a:r>
                        <a:rPr sz="1150" b="0" i="0">
                          <a:solidFill>
                            <a:srgbClr val="52514E"/>
                          </a:solidFill>
                          <a:latin typeface="Helvetica Neue"/>
                        </a:rPr>
                        <a:t>4  Bimodal seasonality not architectural</a:t>
                      </a:r>
                    </a:p>
                  </a:txBody>
                  <a:tcPr marL="91440" marR="91440">
                    <a:solidFill>
                      <a:srgbClr val="FCFCFB"/>
                    </a:solidFill>
                  </a:tcPr>
                </a:tc>
                <a:tc>
                  <a:txBody>
                    <a:bodyPr wrap="square"/>
                    <a:lstStyle/>
                    <a:p>
                      <a:pPr algn="l"/>
                      <a:r>
                        <a:rPr sz="1150" b="0" i="0">
                          <a:solidFill>
                            <a:srgbClr val="52514E"/>
                          </a:solidFill>
                          <a:latin typeface="Helvetica Neue"/>
                        </a:rPr>
                        <a:t>Season-injection design contributed; validation incomplete — collected data is Yala-only</a:t>
                      </a:r>
                    </a:p>
                  </a:txBody>
                  <a:tcPr marL="91440" marR="91440">
                    <a:solidFill>
                      <a:srgbClr val="FCFCFB"/>
                    </a:solidFill>
                  </a:tcPr>
                </a:tc>
              </a:tr>
              <a:tr h="384048">
                <a:tc>
                  <a:txBody>
                    <a:bodyPr wrap="square"/>
                    <a:lstStyle/>
                    <a:p>
                      <a:pPr algn="l"/>
                      <a:r>
                        <a:rPr sz="1150" b="0" i="0">
                          <a:solidFill>
                            <a:srgbClr val="52514E"/>
                          </a:solidFill>
                          <a:latin typeface="Helvetica Neue"/>
                        </a:rPr>
                        <a:t>5  No data-source decomposition</a:t>
                      </a:r>
                    </a:p>
                  </a:txBody>
                  <a:tcPr marL="91440" marR="91440">
                    <a:solidFill>
                      <a:srgbClr val="F7F6F4"/>
                    </a:solidFill>
                  </a:tcPr>
                </a:tc>
                <a:tc>
                  <a:txBody>
                    <a:bodyPr wrap="square"/>
                    <a:lstStyle/>
                    <a:p>
                      <a:pPr algn="l"/>
                      <a:r>
                        <a:rPr sz="1150" b="0" i="0">
                          <a:solidFill>
                            <a:srgbClr val="52514E"/>
                          </a:solidFill>
                          <a:latin typeface="Helvetica Neue"/>
                        </a:rPr>
                        <a:t>Six-configuration ablation on real and synthetic data, plus conformal intervals per model</a:t>
                      </a:r>
                    </a:p>
                  </a:txBody>
                  <a:tcPr marL="91440" marR="91440">
                    <a:solidFill>
                      <a:srgbClr val="F7F6F4"/>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274320"/>
          </a:xfrm>
          <a:prstGeom prst="rect">
            <a:avLst/>
          </a:prstGeom>
          <a:noFill/>
        </p:spPr>
        <p:txBody>
          <a:bodyPr wrap="square" anchor="t" lIns="0" rIns="0" tIns="0" bIns="0">
            <a:spAutoFit/>
          </a:bodyPr>
          <a:lstStyle/>
          <a:p>
            <a:pPr algn="l">
              <a:spcBef>
                <a:spcPts val="0"/>
              </a:spcBef>
              <a:spcAft>
                <a:spcPts val="600"/>
              </a:spcAft>
            </a:pPr>
            <a:r>
              <a:rPr sz="1200" b="1" i="0">
                <a:solidFill>
                  <a:srgbClr val="EB6834"/>
                </a:solidFill>
                <a:latin typeface="Helvetica Neue"/>
              </a:rPr>
              <a:t>LIMITATIONS</a:t>
            </a:r>
          </a:p>
        </p:txBody>
      </p:sp>
      <p:sp>
        <p:nvSpPr>
          <p:cNvPr id="4" name="TextBox 3"/>
          <p:cNvSpPr txBox="1"/>
          <p:nvPr/>
        </p:nvSpPr>
        <p:spPr>
          <a:xfrm>
            <a:off x="777240" y="914400"/>
            <a:ext cx="10637215" cy="548640"/>
          </a:xfrm>
          <a:prstGeom prst="rect">
            <a:avLst/>
          </a:prstGeom>
          <a:noFill/>
        </p:spPr>
        <p:txBody>
          <a:bodyPr wrap="square" anchor="t" lIns="0" rIns="0" tIns="0" bIns="0">
            <a:spAutoFit/>
          </a:bodyPr>
          <a:lstStyle/>
          <a:p>
            <a:pPr algn="l">
              <a:spcBef>
                <a:spcPts val="0"/>
              </a:spcBef>
              <a:spcAft>
                <a:spcPts val="600"/>
              </a:spcAft>
            </a:pPr>
            <a:r>
              <a:rPr sz="2800" b="1" i="0">
                <a:solidFill>
                  <a:srgbClr val="0D366B"/>
                </a:solidFill>
                <a:latin typeface="Helvetica Neue"/>
              </a:rPr>
              <a:t>What bounds these conclusions</a:t>
            </a:r>
          </a:p>
        </p:txBody>
      </p:sp>
      <p:sp>
        <p:nvSpPr>
          <p:cNvPr id="5" name="Rectangle 4"/>
          <p:cNvSpPr/>
          <p:nvPr/>
        </p:nvSpPr>
        <p:spPr>
          <a:xfrm>
            <a:off x="777240" y="1691640"/>
            <a:ext cx="45720" cy="292608"/>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691640"/>
            <a:ext cx="4884267" cy="320040"/>
          </a:xfrm>
          <a:prstGeom prst="rect">
            <a:avLst/>
          </a:prstGeom>
          <a:noFill/>
        </p:spPr>
        <p:txBody>
          <a:bodyPr wrap="square" anchor="t" lIns="0" rIns="0" tIns="0" bIns="0">
            <a:spAutoFit/>
          </a:bodyPr>
          <a:lstStyle/>
          <a:p>
            <a:pPr algn="l">
              <a:spcBef>
                <a:spcPts val="0"/>
              </a:spcBef>
              <a:spcAft>
                <a:spcPts val="600"/>
              </a:spcAft>
            </a:pPr>
            <a:r>
              <a:rPr sz="1700" b="1" i="0">
                <a:solidFill>
                  <a:srgbClr val="0D366B"/>
                </a:solidFill>
                <a:latin typeface="Helvetica Neue"/>
              </a:rPr>
              <a:t>Limitations</a:t>
            </a:r>
          </a:p>
        </p:txBody>
      </p:sp>
      <p:sp>
        <p:nvSpPr>
          <p:cNvPr id="7" name="TextBox 6"/>
          <p:cNvSpPr txBox="1"/>
          <p:nvPr/>
        </p:nvSpPr>
        <p:spPr>
          <a:xfrm>
            <a:off x="777240" y="2194560"/>
            <a:ext cx="5067147" cy="4114800"/>
          </a:xfrm>
          <a:prstGeom prst="rect">
            <a:avLst/>
          </a:prstGeom>
          <a:noFill/>
        </p:spPr>
        <p:txBody>
          <a:bodyPr wrap="square" anchor="t" lIns="0" rIns="0" tIns="0" bIns="0">
            <a:spAutoFit/>
          </a:bodyPr>
          <a:lstStyle/>
          <a:p>
            <a:pPr algn="l">
              <a:lnSpc>
                <a:spcPct val="120000"/>
              </a:lnSpc>
              <a:spcBef>
                <a:spcPts val="0"/>
              </a:spcBef>
              <a:spcAft>
                <a:spcPts val="200"/>
              </a:spcAft>
            </a:pPr>
            <a:r>
              <a:rPr sz="1500" b="1" i="0">
                <a:solidFill>
                  <a:srgbClr val="EB6834"/>
                </a:solidFill>
                <a:latin typeface="Helvetica Neue"/>
              </a:rPr>
              <a:t>•  </a:t>
            </a:r>
            <a:r>
              <a:rPr sz="1500" b="0" i="0">
                <a:solidFill>
                  <a:srgbClr val="52514E"/>
                </a:solidFill>
                <a:latin typeface="Helvetica Neue"/>
              </a:rPr>
              <a:t>28 records is the binding constraint on every number</a:t>
            </a:r>
          </a:p>
          <a:p>
            <a:pPr algn="l">
              <a:lnSpc>
                <a:spcPct val="120000"/>
              </a:lnSpc>
              <a:spcBef>
                <a:spcPts val="900"/>
              </a:spcBef>
              <a:spcAft>
                <a:spcPts val="200"/>
              </a:spcAft>
            </a:pPr>
            <a:r>
              <a:rPr sz="1500" b="1" i="0">
                <a:solidFill>
                  <a:srgbClr val="EB6834"/>
                </a:solidFill>
                <a:latin typeface="Helvetica Neue"/>
              </a:rPr>
              <a:t>•  </a:t>
            </a:r>
            <a:r>
              <a:rPr sz="1500" b="0" i="0">
                <a:solidFill>
                  <a:srgbClr val="52514E"/>
                </a:solidFill>
                <a:latin typeface="Helvetica Neue"/>
              </a:rPr>
              <a:t>Yala only — the season-injection claim is untested on real data</a:t>
            </a:r>
          </a:p>
          <a:p>
            <a:pPr algn="l">
              <a:lnSpc>
                <a:spcPct val="120000"/>
              </a:lnSpc>
              <a:spcBef>
                <a:spcPts val="900"/>
              </a:spcBef>
              <a:spcAft>
                <a:spcPts val="200"/>
              </a:spcAft>
            </a:pPr>
            <a:r>
              <a:rPr sz="1500" b="1" i="0">
                <a:solidFill>
                  <a:srgbClr val="EB6834"/>
                </a:solidFill>
                <a:latin typeface="Helvetica Neue"/>
              </a:rPr>
              <a:t>•  </a:t>
            </a:r>
            <a:r>
              <a:rPr sz="1500" b="0" i="0">
                <a:solidFill>
                  <a:srgbClr val="52514E"/>
                </a:solidFill>
                <a:latin typeface="Helvetica Neue"/>
              </a:rPr>
              <a:t>Conformal coverage of 1.00 is an artefact of a 28-point calibration set</a:t>
            </a:r>
          </a:p>
          <a:p>
            <a:pPr algn="l">
              <a:lnSpc>
                <a:spcPct val="120000"/>
              </a:lnSpc>
              <a:spcBef>
                <a:spcPts val="900"/>
              </a:spcBef>
              <a:spcAft>
                <a:spcPts val="200"/>
              </a:spcAft>
            </a:pPr>
            <a:r>
              <a:rPr sz="1500" b="1" i="0">
                <a:solidFill>
                  <a:srgbClr val="EB6834"/>
                </a:solidFill>
                <a:latin typeface="Helvetica Neue"/>
              </a:rPr>
              <a:t>•  </a:t>
            </a:r>
            <a:r>
              <a:rPr sz="1500" b="0" i="0">
                <a:solidFill>
                  <a:srgbClr val="52514E"/>
                </a:solidFill>
                <a:latin typeface="Helvetica Neue"/>
              </a:rPr>
              <a:t>Cultivar, irrigation, fertiliser and pest pressure are all unobserved</a:t>
            </a:r>
          </a:p>
          <a:p>
            <a:pPr algn="l">
              <a:lnSpc>
                <a:spcPct val="120000"/>
              </a:lnSpc>
              <a:spcBef>
                <a:spcPts val="900"/>
              </a:spcBef>
              <a:spcAft>
                <a:spcPts val="200"/>
              </a:spcAft>
            </a:pPr>
            <a:r>
              <a:rPr sz="1500" b="1" i="0">
                <a:solidFill>
                  <a:srgbClr val="EB6834"/>
                </a:solidFill>
                <a:latin typeface="Helvetica Neue"/>
              </a:rPr>
              <a:t>•  </a:t>
            </a:r>
            <a:r>
              <a:rPr sz="1500" b="0" i="0">
                <a:solidFill>
                  <a:srgbClr val="52514E"/>
                </a:solidFill>
                <a:latin typeface="Helvetica Neue"/>
              </a:rPr>
              <a:t>Ground-truth yield is itself subjectively estimated</a:t>
            </a:r>
          </a:p>
          <a:p>
            <a:pPr algn="l">
              <a:lnSpc>
                <a:spcPct val="120000"/>
              </a:lnSpc>
              <a:spcBef>
                <a:spcPts val="900"/>
              </a:spcBef>
              <a:spcAft>
                <a:spcPts val="200"/>
              </a:spcAft>
            </a:pPr>
            <a:r>
              <a:rPr sz="1500" b="1" i="0">
                <a:solidFill>
                  <a:srgbClr val="EB6834"/>
                </a:solidFill>
                <a:latin typeface="Helvetica Neue"/>
              </a:rPr>
              <a:t>•  </a:t>
            </a:r>
            <a:r>
              <a:rPr sz="1500" b="0" i="0">
                <a:solidFill>
                  <a:srgbClr val="52514E"/>
                </a:solidFill>
                <a:latin typeface="Helvetica Neue"/>
              </a:rPr>
              <a:t>District-level aggregation hides within-district heterogeneity</a:t>
            </a:r>
          </a:p>
        </p:txBody>
      </p:sp>
      <p:sp>
        <p:nvSpPr>
          <p:cNvPr id="8" name="Rectangle 7"/>
          <p:cNvSpPr/>
          <p:nvPr/>
        </p:nvSpPr>
        <p:spPr>
          <a:xfrm>
            <a:off x="6347307" y="1691640"/>
            <a:ext cx="45720" cy="2926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0187" y="1691640"/>
            <a:ext cx="4884267" cy="320040"/>
          </a:xfrm>
          <a:prstGeom prst="rect">
            <a:avLst/>
          </a:prstGeom>
          <a:noFill/>
        </p:spPr>
        <p:txBody>
          <a:bodyPr wrap="square" anchor="t" lIns="0" rIns="0" tIns="0" bIns="0">
            <a:spAutoFit/>
          </a:bodyPr>
          <a:lstStyle/>
          <a:p>
            <a:pPr algn="l">
              <a:spcBef>
                <a:spcPts val="0"/>
              </a:spcBef>
              <a:spcAft>
                <a:spcPts val="600"/>
              </a:spcAft>
            </a:pPr>
            <a:r>
              <a:rPr sz="1700" b="1" i="0">
                <a:solidFill>
                  <a:srgbClr val="0D366B"/>
                </a:solidFill>
                <a:latin typeface="Helvetica Neue"/>
              </a:rPr>
              <a:t>Further work, in priority order</a:t>
            </a:r>
          </a:p>
        </p:txBody>
      </p:sp>
      <p:sp>
        <p:nvSpPr>
          <p:cNvPr id="10" name="TextBox 9"/>
          <p:cNvSpPr txBox="1"/>
          <p:nvPr/>
        </p:nvSpPr>
        <p:spPr>
          <a:xfrm>
            <a:off x="6347307" y="2194560"/>
            <a:ext cx="5067147" cy="4114800"/>
          </a:xfrm>
          <a:prstGeom prst="rect">
            <a:avLst/>
          </a:prstGeom>
          <a:noFill/>
        </p:spPr>
        <p:txBody>
          <a:bodyPr wrap="square" anchor="t" lIns="0" rIns="0" tIns="0" bIns="0">
            <a:spAutoFit/>
          </a:bodyPr>
          <a:lstStyle/>
          <a:p>
            <a:pPr algn="l">
              <a:lnSpc>
                <a:spcPct val="120000"/>
              </a:lnSpc>
              <a:spcBef>
                <a:spcPts val="0"/>
              </a:spcBef>
              <a:spcAft>
                <a:spcPts val="200"/>
              </a:spcAft>
            </a:pPr>
            <a:r>
              <a:rPr sz="1500" b="1" i="0">
                <a:solidFill>
                  <a:srgbClr val="2A78D6"/>
                </a:solidFill>
                <a:latin typeface="Helvetica Neue"/>
              </a:rPr>
              <a:t>•  </a:t>
            </a:r>
            <a:r>
              <a:rPr sz="1500" b="0" i="0">
                <a:solidFill>
                  <a:srgbClr val="52514E"/>
                </a:solidFill>
                <a:latin typeface="Helvetica Neue"/>
              </a:rPr>
              <a:t>Extend the record — backfill the satellite archive, add Maha and more districts</a:t>
            </a:r>
          </a:p>
          <a:p>
            <a:pPr algn="l">
              <a:lnSpc>
                <a:spcPct val="120000"/>
              </a:lnSpc>
              <a:spcBef>
                <a:spcPts val="900"/>
              </a:spcBef>
              <a:spcAft>
                <a:spcPts val="200"/>
              </a:spcAft>
            </a:pPr>
            <a:r>
              <a:rPr sz="1500" b="1" i="0">
                <a:solidFill>
                  <a:srgbClr val="2A78D6"/>
                </a:solidFill>
                <a:latin typeface="Helvetica Neue"/>
              </a:rPr>
              <a:t>•  </a:t>
            </a:r>
            <a:r>
              <a:rPr sz="1500" b="0" i="0">
                <a:solidFill>
                  <a:srgbClr val="52514E"/>
                </a:solidFill>
                <a:latin typeface="Helvetica Neue"/>
              </a:rPr>
              <a:t>Mask satellite aggregation to cultivated onion extent, not whole districts</a:t>
            </a:r>
          </a:p>
          <a:p>
            <a:pPr algn="l">
              <a:lnSpc>
                <a:spcPct val="120000"/>
              </a:lnSpc>
              <a:spcBef>
                <a:spcPts val="900"/>
              </a:spcBef>
              <a:spcAft>
                <a:spcPts val="200"/>
              </a:spcAft>
            </a:pPr>
            <a:r>
              <a:rPr sz="1500" b="1" i="0">
                <a:solidFill>
                  <a:srgbClr val="2A78D6"/>
                </a:solidFill>
                <a:latin typeface="Helvetica Neue"/>
              </a:rPr>
              <a:t>•  </a:t>
            </a:r>
            <a:r>
              <a:rPr sz="1500" b="0" i="0">
                <a:solidFill>
                  <a:srgbClr val="52514E"/>
                </a:solidFill>
                <a:latin typeface="Helvetica Neue"/>
              </a:rPr>
              <a:t>Extend the mechanistic backbone — soil water balance, stage-dependent sensitivity</a:t>
            </a:r>
          </a:p>
          <a:p>
            <a:pPr algn="l">
              <a:lnSpc>
                <a:spcPct val="120000"/>
              </a:lnSpc>
              <a:spcBef>
                <a:spcPts val="900"/>
              </a:spcBef>
              <a:spcAft>
                <a:spcPts val="200"/>
              </a:spcAft>
            </a:pPr>
            <a:r>
              <a:rPr sz="1500" b="1" i="0">
                <a:solidFill>
                  <a:srgbClr val="2A78D6"/>
                </a:solidFill>
                <a:latin typeface="Helvetica Neue"/>
              </a:rPr>
              <a:t>•  </a:t>
            </a:r>
            <a:r>
              <a:rPr sz="1500" b="0" i="0">
                <a:solidFill>
                  <a:srgbClr val="52514E"/>
                </a:solidFill>
                <a:latin typeface="Helvetica Neue"/>
              </a:rPr>
              <a:t>Add management covariates, even coarse district-level ones</a:t>
            </a:r>
          </a:p>
          <a:p>
            <a:pPr algn="l">
              <a:lnSpc>
                <a:spcPct val="120000"/>
              </a:lnSpc>
              <a:spcBef>
                <a:spcPts val="900"/>
              </a:spcBef>
              <a:spcAft>
                <a:spcPts val="200"/>
              </a:spcAft>
            </a:pPr>
            <a:r>
              <a:rPr sz="1500" b="1" i="0">
                <a:solidFill>
                  <a:srgbClr val="2A78D6"/>
                </a:solidFill>
                <a:latin typeface="Helvetica Neue"/>
              </a:rPr>
              <a:t>•  </a:t>
            </a:r>
            <a:r>
              <a:rPr sz="1500" b="0" i="0">
                <a:solidFill>
                  <a:srgbClr val="52514E"/>
                </a:solidFill>
                <a:latin typeface="Helvetica Neue"/>
              </a:rPr>
              <a:t>Evaluate at operational lead time — forecast 4–8 weeks before harvest</a:t>
            </a:r>
          </a:p>
          <a:p>
            <a:pPr algn="l">
              <a:lnSpc>
                <a:spcPct val="120000"/>
              </a:lnSpc>
              <a:spcBef>
                <a:spcPts val="900"/>
              </a:spcBef>
              <a:spcAft>
                <a:spcPts val="200"/>
              </a:spcAft>
            </a:pPr>
            <a:r>
              <a:rPr sz="1500" b="1" i="0">
                <a:solidFill>
                  <a:srgbClr val="2A78D6"/>
                </a:solidFill>
                <a:latin typeface="Helvetica Neue"/>
              </a:rPr>
              <a:t>•  </a:t>
            </a:r>
            <a:r>
              <a:rPr sz="1500" b="0" i="0">
                <a:solidFill>
                  <a:srgbClr val="52514E"/>
                </a:solidFill>
                <a:latin typeface="Helvetica Neue"/>
              </a:rPr>
              <a:t>Field-validate the dashboard with DCS and district officers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274320"/>
          </a:xfrm>
          <a:prstGeom prst="rect">
            <a:avLst/>
          </a:prstGeom>
          <a:noFill/>
        </p:spPr>
        <p:txBody>
          <a:bodyPr wrap="square" anchor="t" lIns="0" rIns="0" tIns="0" bIns="0">
            <a:spAutoFit/>
          </a:bodyPr>
          <a:lstStyle/>
          <a:p>
            <a:pPr algn="l">
              <a:spcBef>
                <a:spcPts val="0"/>
              </a:spcBef>
              <a:spcAft>
                <a:spcPts val="600"/>
              </a:spcAft>
            </a:pPr>
            <a:r>
              <a:rPr sz="1200" b="1" i="0">
                <a:solidFill>
                  <a:srgbClr val="EB6834"/>
                </a:solidFill>
                <a:latin typeface="Helvetica Neue"/>
              </a:rPr>
              <a:t>WRAPPING UP</a:t>
            </a:r>
          </a:p>
        </p:txBody>
      </p:sp>
      <p:sp>
        <p:nvSpPr>
          <p:cNvPr id="4" name="TextBox 3"/>
          <p:cNvSpPr txBox="1"/>
          <p:nvPr/>
        </p:nvSpPr>
        <p:spPr>
          <a:xfrm>
            <a:off x="777240" y="914400"/>
            <a:ext cx="10637215" cy="548640"/>
          </a:xfrm>
          <a:prstGeom prst="rect">
            <a:avLst/>
          </a:prstGeom>
          <a:noFill/>
        </p:spPr>
        <p:txBody>
          <a:bodyPr wrap="square" anchor="t" lIns="0" rIns="0" tIns="0" bIns="0">
            <a:spAutoFit/>
          </a:bodyPr>
          <a:lstStyle/>
          <a:p>
            <a:pPr algn="l">
              <a:spcBef>
                <a:spcPts val="0"/>
              </a:spcBef>
              <a:spcAft>
                <a:spcPts val="600"/>
              </a:spcAft>
            </a:pPr>
            <a:r>
              <a:rPr sz="2800" b="1" i="0">
                <a:solidFill>
                  <a:srgbClr val="0D366B"/>
                </a:solidFill>
                <a:latin typeface="Helvetica Neue"/>
              </a:rPr>
              <a:t>Conclusion</a:t>
            </a:r>
          </a:p>
        </p:txBody>
      </p:sp>
      <p:sp>
        <p:nvSpPr>
          <p:cNvPr id="5" name="TextBox 4"/>
          <p:cNvSpPr txBox="1"/>
          <p:nvPr/>
        </p:nvSpPr>
        <p:spPr>
          <a:xfrm>
            <a:off x="777240" y="1691640"/>
            <a:ext cx="10637215" cy="3749040"/>
          </a:xfrm>
          <a:prstGeom prst="rect">
            <a:avLst/>
          </a:prstGeom>
          <a:noFill/>
        </p:spPr>
        <p:txBody>
          <a:bodyPr wrap="square" anchor="t" lIns="0" rIns="0" tIns="0" bIns="0">
            <a:spAutoFit/>
          </a:bodyPr>
          <a:lstStyle/>
          <a:p>
            <a:pPr algn="l">
              <a:lnSpc>
                <a:spcPct val="122000"/>
              </a:lnSpc>
              <a:spcBef>
                <a:spcPts val="0"/>
              </a:spcBef>
              <a:spcAft>
                <a:spcPts val="200"/>
              </a:spcAft>
            </a:pPr>
            <a:r>
              <a:rPr sz="1550" b="1" i="0">
                <a:solidFill>
                  <a:srgbClr val="EB6834"/>
                </a:solidFill>
                <a:latin typeface="Helvetica Neue"/>
              </a:rPr>
              <a:t>▸  </a:t>
            </a:r>
            <a:r>
              <a:rPr sz="1550" b="1" i="0">
                <a:solidFill>
                  <a:srgbClr val="0B0B0B"/>
                </a:solidFill>
                <a:latin typeface="Helvetica Neue"/>
              </a:rPr>
              <a:t>We built the capability  </a:t>
            </a:r>
            <a:r>
              <a:rPr sz="1550" b="0" i="0">
                <a:solidFill>
                  <a:srgbClr val="52514E"/>
                </a:solidFill>
                <a:latin typeface="Helvetica Neue"/>
              </a:rPr>
              <a:t>reproducible pipeline, nine models, leakage-free protocol, calibrated uncertainty, attribution, REST service and dashboard</a:t>
            </a:r>
          </a:p>
          <a:p>
            <a:pPr algn="l">
              <a:lnSpc>
                <a:spcPct val="122000"/>
              </a:lnSpc>
              <a:spcBef>
                <a:spcPts val="800"/>
              </a:spcBef>
              <a:spcAft>
                <a:spcPts val="200"/>
              </a:spcAft>
            </a:pPr>
            <a:r>
              <a:rPr sz="1550" b="1" i="0">
                <a:solidFill>
                  <a:srgbClr val="EB6834"/>
                </a:solidFill>
                <a:latin typeface="Helvetica Neue"/>
              </a:rPr>
              <a:t>▸  </a:t>
            </a:r>
            <a:r>
              <a:rPr sz="1550" b="1" i="0">
                <a:solidFill>
                  <a:srgbClr val="0B0B0B"/>
                </a:solidFill>
                <a:latin typeface="Helvetica Neue"/>
              </a:rPr>
              <a:t>Best model  </a:t>
            </a:r>
            <a:r>
              <a:rPr sz="1550" b="0" i="0">
                <a:solidFill>
                  <a:srgbClr val="52514E"/>
                </a:solidFill>
                <a:latin typeface="Helvetica Neue"/>
              </a:rPr>
              <a:t>physics-residual hybrid — R² 0.091, MAE 3.35 MT/Ha, 23.3% MAPE on real data</a:t>
            </a:r>
          </a:p>
          <a:p>
            <a:pPr algn="l">
              <a:lnSpc>
                <a:spcPct val="122000"/>
              </a:lnSpc>
              <a:spcBef>
                <a:spcPts val="800"/>
              </a:spcBef>
              <a:spcAft>
                <a:spcPts val="200"/>
              </a:spcAft>
            </a:pPr>
            <a:r>
              <a:rPr sz="1550" b="1" i="0">
                <a:solidFill>
                  <a:srgbClr val="EB6834"/>
                </a:solidFill>
                <a:latin typeface="Helvetica Neue"/>
              </a:rPr>
              <a:t>▸  </a:t>
            </a:r>
            <a:r>
              <a:rPr sz="1550" b="1" i="0">
                <a:solidFill>
                  <a:srgbClr val="0B0B0B"/>
                </a:solidFill>
                <a:latin typeface="Helvetica Neue"/>
              </a:rPr>
              <a:t>The 0.75 target was not met  </a:t>
            </a:r>
            <a:r>
              <a:rPr sz="1550" b="0" i="0">
                <a:solidFill>
                  <a:srgbClr val="52514E"/>
                </a:solidFill>
                <a:latin typeface="Helvetica Neue"/>
              </a:rPr>
              <a:t>and the reason is the size of the obtainable record, not the construction of the system</a:t>
            </a:r>
          </a:p>
          <a:p>
            <a:pPr algn="l">
              <a:lnSpc>
                <a:spcPct val="122000"/>
              </a:lnSpc>
              <a:spcBef>
                <a:spcPts val="800"/>
              </a:spcBef>
              <a:spcAft>
                <a:spcPts val="200"/>
              </a:spcAft>
            </a:pPr>
            <a:r>
              <a:rPr sz="1550" b="1" i="0">
                <a:solidFill>
                  <a:srgbClr val="EB6834"/>
                </a:solidFill>
                <a:latin typeface="Helvetica Neue"/>
              </a:rPr>
              <a:t>▸  </a:t>
            </a:r>
            <a:r>
              <a:rPr sz="1550" b="1" i="0">
                <a:solidFill>
                  <a:srgbClr val="0B0B0B"/>
                </a:solidFill>
                <a:latin typeface="Helvetica Neue"/>
              </a:rPr>
              <a:t>The durable findings are methodological  </a:t>
            </a:r>
            <a:r>
              <a:rPr sz="1550" b="0" i="0">
                <a:solidFill>
                  <a:srgbClr val="52514E"/>
                </a:solidFill>
                <a:latin typeface="Helvetica Neue"/>
              </a:rPr>
              <a:t>deep learning fails at this scale; a lightweight agronomic prior measurably helps; estimated blend weights beat uniform averaging; engineered interactions outrank raw measurements</a:t>
            </a:r>
          </a:p>
          <a:p>
            <a:pPr algn="l">
              <a:lnSpc>
                <a:spcPct val="122000"/>
              </a:lnSpc>
              <a:spcBef>
                <a:spcPts val="800"/>
              </a:spcBef>
              <a:spcAft>
                <a:spcPts val="200"/>
              </a:spcAft>
            </a:pPr>
            <a:r>
              <a:rPr sz="1550" b="1" i="0">
                <a:solidFill>
                  <a:srgbClr val="EB6834"/>
                </a:solidFill>
                <a:latin typeface="Helvetica Neue"/>
              </a:rPr>
              <a:t>▸  </a:t>
            </a:r>
            <a:r>
              <a:rPr sz="1550" b="1" i="0">
                <a:solidFill>
                  <a:srgbClr val="0B0B0B"/>
                </a:solidFill>
                <a:latin typeface="Helvetica Neue"/>
              </a:rPr>
              <a:t>The path forward is concrete  </a:t>
            </a:r>
            <a:r>
              <a:rPr sz="1550" b="0" i="0">
                <a:solidFill>
                  <a:srgbClr val="52514E"/>
                </a:solidFill>
                <a:latin typeface="Helvetica Neue"/>
              </a:rPr>
              <a:t>a longer record, a crop mask, a fuller backbone, management covariates</a:t>
            </a:r>
          </a:p>
        </p:txBody>
      </p:sp>
      <p:sp>
        <p:nvSpPr>
          <p:cNvPr id="6" name="Rectangle 5"/>
          <p:cNvSpPr/>
          <p:nvPr/>
        </p:nvSpPr>
        <p:spPr>
          <a:xfrm>
            <a:off x="777240" y="5623560"/>
            <a:ext cx="10637215" cy="731520"/>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5623560"/>
            <a:ext cx="54864" cy="7315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88575" cy="731520"/>
          </a:xfrm>
          <a:prstGeom prst="rect">
            <a:avLst/>
          </a:prstGeom>
          <a:noFill/>
        </p:spPr>
        <p:txBody>
          <a:bodyPr wrap="square" anchor="ctr" lIns="0" rIns="0" tIns="0" bIns="0">
            <a:spAutoFit/>
          </a:bodyPr>
          <a:lstStyle/>
          <a:p>
            <a:pPr algn="l">
              <a:spcBef>
                <a:spcPts val="0"/>
              </a:spcBef>
              <a:spcAft>
                <a:spcPts val="600"/>
              </a:spcAft>
            </a:pPr>
            <a:r>
              <a:rPr sz="1500" b="1" i="0">
                <a:solidFill>
                  <a:srgbClr val="0D366B"/>
                </a:solidFill>
                <a:latin typeface="Helvetica Neue"/>
              </a:rPr>
              <a:t>Accuracy is bounded by an information constraint, not an engineering one — and we can name what would lift 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D366B"/>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1560" y="2286000"/>
            <a:ext cx="9601200" cy="914400"/>
          </a:xfrm>
          <a:prstGeom prst="rect">
            <a:avLst/>
          </a:prstGeom>
          <a:noFill/>
        </p:spPr>
        <p:txBody>
          <a:bodyPr wrap="square" anchor="t" lIns="0" rIns="0" tIns="0" bIns="0">
            <a:spAutoFit/>
          </a:bodyPr>
          <a:lstStyle/>
          <a:p>
            <a:pPr algn="l">
              <a:spcBef>
                <a:spcPts val="0"/>
              </a:spcBef>
              <a:spcAft>
                <a:spcPts val="600"/>
              </a:spcAft>
            </a:pPr>
            <a:r>
              <a:rPr sz="4200" b="1" i="0">
                <a:solidFill>
                  <a:srgbClr val="FFFFFF"/>
                </a:solidFill>
                <a:latin typeface="Helvetica Neue"/>
              </a:rPr>
              <a:t>Thank you</a:t>
            </a:r>
          </a:p>
        </p:txBody>
      </p:sp>
      <p:sp>
        <p:nvSpPr>
          <p:cNvPr id="4" name="Rectangle 3"/>
          <p:cNvSpPr/>
          <p:nvPr/>
        </p:nvSpPr>
        <p:spPr>
          <a:xfrm>
            <a:off x="1051560" y="3429000"/>
            <a:ext cx="1371600" cy="41148"/>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3794760"/>
            <a:ext cx="9144000" cy="1645920"/>
          </a:xfrm>
          <a:prstGeom prst="rect">
            <a:avLst/>
          </a:prstGeom>
          <a:noFill/>
        </p:spPr>
        <p:txBody>
          <a:bodyPr wrap="square" anchor="t" lIns="0" rIns="0" tIns="0" bIns="0">
            <a:spAutoFit/>
          </a:bodyPr>
          <a:lstStyle/>
          <a:p>
            <a:pPr algn="l">
              <a:lnSpc>
                <a:spcPct val="125000"/>
              </a:lnSpc>
              <a:spcBef>
                <a:spcPts val="0"/>
              </a:spcBef>
              <a:spcAft>
                <a:spcPts val="800"/>
              </a:spcAft>
            </a:pPr>
            <a:r>
              <a:rPr sz="1700" b="0" i="0">
                <a:solidFill>
                  <a:srgbClr val="CDE2FB"/>
                </a:solidFill>
                <a:latin typeface="Helvetica Neue"/>
              </a:rPr>
              <a:t>Questions and discussion</a:t>
            </a:r>
          </a:p>
          <a:p>
            <a:pPr algn="l">
              <a:lnSpc>
                <a:spcPct val="125000"/>
              </a:lnSpc>
              <a:spcBef>
                <a:spcPts val="0"/>
              </a:spcBef>
              <a:spcAft>
                <a:spcPts val="800"/>
              </a:spcAft>
            </a:pPr>
            <a:r>
              <a:rPr sz="1700" b="0" i="0">
                <a:solidFill>
                  <a:srgbClr val="CDE2FB"/>
                </a:solidFill>
                <a:latin typeface="Helvetica Neue"/>
              </a:rPr>
              <a:t/>
            </a:r>
          </a:p>
          <a:p>
            <a:pPr algn="l">
              <a:lnSpc>
                <a:spcPct val="125000"/>
              </a:lnSpc>
              <a:spcBef>
                <a:spcPts val="0"/>
              </a:spcBef>
              <a:spcAft>
                <a:spcPts val="800"/>
              </a:spcAft>
            </a:pPr>
            <a:r>
              <a:rPr sz="1700" b="0" i="0">
                <a:solidFill>
                  <a:srgbClr val="CDE2FB"/>
                </a:solidFill>
                <a:latin typeface="Helvetica Neue"/>
              </a:rPr>
              <a:t>Full report, source code, trained models and all result artefacts are available in the project repository.</a:t>
            </a:r>
          </a:p>
        </p:txBody>
      </p:sp>
      <p:sp>
        <p:nvSpPr>
          <p:cNvPr id="6" name="TextBox 5"/>
          <p:cNvSpPr txBox="1"/>
          <p:nvPr/>
        </p:nvSpPr>
        <p:spPr>
          <a:xfrm>
            <a:off x="1051560" y="6172200"/>
            <a:ext cx="9601200" cy="365760"/>
          </a:xfrm>
          <a:prstGeom prst="rect">
            <a:avLst/>
          </a:prstGeom>
          <a:noFill/>
        </p:spPr>
        <p:txBody>
          <a:bodyPr wrap="square" anchor="t" lIns="0" rIns="0" tIns="0" bIns="0">
            <a:spAutoFit/>
          </a:bodyPr>
          <a:lstStyle/>
          <a:p>
            <a:pPr algn="l">
              <a:spcBef>
                <a:spcPts val="0"/>
              </a:spcBef>
              <a:spcAft>
                <a:spcPts val="600"/>
              </a:spcAft>
            </a:pPr>
            <a:r>
              <a:rPr sz="1300" b="0" i="0">
                <a:solidFill>
                  <a:srgbClr val="86B6EF"/>
                </a:solidFill>
                <a:latin typeface="Helvetica Neue"/>
              </a:rPr>
              <a:t>Group Agro AI  ·  Arkam B.H.M. · Sharuja B. · Shathurya P.  ·  University of Moratuwa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