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to 30 seconds. Signal early that we will report negative results as well as positive ones — that framing protects us later.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line: this is not an improvement to an existing service. There is no existing service. Yield estimates for big onion come from agricultural instructors' judgement, not measurement, and they arrive too late to act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Anticipate the 'why is your R² low' question here, early, on our own terms. The unobserved-driver argument is the honest answer and it is better made in the setup than in the defence.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4 is the one to emphasise. The evaluation protocol is a deliberate design decision, not a formality, and it is why our numbers are lower than papers that use random splits.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Point at the last two rows: the closest Sri Lankan onion work is about price, and the closest onion yield work is Bangladeshi and climate-only.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callback. Slide 24 repeats these five and shows what we delivered against each.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that the serving layer never trains. Models can be retrained without touching the service, and the service restarts without retraining.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 the Maha boundary problem: the season runs October to March, so a naive calendar-year grouping splits one season into two records. We define season as an explicit month list.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leakage point is worth saying out loud: an early version used an unshifted rolling average and produced R² above 0.99. We caught it by disbelieving the number.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reference rows matter more than the models. Without the oracle row nobody can tell whether a negative score is the model's fault or the protocol's.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distinction to hammer: Shahhosseini et al. run a crop model with published coefficients and fit a learner to the residual. We estimate the coefficients. That is a method claim, not a domain claim, and it is what the supervisor asked for.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not NDVI: it is an area argument, not a sensor argument. A crop on 0.1% of the pixels cannot move a district mean. We tried it, measured the failure, and report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our insurance. Every low number later is a consequence of choices defended here.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this. It is the least comfortable slide and the most credible one. A panel that sees us find and report our own contamination will trust everything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slide in the deck. The proposal target was set before anyone knew the structure of the record. No model of any architecture could have reached 0.75 here. Say the number: the ceiling is 0.162.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apologise for this slide. Read against the ceiling it is the expected outcome, and the next slide explains the mechanism.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sentence: a model whose output varies eight per cent cannot explain a target that varies thirty-five, whatever coefficients you give it. This is structural, not a tuning failure. And removing 2022 and 2024 makes it relatively WORSE, so the signal is absent, not masked.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turns 'our model failed' into 'the signal is not there'. A negative result from an underpowered instrument says nothing about the world; this measures the instrument. Two honesty points if pressed: the curve is non-monotonic because we ran only two replicates per amplitude, and we used a single optimiser start from the literature values — which is deliberately OPTIMISTIC, so failing to detect under those conditions errs the safe way.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Strongest positive result, and transferable: learning the constants does not add explanatory power so much as REMOVE spurious sensitivity — stress CV falls 22.4% to 8.1% while R² improves 0.57. IMPORTANT CAVEAT: our recovery experiment shows Ky returns its prior (1.108) when fitted to data generated with 0.966. The tight fold spread on Ky was the shrinkage prior, not evidence — precision without accuracy. So we claim T_opt and W_max, not Ky. The FAO-overstatement finding survives because it rests on the ablation contrast, not on any single point estimate.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the nulls. An ablation in which every proposed component happens to help is not a credible ablation, and a panel knows it. Thermal time is negligible because temperature barely varies here; waterlogging binds in 3.5% of intervals in one year.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Hedge this one appropriately: the underlying stress signal is weak, so the curve is estimated from little information. The shape is stable across folds and agronomically plausible for a crop whose bulb is set early, but it is not a well-identified estimate.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interim report said coverage was 1.000 for all twelve models. That was a tautology — the quantile was computed from the same residuals it was then measured on. Year-blocked cross-conformal gives 0.911 against a nominal 0.90. But the width is the finding: plus or minus 15.3 on a mean of 17.9 is plus or minus 85%. These forecasts are not decision-useful, and the interval is the evidence for saying so.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 a question here. The answer: we found these ourselves, before submission, by auditing our own inputs. That is the process working.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that four of five contributions are things we found by being sceptical of our own pipeline. That is the story of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item is the real conclusion. Our finding tells the next person exactly what to collect, and it is not more weather data.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here. We did not get the number we wanted. We got something more useful: an explanation of why that number was never available, and a clear statement of what the next person should collect.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366B"/>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1560" y="1371600"/>
            <a:ext cx="10058400" cy="365760"/>
          </a:xfrm>
          <a:prstGeom prst="rect">
            <a:avLst/>
          </a:prstGeom>
          <a:noFill/>
        </p:spPr>
        <p:txBody>
          <a:bodyPr wrap="square" anchor="t" lIns="0" rIns="0" tIns="0" bIns="0">
            <a:spAutoFit/>
          </a:bodyPr>
          <a:lstStyle/>
          <a:p>
            <a:pPr algn="l">
              <a:spcBef>
                <a:spcPts val="0"/>
              </a:spcBef>
              <a:spcAft>
                <a:spcPts val="600"/>
              </a:spcAft>
            </a:pPr>
            <a:r>
              <a:rPr sz="1500" b="1" i="0">
                <a:solidFill>
                  <a:srgbClr val="CDE2FB"/>
                </a:solidFill>
                <a:latin typeface="Helvetica Neue"/>
              </a:rPr>
              <a:t>FINAL YEAR PROJECT  ·  FINAL PRESENTATION  ·  LEVEL 4</a:t>
            </a:r>
          </a:p>
        </p:txBody>
      </p:sp>
      <p:sp>
        <p:nvSpPr>
          <p:cNvPr id="4" name="TextBox 3"/>
          <p:cNvSpPr txBox="1"/>
          <p:nvPr/>
        </p:nvSpPr>
        <p:spPr>
          <a:xfrm>
            <a:off x="1051560" y="1874519"/>
            <a:ext cx="10058400" cy="1737360"/>
          </a:xfrm>
          <a:prstGeom prst="rect">
            <a:avLst/>
          </a:prstGeom>
          <a:noFill/>
        </p:spPr>
        <p:txBody>
          <a:bodyPr wrap="square" anchor="t" lIns="0" rIns="0" tIns="0" bIns="0">
            <a:spAutoFit/>
          </a:bodyPr>
          <a:lstStyle/>
          <a:p>
            <a:pPr algn="l">
              <a:lnSpc>
                <a:spcPct val="108000"/>
              </a:lnSpc>
              <a:spcBef>
                <a:spcPts val="0"/>
              </a:spcBef>
              <a:spcAft>
                <a:spcPts val="0"/>
              </a:spcAft>
            </a:pPr>
            <a:r>
              <a:rPr sz="4000" b="1" i="0">
                <a:solidFill>
                  <a:srgbClr val="FFFFFF"/>
                </a:solidFill>
                <a:latin typeface="Helvetica Neue"/>
              </a:rPr>
              <a:t>AI-Powered Harvest Yield Prediction</a:t>
            </a:r>
          </a:p>
          <a:p>
            <a:pPr algn="l">
              <a:lnSpc>
                <a:spcPct val="115000"/>
              </a:lnSpc>
              <a:spcBef>
                <a:spcPts val="1000"/>
              </a:spcBef>
              <a:spcAft>
                <a:spcPts val="600"/>
              </a:spcAft>
            </a:pPr>
            <a:r>
              <a:rPr sz="2200" b="0" i="0">
                <a:solidFill>
                  <a:srgbClr val="CDE2FB"/>
                </a:solidFill>
                <a:latin typeface="Helvetica Neue"/>
              </a:rPr>
              <a:t>for Non-Cash Crops (Big Onion) in Sri Lanka</a:t>
            </a:r>
          </a:p>
        </p:txBody>
      </p:sp>
      <p:sp>
        <p:nvSpPr>
          <p:cNvPr id="5" name="Rectangle 4"/>
          <p:cNvSpPr/>
          <p:nvPr/>
        </p:nvSpPr>
        <p:spPr>
          <a:xfrm>
            <a:off x="1051560" y="4224528"/>
            <a:ext cx="1371600" cy="4114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4572000"/>
            <a:ext cx="10058400" cy="1371600"/>
          </a:xfrm>
          <a:prstGeom prst="rect">
            <a:avLst/>
          </a:prstGeom>
          <a:noFill/>
        </p:spPr>
        <p:txBody>
          <a:bodyPr wrap="square" anchor="t" lIns="0" rIns="0" tIns="0" bIns="0">
            <a:spAutoFit/>
          </a:bodyPr>
          <a:lstStyle/>
          <a:p>
            <a:pPr algn="l">
              <a:spcBef>
                <a:spcPts val="0"/>
              </a:spcBef>
              <a:spcAft>
                <a:spcPts val="300"/>
              </a:spcAft>
            </a:pPr>
            <a:r>
              <a:rPr sz="1500" b="0" i="0">
                <a:solidFill>
                  <a:srgbClr val="FFFFFF"/>
                </a:solidFill>
                <a:latin typeface="Helvetica Neue"/>
              </a:rPr>
              <a:t>214019K   Arkam B.H.M.        ·  ML / DL modelling and serving</a:t>
            </a:r>
          </a:p>
          <a:p>
            <a:pPr algn="l">
              <a:spcBef>
                <a:spcPts val="0"/>
              </a:spcBef>
              <a:spcAft>
                <a:spcPts val="300"/>
              </a:spcAft>
            </a:pPr>
            <a:r>
              <a:rPr sz="1500" b="0" i="0">
                <a:solidFill>
                  <a:srgbClr val="FFFFFF"/>
                </a:solidFill>
                <a:latin typeface="Helvetica Neue"/>
              </a:rPr>
              <a:t>214192G   Sharuja B.             ·  Data engineering and features</a:t>
            </a:r>
          </a:p>
          <a:p>
            <a:pPr algn="l">
              <a:spcBef>
                <a:spcPts val="0"/>
              </a:spcBef>
              <a:spcAft>
                <a:spcPts val="300"/>
              </a:spcAft>
            </a:pPr>
            <a:r>
              <a:rPr sz="1500" b="0" i="0">
                <a:solidFill>
                  <a:srgbClr val="FFFFFF"/>
                </a:solidFill>
                <a:latin typeface="Helvetica Neue"/>
              </a:rPr>
              <a:t>214193K   Shathurya P.         ·  Dashboard and visualisation</a:t>
            </a:r>
          </a:p>
          <a:p>
            <a:pPr algn="l">
              <a:spcBef>
                <a:spcPts val="1200"/>
              </a:spcBef>
              <a:spcAft>
                <a:spcPts val="600"/>
              </a:spcAft>
            </a:pPr>
            <a:r>
              <a:rPr sz="1500" b="0" i="0">
                <a:solidFill>
                  <a:srgbClr val="CDE2FB"/>
                </a:solidFill>
                <a:latin typeface="Helvetica Neue"/>
              </a:rPr>
              <a:t>Supervised by Dr. Firdhous M.F.M.</a:t>
            </a:r>
          </a:p>
        </p:txBody>
      </p:sp>
      <p:sp>
        <p:nvSpPr>
          <p:cNvPr id="7" name="TextBox 6"/>
          <p:cNvSpPr txBox="1"/>
          <p:nvPr/>
        </p:nvSpPr>
        <p:spPr>
          <a:xfrm>
            <a:off x="1051560" y="6172200"/>
            <a:ext cx="10058400" cy="365760"/>
          </a:xfrm>
          <a:prstGeom prst="rect">
            <a:avLst/>
          </a:prstGeom>
          <a:noFill/>
        </p:spPr>
        <p:txBody>
          <a:bodyPr wrap="square" anchor="t" lIns="0" rIns="0" tIns="0" bIns="0">
            <a:spAutoFit/>
          </a:bodyPr>
          <a:lstStyle/>
          <a:p>
            <a:pPr algn="l">
              <a:spcBef>
                <a:spcPts val="0"/>
              </a:spcBef>
              <a:spcAft>
                <a:spcPts val="600"/>
              </a:spcAft>
            </a:pPr>
            <a:r>
              <a:rPr sz="1300" b="0" i="0">
                <a:solidFill>
                  <a:srgbClr val="86B6EF"/>
                </a:solidFill>
                <a:latin typeface="Helvetica Neue"/>
              </a:rPr>
              <a:t>Group Agro AI  ·  Faculty of Information Technology, University of Moratuwa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AGENDA</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What we will cover</a:t>
            </a:r>
          </a:p>
        </p:txBody>
      </p:sp>
      <p:sp>
        <p:nvSpPr>
          <p:cNvPr id="5" name="TextBox 4"/>
          <p:cNvSpPr txBox="1"/>
          <p:nvPr/>
        </p:nvSpPr>
        <p:spPr>
          <a:xfrm>
            <a:off x="777240" y="1691640"/>
            <a:ext cx="10637215" cy="4617720"/>
          </a:xfrm>
          <a:prstGeom prst="rect">
            <a:avLst/>
          </a:prstGeom>
          <a:noFill/>
        </p:spPr>
        <p:txBody>
          <a:bodyPr wrap="square" anchor="t" lIns="0" rIns="0" tIns="0" bIns="0">
            <a:spAutoFit/>
          </a:bodyPr>
          <a:lstStyle/>
          <a:p>
            <a:pPr algn="l">
              <a:lnSpc>
                <a:spcPct val="122000"/>
              </a:lnSpc>
              <a:spcBef>
                <a:spcPts val="0"/>
              </a:spcBef>
              <a:spcAft>
                <a:spcPts val="200"/>
              </a:spcAft>
            </a:pPr>
            <a:r>
              <a:rPr sz="1550" b="1" i="0">
                <a:solidFill>
                  <a:srgbClr val="EB6834"/>
                </a:solidFill>
                <a:latin typeface="Helvetica Neue"/>
              </a:rPr>
              <a:t>▸  </a:t>
            </a:r>
            <a:r>
              <a:rPr sz="1550" b="1" i="0">
                <a:solidFill>
                  <a:srgbClr val="0B0B0B"/>
                </a:solidFill>
                <a:latin typeface="Helvetica Neue"/>
              </a:rPr>
              <a:t>The problem  </a:t>
            </a:r>
            <a:r>
              <a:rPr sz="1550" b="0" i="0">
                <a:solidFill>
                  <a:srgbClr val="52514E"/>
                </a:solidFill>
                <a:latin typeface="Helvetica Neue"/>
              </a:rPr>
              <a:t>no pre-harvest yield forecast exists for big onion in Sri Lanka</a:t>
            </a:r>
          </a:p>
          <a:p>
            <a:pPr algn="l">
              <a:lnSpc>
                <a:spcPct val="122000"/>
              </a:lnSpc>
              <a:spcBef>
                <a:spcPts val="800"/>
              </a:spcBef>
              <a:spcAft>
                <a:spcPts val="200"/>
              </a:spcAft>
            </a:pPr>
            <a:r>
              <a:rPr sz="1550" b="1" i="0">
                <a:solidFill>
                  <a:srgbClr val="EB6834"/>
                </a:solidFill>
                <a:latin typeface="Helvetica Neue"/>
              </a:rPr>
              <a:t>▸  </a:t>
            </a:r>
            <a:r>
              <a:rPr sz="1550" b="1" i="0">
                <a:solidFill>
                  <a:srgbClr val="0B0B0B"/>
                </a:solidFill>
                <a:latin typeface="Helvetica Neue"/>
              </a:rPr>
              <a:t>Related work  </a:t>
            </a:r>
            <a:r>
              <a:rPr sz="1550" b="0" i="0">
                <a:solidFill>
                  <a:srgbClr val="52514E"/>
                </a:solidFill>
                <a:latin typeface="Helvetica Neue"/>
              </a:rPr>
              <a:t>what others have done, and the five gaps we target</a:t>
            </a:r>
          </a:p>
          <a:p>
            <a:pPr algn="l">
              <a:lnSpc>
                <a:spcPct val="122000"/>
              </a:lnSpc>
              <a:spcBef>
                <a:spcPts val="800"/>
              </a:spcBef>
              <a:spcAft>
                <a:spcPts val="200"/>
              </a:spcAft>
            </a:pPr>
            <a:r>
              <a:rPr sz="1550" b="1" i="0">
                <a:solidFill>
                  <a:srgbClr val="EB6834"/>
                </a:solidFill>
                <a:latin typeface="Helvetica Neue"/>
              </a:rPr>
              <a:t>▸  </a:t>
            </a:r>
            <a:r>
              <a:rPr sz="1550" b="1" i="0">
                <a:solidFill>
                  <a:srgbClr val="0B0B0B"/>
                </a:solidFill>
                <a:latin typeface="Helvetica Neue"/>
              </a:rPr>
              <a:t>Our approach  </a:t>
            </a:r>
            <a:r>
              <a:rPr sz="1550" b="0" i="0">
                <a:solidFill>
                  <a:srgbClr val="52514E"/>
                </a:solidFill>
                <a:latin typeface="Helvetica Neue"/>
              </a:rPr>
              <a:t>multi-source data, real daily weather, one honest protocol</a:t>
            </a:r>
          </a:p>
          <a:p>
            <a:pPr algn="l">
              <a:lnSpc>
                <a:spcPct val="122000"/>
              </a:lnSpc>
              <a:spcBef>
                <a:spcPts val="800"/>
              </a:spcBef>
              <a:spcAft>
                <a:spcPts val="200"/>
              </a:spcAft>
            </a:pPr>
            <a:r>
              <a:rPr sz="1550" b="1" i="0">
                <a:solidFill>
                  <a:srgbClr val="EB6834"/>
                </a:solidFill>
                <a:latin typeface="Helvetica Neue"/>
              </a:rPr>
              <a:t>▸  </a:t>
            </a:r>
            <a:r>
              <a:rPr sz="1550" b="1" i="0">
                <a:solidFill>
                  <a:srgbClr val="0B0B0B"/>
                </a:solidFill>
                <a:latin typeface="Helvetica Neue"/>
              </a:rPr>
              <a:t>The method  </a:t>
            </a:r>
            <a:r>
              <a:rPr sz="1550" b="0" i="0">
                <a:solidFill>
                  <a:srgbClr val="52514E"/>
                </a:solidFill>
                <a:latin typeface="Helvetica Neue"/>
              </a:rPr>
              <a:t>PADR — an agronomic model whose crop constants are estimated, not assumed</a:t>
            </a:r>
          </a:p>
          <a:p>
            <a:pPr algn="l">
              <a:lnSpc>
                <a:spcPct val="122000"/>
              </a:lnSpc>
              <a:spcBef>
                <a:spcPts val="800"/>
              </a:spcBef>
              <a:spcAft>
                <a:spcPts val="200"/>
              </a:spcAft>
            </a:pPr>
            <a:r>
              <a:rPr sz="1550" b="1" i="0">
                <a:solidFill>
                  <a:srgbClr val="EB6834"/>
                </a:solidFill>
                <a:latin typeface="Helvetica Neue"/>
              </a:rPr>
              <a:t>▸  </a:t>
            </a:r>
            <a:r>
              <a:rPr sz="1550" b="1" i="0">
                <a:solidFill>
                  <a:srgbClr val="0B0B0B"/>
                </a:solidFill>
                <a:latin typeface="Helvetica Neue"/>
              </a:rPr>
              <a:t>Results  </a:t>
            </a:r>
            <a:r>
              <a:rPr sz="1550" b="0" i="0">
                <a:solidFill>
                  <a:srgbClr val="52514E"/>
                </a:solidFill>
                <a:latin typeface="Helvetica Neue"/>
              </a:rPr>
              <a:t>what we found when we audited our own data, and what 28 records support</a:t>
            </a:r>
          </a:p>
          <a:p>
            <a:pPr algn="l">
              <a:lnSpc>
                <a:spcPct val="122000"/>
              </a:lnSpc>
              <a:spcBef>
                <a:spcPts val="800"/>
              </a:spcBef>
              <a:spcAft>
                <a:spcPts val="200"/>
              </a:spcAft>
            </a:pPr>
            <a:r>
              <a:rPr sz="1550" b="1" i="0">
                <a:solidFill>
                  <a:srgbClr val="EB6834"/>
                </a:solidFill>
                <a:latin typeface="Helvetica Neue"/>
              </a:rPr>
              <a:t>▸  </a:t>
            </a:r>
            <a:r>
              <a:rPr sz="1550" b="1" i="0">
                <a:solidFill>
                  <a:srgbClr val="0B0B0B"/>
                </a:solidFill>
                <a:latin typeface="Helvetica Neue"/>
              </a:rPr>
              <a:t>Two findings we withdraw  </a:t>
            </a:r>
            <a:r>
              <a:rPr sz="1550" b="0" i="0">
                <a:solidFill>
                  <a:srgbClr val="52514E"/>
                </a:solidFill>
                <a:latin typeface="Helvetica Neue"/>
              </a:rPr>
              <a:t>and why reporting them is the point</a:t>
            </a:r>
          </a:p>
          <a:p>
            <a:pPr algn="l">
              <a:lnSpc>
                <a:spcPct val="122000"/>
              </a:lnSpc>
              <a:spcBef>
                <a:spcPts val="800"/>
              </a:spcBef>
              <a:spcAft>
                <a:spcPts val="200"/>
              </a:spcAft>
            </a:pPr>
            <a:r>
              <a:rPr sz="1550" b="1" i="0">
                <a:solidFill>
                  <a:srgbClr val="EB6834"/>
                </a:solidFill>
                <a:latin typeface="Helvetica Neue"/>
              </a:rPr>
              <a:t>▸  </a:t>
            </a:r>
            <a:r>
              <a:rPr sz="1550" b="1" i="0">
                <a:solidFill>
                  <a:srgbClr val="0B0B0B"/>
                </a:solidFill>
                <a:latin typeface="Helvetica Neue"/>
              </a:rPr>
              <a:t>Contributions, limitations and what comes next  </a:t>
            </a:r>
            <a:r>
              <a:rPr sz="1550" b="0" i="0">
                <a:solidFill>
                  <a:srgbClr val="52514E"/>
                </a:solidFill>
                <a:latin typeface="Helvetica Neue"/>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THE PROBLEM</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Sri Lanka cannot see its onion harvest coming</a:t>
            </a:r>
          </a:p>
        </p:txBody>
      </p:sp>
      <p:sp>
        <p:nvSpPr>
          <p:cNvPr id="5" name="Rectangle 4"/>
          <p:cNvSpPr/>
          <p:nvPr/>
        </p:nvSpPr>
        <p:spPr>
          <a:xfrm>
            <a:off x="777240" y="2194560"/>
            <a:ext cx="3350666" cy="2651760"/>
          </a:xfrm>
          <a:prstGeom prst="rect">
            <a:avLst/>
          </a:prstGeom>
          <a:solidFill>
            <a:srgbClr val="F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2194560"/>
            <a:ext cx="3350666" cy="640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2" y="2761488"/>
            <a:ext cx="2838602" cy="1097280"/>
          </a:xfrm>
          <a:prstGeom prst="rect">
            <a:avLst/>
          </a:prstGeom>
          <a:noFill/>
        </p:spPr>
        <p:txBody>
          <a:bodyPr wrap="square" anchor="t" lIns="0" rIns="0" tIns="0" bIns="0">
            <a:spAutoFit/>
          </a:bodyPr>
          <a:lstStyle/>
          <a:p>
            <a:pPr algn="l">
              <a:spcBef>
                <a:spcPts val="0"/>
              </a:spcBef>
              <a:spcAft>
                <a:spcPts val="600"/>
              </a:spcAft>
            </a:pPr>
            <a:r>
              <a:rPr sz="4800" b="1" i="0">
                <a:solidFill>
                  <a:srgbClr val="EB6834"/>
                </a:solidFill>
                <a:latin typeface="Helvetica Neue"/>
              </a:rPr>
              <a:t>220,000</a:t>
            </a:r>
          </a:p>
        </p:txBody>
      </p:sp>
      <p:sp>
        <p:nvSpPr>
          <p:cNvPr id="8" name="TextBox 7"/>
          <p:cNvSpPr txBox="1"/>
          <p:nvPr/>
        </p:nvSpPr>
        <p:spPr>
          <a:xfrm>
            <a:off x="1033272" y="3886200"/>
            <a:ext cx="2838602" cy="822960"/>
          </a:xfrm>
          <a:prstGeom prst="rect">
            <a:avLst/>
          </a:prstGeom>
          <a:noFill/>
        </p:spPr>
        <p:txBody>
          <a:bodyPr wrap="square" anchor="t" lIns="0" rIns="0" tIns="0" bIns="0">
            <a:spAutoFit/>
          </a:bodyPr>
          <a:lstStyle/>
          <a:p>
            <a:pPr algn="l">
              <a:lnSpc>
                <a:spcPct val="122000"/>
              </a:lnSpc>
              <a:spcBef>
                <a:spcPts val="0"/>
              </a:spcBef>
              <a:spcAft>
                <a:spcPts val="600"/>
              </a:spcAft>
            </a:pPr>
            <a:r>
              <a:rPr sz="1400" b="0" i="0">
                <a:solidFill>
                  <a:srgbClr val="52514E"/>
                </a:solidFill>
                <a:latin typeface="Helvetica Neue"/>
              </a:rPr>
              <a:t>metric tons of big onion consumed nationally each year</a:t>
            </a:r>
          </a:p>
        </p:txBody>
      </p:sp>
      <p:sp>
        <p:nvSpPr>
          <p:cNvPr id="9" name="Rectangle 8"/>
          <p:cNvSpPr/>
          <p:nvPr/>
        </p:nvSpPr>
        <p:spPr>
          <a:xfrm>
            <a:off x="4420514" y="2194560"/>
            <a:ext cx="3350666" cy="2651760"/>
          </a:xfrm>
          <a:prstGeom prst="rect">
            <a:avLst/>
          </a:prstGeom>
          <a:solidFill>
            <a:srgbClr val="F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20514" y="2194560"/>
            <a:ext cx="3350666" cy="64008"/>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76546" y="2761488"/>
            <a:ext cx="2838602" cy="1097280"/>
          </a:xfrm>
          <a:prstGeom prst="rect">
            <a:avLst/>
          </a:prstGeom>
          <a:noFill/>
        </p:spPr>
        <p:txBody>
          <a:bodyPr wrap="square" anchor="t" lIns="0" rIns="0" tIns="0" bIns="0">
            <a:spAutoFit/>
          </a:bodyPr>
          <a:lstStyle/>
          <a:p>
            <a:pPr algn="l">
              <a:spcBef>
                <a:spcPts val="0"/>
              </a:spcBef>
              <a:spcAft>
                <a:spcPts val="600"/>
              </a:spcAft>
            </a:pPr>
            <a:r>
              <a:rPr sz="4800" b="1" i="0">
                <a:solidFill>
                  <a:srgbClr val="4A3AA7"/>
                </a:solidFill>
                <a:latin typeface="Helvetica Neue"/>
              </a:rPr>
              <a:t>0</a:t>
            </a:r>
          </a:p>
        </p:txBody>
      </p:sp>
      <p:sp>
        <p:nvSpPr>
          <p:cNvPr id="12" name="TextBox 11"/>
          <p:cNvSpPr txBox="1"/>
          <p:nvPr/>
        </p:nvSpPr>
        <p:spPr>
          <a:xfrm>
            <a:off x="4676546" y="3886200"/>
            <a:ext cx="2838602" cy="822960"/>
          </a:xfrm>
          <a:prstGeom prst="rect">
            <a:avLst/>
          </a:prstGeom>
          <a:noFill/>
        </p:spPr>
        <p:txBody>
          <a:bodyPr wrap="square" anchor="t" lIns="0" rIns="0" tIns="0" bIns="0">
            <a:spAutoFit/>
          </a:bodyPr>
          <a:lstStyle/>
          <a:p>
            <a:pPr algn="l">
              <a:lnSpc>
                <a:spcPct val="122000"/>
              </a:lnSpc>
              <a:spcBef>
                <a:spcPts val="0"/>
              </a:spcBef>
              <a:spcAft>
                <a:spcPts val="600"/>
              </a:spcAft>
            </a:pPr>
            <a:r>
              <a:rPr sz="1400" b="0" i="0">
                <a:solidFill>
                  <a:srgbClr val="52514E"/>
                </a:solidFill>
                <a:latin typeface="Helvetica Neue"/>
              </a:rPr>
              <a:t>crop-cutting surveys for big onion — unlike paddy, none exist</a:t>
            </a:r>
          </a:p>
        </p:txBody>
      </p:sp>
      <p:sp>
        <p:nvSpPr>
          <p:cNvPr id="13" name="Rectangle 12"/>
          <p:cNvSpPr/>
          <p:nvPr/>
        </p:nvSpPr>
        <p:spPr>
          <a:xfrm>
            <a:off x="8063788" y="2194560"/>
            <a:ext cx="3350666" cy="2651760"/>
          </a:xfrm>
          <a:prstGeom prst="rect">
            <a:avLst/>
          </a:prstGeom>
          <a:solidFill>
            <a:srgbClr val="F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3788" y="2194560"/>
            <a:ext cx="3350666"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19820" y="2761488"/>
            <a:ext cx="2838602" cy="1097280"/>
          </a:xfrm>
          <a:prstGeom prst="rect">
            <a:avLst/>
          </a:prstGeom>
          <a:noFill/>
        </p:spPr>
        <p:txBody>
          <a:bodyPr wrap="square" anchor="t" lIns="0" rIns="0" tIns="0" bIns="0">
            <a:spAutoFit/>
          </a:bodyPr>
          <a:lstStyle/>
          <a:p>
            <a:pPr algn="l">
              <a:spcBef>
                <a:spcPts val="0"/>
              </a:spcBef>
              <a:spcAft>
                <a:spcPts val="600"/>
              </a:spcAft>
            </a:pPr>
            <a:r>
              <a:rPr sz="4800" b="1" i="0">
                <a:solidFill>
                  <a:srgbClr val="2A78D6"/>
                </a:solidFill>
                <a:latin typeface="Helvetica Neue"/>
              </a:rPr>
              <a:t>After</a:t>
            </a:r>
          </a:p>
        </p:txBody>
      </p:sp>
      <p:sp>
        <p:nvSpPr>
          <p:cNvPr id="16" name="TextBox 15"/>
          <p:cNvSpPr txBox="1"/>
          <p:nvPr/>
        </p:nvSpPr>
        <p:spPr>
          <a:xfrm>
            <a:off x="8319820" y="3886200"/>
            <a:ext cx="2838602" cy="822960"/>
          </a:xfrm>
          <a:prstGeom prst="rect">
            <a:avLst/>
          </a:prstGeom>
          <a:noFill/>
        </p:spPr>
        <p:txBody>
          <a:bodyPr wrap="square" anchor="t" lIns="0" rIns="0" tIns="0" bIns="0">
            <a:spAutoFit/>
          </a:bodyPr>
          <a:lstStyle/>
          <a:p>
            <a:pPr algn="l">
              <a:lnSpc>
                <a:spcPct val="122000"/>
              </a:lnSpc>
              <a:spcBef>
                <a:spcPts val="0"/>
              </a:spcBef>
              <a:spcAft>
                <a:spcPts val="600"/>
              </a:spcAft>
            </a:pPr>
            <a:r>
              <a:rPr sz="1400" b="0" i="0">
                <a:solidFill>
                  <a:srgbClr val="52514E"/>
                </a:solidFill>
                <a:latin typeface="Helvetica Neue"/>
              </a:rPr>
              <a:t>harvest is when the yield figure finally arrives</a:t>
            </a:r>
          </a:p>
        </p:txBody>
      </p:sp>
      <p:sp>
        <p:nvSpPr>
          <p:cNvPr id="17" name="TextBox 16"/>
          <p:cNvSpPr txBox="1"/>
          <p:nvPr/>
        </p:nvSpPr>
        <p:spPr>
          <a:xfrm>
            <a:off x="777240" y="5257800"/>
            <a:ext cx="10637215" cy="731520"/>
          </a:xfrm>
          <a:prstGeom prst="rect">
            <a:avLst/>
          </a:prstGeom>
          <a:noFill/>
        </p:spPr>
        <p:txBody>
          <a:bodyPr wrap="square" anchor="t" lIns="0" rIns="0" tIns="0" bIns="0">
            <a:spAutoFit/>
          </a:bodyPr>
          <a:lstStyle/>
          <a:p>
            <a:pPr algn="l">
              <a:lnSpc>
                <a:spcPct val="125000"/>
              </a:lnSpc>
              <a:spcBef>
                <a:spcPts val="0"/>
              </a:spcBef>
              <a:spcAft>
                <a:spcPts val="600"/>
              </a:spcAft>
            </a:pPr>
            <a:r>
              <a:rPr sz="1500" b="0" i="0">
                <a:solidFill>
                  <a:srgbClr val="52514E"/>
                </a:solidFill>
                <a:latin typeface="Helvetica Neue"/>
              </a:rPr>
              <a:t>Import volumes must be committed months before the domestic crop reaches market. Today that decision is made against last year's outcome and a subjective field assessment with no quantified error.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THE PROBLEM</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Why this is technically hard</a:t>
            </a:r>
          </a:p>
        </p:txBody>
      </p:sp>
      <p:sp>
        <p:nvSpPr>
          <p:cNvPr id="5" name="Rectangle 4"/>
          <p:cNvSpPr/>
          <p:nvPr/>
        </p:nvSpPr>
        <p:spPr>
          <a:xfrm>
            <a:off x="777240" y="1691640"/>
            <a:ext cx="45720" cy="2926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91640"/>
            <a:ext cx="4884267" cy="320040"/>
          </a:xfrm>
          <a:prstGeom prst="rect">
            <a:avLst/>
          </a:prstGeom>
          <a:noFill/>
        </p:spPr>
        <p:txBody>
          <a:bodyPr wrap="square" anchor="t" lIns="0" rIns="0" tIns="0" bIns="0">
            <a:spAutoFit/>
          </a:bodyPr>
          <a:lstStyle/>
          <a:p>
            <a:pPr algn="l">
              <a:spcBef>
                <a:spcPts val="0"/>
              </a:spcBef>
              <a:spcAft>
                <a:spcPts val="600"/>
              </a:spcAft>
            </a:pPr>
            <a:r>
              <a:rPr sz="1700" b="1" i="0">
                <a:solidFill>
                  <a:srgbClr val="0D366B"/>
                </a:solidFill>
                <a:latin typeface="Helvetica Neue"/>
              </a:rPr>
              <a:t>What drives yield</a:t>
            </a:r>
          </a:p>
        </p:txBody>
      </p:sp>
      <p:sp>
        <p:nvSpPr>
          <p:cNvPr id="7" name="TextBox 6"/>
          <p:cNvSpPr txBox="1"/>
          <p:nvPr/>
        </p:nvSpPr>
        <p:spPr>
          <a:xfrm>
            <a:off x="777240" y="2194560"/>
            <a:ext cx="5067147" cy="3200400"/>
          </a:xfrm>
          <a:prstGeom prst="rect">
            <a:avLst/>
          </a:prstGeom>
          <a:noFill/>
        </p:spPr>
        <p:txBody>
          <a:bodyPr wrap="square" anchor="t" lIns="0" rIns="0" tIns="0" bIns="0">
            <a:spAutoFit/>
          </a:bodyPr>
          <a:lstStyle/>
          <a:p>
            <a:pPr algn="l">
              <a:lnSpc>
                <a:spcPct val="120000"/>
              </a:lnSpc>
              <a:spcBef>
                <a:spcPts val="0"/>
              </a:spcBef>
              <a:spcAft>
                <a:spcPts val="200"/>
              </a:spcAft>
            </a:pPr>
            <a:r>
              <a:rPr sz="1500" b="1" i="0">
                <a:solidFill>
                  <a:srgbClr val="EB6834"/>
                </a:solidFill>
                <a:latin typeface="Helvetica Neue"/>
              </a:rPr>
              <a:t>•  </a:t>
            </a:r>
            <a:r>
              <a:rPr sz="1500" b="0" i="0">
                <a:solidFill>
                  <a:srgbClr val="52514E"/>
                </a:solidFill>
                <a:latin typeface="Helvetica Neue"/>
              </a:rPr>
              <a:t>Soil water availability and irrigation scheduling</a:t>
            </a:r>
          </a:p>
          <a:p>
            <a:pPr algn="l">
              <a:lnSpc>
                <a:spcPct val="120000"/>
              </a:lnSpc>
              <a:spcBef>
                <a:spcPts val="900"/>
              </a:spcBef>
              <a:spcAft>
                <a:spcPts val="200"/>
              </a:spcAft>
            </a:pPr>
            <a:r>
              <a:rPr sz="1500" b="1" i="0">
                <a:solidFill>
                  <a:srgbClr val="EB6834"/>
                </a:solidFill>
                <a:latin typeface="Helvetica Neue"/>
              </a:rPr>
              <a:t>•  </a:t>
            </a:r>
            <a:r>
              <a:rPr sz="1500" b="0" i="0">
                <a:solidFill>
                  <a:srgbClr val="52514E"/>
                </a:solidFill>
                <a:latin typeface="Helvetica Neue"/>
              </a:rPr>
              <a:t>Thermal accumulation across the growing season</a:t>
            </a:r>
          </a:p>
          <a:p>
            <a:pPr algn="l">
              <a:lnSpc>
                <a:spcPct val="120000"/>
              </a:lnSpc>
              <a:spcBef>
                <a:spcPts val="900"/>
              </a:spcBef>
              <a:spcAft>
                <a:spcPts val="200"/>
              </a:spcAft>
            </a:pPr>
            <a:r>
              <a:rPr sz="1500" b="1" i="0">
                <a:solidFill>
                  <a:srgbClr val="EB6834"/>
                </a:solidFill>
                <a:latin typeface="Helvetica Neue"/>
              </a:rPr>
              <a:t>•  </a:t>
            </a:r>
            <a:r>
              <a:rPr sz="1500" b="0" i="0">
                <a:solidFill>
                  <a:srgbClr val="52514E"/>
                </a:solidFill>
                <a:latin typeface="Helvetica Neue"/>
              </a:rPr>
              <a:t>Canopy development and radiation interception</a:t>
            </a:r>
          </a:p>
          <a:p>
            <a:pPr algn="l">
              <a:lnSpc>
                <a:spcPct val="120000"/>
              </a:lnSpc>
              <a:spcBef>
                <a:spcPts val="900"/>
              </a:spcBef>
              <a:spcAft>
                <a:spcPts val="200"/>
              </a:spcAft>
            </a:pPr>
            <a:r>
              <a:rPr sz="1500" b="1" i="0">
                <a:solidFill>
                  <a:srgbClr val="EB6834"/>
                </a:solidFill>
                <a:latin typeface="Helvetica Neue"/>
              </a:rPr>
              <a:t>•  </a:t>
            </a:r>
            <a:r>
              <a:rPr sz="1500" b="0" i="0">
                <a:solidFill>
                  <a:srgbClr val="52514E"/>
                </a:solidFill>
                <a:latin typeface="Helvetica Neue"/>
              </a:rPr>
              <a:t>Pest and disease pressure</a:t>
            </a:r>
          </a:p>
          <a:p>
            <a:pPr algn="l">
              <a:lnSpc>
                <a:spcPct val="120000"/>
              </a:lnSpc>
              <a:spcBef>
                <a:spcPts val="900"/>
              </a:spcBef>
              <a:spcAft>
                <a:spcPts val="200"/>
              </a:spcAft>
            </a:pPr>
            <a:r>
              <a:rPr sz="1500" b="1" i="0">
                <a:solidFill>
                  <a:srgbClr val="EB6834"/>
                </a:solidFill>
                <a:latin typeface="Helvetica Neue"/>
              </a:rPr>
              <a:t>•  </a:t>
            </a:r>
            <a:r>
              <a:rPr sz="1500" b="0" i="0">
                <a:solidFill>
                  <a:srgbClr val="52514E"/>
                </a:solidFill>
                <a:latin typeface="Helvetica Neue"/>
              </a:rPr>
              <a:t>Cultivar choice and fertiliser regime</a:t>
            </a:r>
          </a:p>
        </p:txBody>
      </p:sp>
      <p:sp>
        <p:nvSpPr>
          <p:cNvPr id="8" name="Rectangle 7"/>
          <p:cNvSpPr/>
          <p:nvPr/>
        </p:nvSpPr>
        <p:spPr>
          <a:xfrm>
            <a:off x="6347307" y="1691640"/>
            <a:ext cx="45720" cy="2926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0187" y="1691640"/>
            <a:ext cx="4884267" cy="320040"/>
          </a:xfrm>
          <a:prstGeom prst="rect">
            <a:avLst/>
          </a:prstGeom>
          <a:noFill/>
        </p:spPr>
        <p:txBody>
          <a:bodyPr wrap="square" anchor="t" lIns="0" rIns="0" tIns="0" bIns="0">
            <a:spAutoFit/>
          </a:bodyPr>
          <a:lstStyle/>
          <a:p>
            <a:pPr algn="l">
              <a:spcBef>
                <a:spcPts val="0"/>
              </a:spcBef>
              <a:spcAft>
                <a:spcPts val="600"/>
              </a:spcAft>
            </a:pPr>
            <a:r>
              <a:rPr sz="1700" b="1" i="0">
                <a:solidFill>
                  <a:srgbClr val="0D366B"/>
                </a:solidFill>
                <a:latin typeface="Helvetica Neue"/>
              </a:rPr>
              <a:t>What we can actually observe</a:t>
            </a:r>
          </a:p>
        </p:txBody>
      </p:sp>
      <p:sp>
        <p:nvSpPr>
          <p:cNvPr id="10" name="TextBox 9"/>
          <p:cNvSpPr txBox="1"/>
          <p:nvPr/>
        </p:nvSpPr>
        <p:spPr>
          <a:xfrm>
            <a:off x="6347307" y="2194560"/>
            <a:ext cx="5067147" cy="3200400"/>
          </a:xfrm>
          <a:prstGeom prst="rect">
            <a:avLst/>
          </a:prstGeom>
          <a:noFill/>
        </p:spPr>
        <p:txBody>
          <a:bodyPr wrap="square" anchor="t" lIns="0" rIns="0" tIns="0" bIns="0">
            <a:spAutoFit/>
          </a:bodyPr>
          <a:lstStyle/>
          <a:p>
            <a:pPr algn="l">
              <a:lnSpc>
                <a:spcPct val="120000"/>
              </a:lnSpc>
              <a:spcBef>
                <a:spcPts val="0"/>
              </a:spcBef>
              <a:spcAft>
                <a:spcPts val="200"/>
              </a:spcAft>
            </a:pPr>
            <a:r>
              <a:rPr sz="1500" b="1" i="0">
                <a:solidFill>
                  <a:srgbClr val="2A78D6"/>
                </a:solidFill>
                <a:latin typeface="Helvetica Neue"/>
              </a:rPr>
              <a:t>•  </a:t>
            </a:r>
            <a:r>
              <a:rPr sz="1500" b="0" i="0">
                <a:solidFill>
                  <a:srgbClr val="52514E"/>
                </a:solidFill>
                <a:latin typeface="Helvetica Neue"/>
              </a:rPr>
              <a:t>Daily weather (reanalysis, spatially complete)</a:t>
            </a:r>
          </a:p>
          <a:p>
            <a:pPr algn="l">
              <a:lnSpc>
                <a:spcPct val="120000"/>
              </a:lnSpc>
              <a:spcBef>
                <a:spcPts val="900"/>
              </a:spcBef>
              <a:spcAft>
                <a:spcPts val="200"/>
              </a:spcAft>
            </a:pPr>
            <a:r>
              <a:rPr sz="1500" b="1" i="0">
                <a:solidFill>
                  <a:srgbClr val="2A78D6"/>
                </a:solidFill>
                <a:latin typeface="Helvetica Neue"/>
              </a:rPr>
              <a:t>•  </a:t>
            </a:r>
            <a:r>
              <a:rPr sz="1500" b="0" i="0">
                <a:solidFill>
                  <a:srgbClr val="52514E"/>
                </a:solidFill>
                <a:latin typeface="Helvetica Neue"/>
              </a:rPr>
              <a:t>Satellite vegetation indices and land surface temperature</a:t>
            </a:r>
          </a:p>
          <a:p>
            <a:pPr algn="l">
              <a:lnSpc>
                <a:spcPct val="120000"/>
              </a:lnSpc>
              <a:spcBef>
                <a:spcPts val="900"/>
              </a:spcBef>
              <a:spcAft>
                <a:spcPts val="200"/>
              </a:spcAft>
            </a:pPr>
            <a:r>
              <a:rPr sz="1500" b="1" i="0">
                <a:solidFill>
                  <a:srgbClr val="2A78D6"/>
                </a:solidFill>
                <a:latin typeface="Helvetica Neue"/>
              </a:rPr>
              <a:t>•  </a:t>
            </a:r>
            <a:r>
              <a:rPr sz="1500" b="0" i="0">
                <a:solidFill>
                  <a:srgbClr val="52514E"/>
                </a:solidFill>
                <a:latin typeface="Helvetica Neue"/>
              </a:rPr>
              <a:t>Static soil properties from global grids</a:t>
            </a:r>
          </a:p>
          <a:p>
            <a:pPr algn="l">
              <a:lnSpc>
                <a:spcPct val="120000"/>
              </a:lnSpc>
              <a:spcBef>
                <a:spcPts val="900"/>
              </a:spcBef>
              <a:spcAft>
                <a:spcPts val="200"/>
              </a:spcAft>
            </a:pPr>
            <a:r>
              <a:rPr sz="1500" b="1" i="0">
                <a:solidFill>
                  <a:srgbClr val="2A78D6"/>
                </a:solidFill>
                <a:latin typeface="Helvetica Neue"/>
              </a:rPr>
              <a:t>•  </a:t>
            </a:r>
            <a:r>
              <a:rPr sz="1500" b="0" i="0">
                <a:solidFill>
                  <a:srgbClr val="52514E"/>
                </a:solidFill>
                <a:latin typeface="Helvetica Neue"/>
              </a:rPr>
              <a:t>District yield history — itself subjectively estimated</a:t>
            </a:r>
          </a:p>
          <a:p>
            <a:pPr algn="l">
              <a:lnSpc>
                <a:spcPct val="120000"/>
              </a:lnSpc>
              <a:spcBef>
                <a:spcPts val="900"/>
              </a:spcBef>
              <a:spcAft>
                <a:spcPts val="200"/>
              </a:spcAft>
            </a:pPr>
            <a:r>
              <a:rPr sz="1500" b="1" i="0">
                <a:solidFill>
                  <a:srgbClr val="2A78D6"/>
                </a:solidFill>
                <a:latin typeface="Helvetica Neue"/>
              </a:rPr>
              <a:t>•  </a:t>
            </a:r>
            <a:r>
              <a:rPr sz="1500" b="0" i="0">
                <a:solidFill>
                  <a:srgbClr val="52514E"/>
                </a:solidFill>
                <a:latin typeface="Helvetica Neue"/>
              </a:rPr>
              <a:t>Nothing about management decisions</a:t>
            </a:r>
          </a:p>
        </p:txBody>
      </p:sp>
      <p:sp>
        <p:nvSpPr>
          <p:cNvPr id="11" name="Rectangle 10"/>
          <p:cNvSpPr/>
          <p:nvPr/>
        </p:nvSpPr>
        <p:spPr>
          <a:xfrm>
            <a:off x="777240" y="5623560"/>
            <a:ext cx="10637215" cy="731520"/>
          </a:xfrm>
          <a:prstGeom prst="rect">
            <a:avLst/>
          </a:prstGeom>
          <a:solidFill>
            <a:srgbClr val="F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623560"/>
            <a:ext cx="54864" cy="7315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5623560"/>
            <a:ext cx="10088575" cy="731520"/>
          </a:xfrm>
          <a:prstGeom prst="rect">
            <a:avLst/>
          </a:prstGeom>
          <a:noFill/>
        </p:spPr>
        <p:txBody>
          <a:bodyPr wrap="square" anchor="ctr" lIns="0" rIns="0" tIns="0" bIns="0">
            <a:spAutoFit/>
          </a:bodyPr>
          <a:lstStyle/>
          <a:p>
            <a:pPr algn="l">
              <a:spcBef>
                <a:spcPts val="0"/>
              </a:spcBef>
              <a:spcAft>
                <a:spcPts val="600"/>
              </a:spcAft>
            </a:pPr>
            <a:r>
              <a:rPr sz="1500" b="1" i="0">
                <a:solidFill>
                  <a:srgbClr val="0D366B"/>
                </a:solidFill>
                <a:latin typeface="Helvetica Neue"/>
              </a:rPr>
              <a:t>Most of what determines yield is unobserved. That places a ceiling on achievable accuracy before any model is chosen.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SCOPE</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Aim and objectives</a:t>
            </a:r>
          </a:p>
        </p:txBody>
      </p:sp>
      <p:sp>
        <p:nvSpPr>
          <p:cNvPr id="5" name="TextBox 4"/>
          <p:cNvSpPr txBox="1"/>
          <p:nvPr/>
        </p:nvSpPr>
        <p:spPr>
          <a:xfrm>
            <a:off x="777240" y="1691640"/>
            <a:ext cx="10637215" cy="4617720"/>
          </a:xfrm>
          <a:prstGeom prst="rect">
            <a:avLst/>
          </a:prstGeom>
          <a:noFill/>
        </p:spPr>
        <p:txBody>
          <a:bodyPr wrap="square" anchor="t" lIns="0" rIns="0" tIns="0" bIns="0">
            <a:spAutoFit/>
          </a:bodyPr>
          <a:lstStyle/>
          <a:p>
            <a:pPr algn="l">
              <a:lnSpc>
                <a:spcPct val="122000"/>
              </a:lnSpc>
              <a:spcBef>
                <a:spcPts val="0"/>
              </a:spcBef>
              <a:spcAft>
                <a:spcPts val="200"/>
              </a:spcAft>
            </a:pPr>
            <a:r>
              <a:rPr sz="1550" b="1" i="0">
                <a:solidFill>
                  <a:srgbClr val="EB6834"/>
                </a:solidFill>
                <a:latin typeface="Helvetica Neue"/>
              </a:rPr>
              <a:t>▸  </a:t>
            </a:r>
            <a:r>
              <a:rPr sz="1550" b="1" i="0">
                <a:solidFill>
                  <a:srgbClr val="0B0B0B"/>
                </a:solidFill>
                <a:latin typeface="Helvetica Neue"/>
              </a:rPr>
              <a:t>Aim  </a:t>
            </a:r>
            <a:r>
              <a:rPr sz="1550" b="0" i="0">
                <a:solidFill>
                  <a:srgbClr val="52514E"/>
                </a:solidFill>
                <a:latin typeface="Helvetica Neue"/>
              </a:rPr>
              <a:t>forecast big onion yield by district and season, before harvest, from open data — with honest, calibrated uncertainty</a:t>
            </a:r>
          </a:p>
          <a:p>
            <a:pPr algn="l">
              <a:lnSpc>
                <a:spcPct val="122000"/>
              </a:lnSpc>
              <a:spcBef>
                <a:spcPts val="800"/>
              </a:spcBef>
              <a:spcAft>
                <a:spcPts val="200"/>
              </a:spcAft>
            </a:pPr>
            <a:r>
              <a:rPr sz="1550" b="1" i="0">
                <a:solidFill>
                  <a:srgbClr val="EB6834"/>
                </a:solidFill>
                <a:latin typeface="Helvetica Neue"/>
              </a:rPr>
              <a:t>▸  </a:t>
            </a:r>
            <a:r>
              <a:rPr sz="1550" b="1" i="0">
                <a:solidFill>
                  <a:srgbClr val="0B0B0B"/>
                </a:solidFill>
                <a:latin typeface="Helvetica Neue"/>
              </a:rPr>
              <a:t>1  Data foundation  </a:t>
            </a:r>
            <a:r>
              <a:rPr sz="1550" b="0" i="0">
                <a:solidFill>
                  <a:srgbClr val="52514E"/>
                </a:solidFill>
                <a:latin typeface="Helvetica Neue"/>
              </a:rPr>
              <a:t>integrate yield, weather, satellite and soil to one clean grain</a:t>
            </a:r>
          </a:p>
          <a:p>
            <a:pPr algn="l">
              <a:lnSpc>
                <a:spcPct val="122000"/>
              </a:lnSpc>
              <a:spcBef>
                <a:spcPts val="800"/>
              </a:spcBef>
              <a:spcAft>
                <a:spcPts val="200"/>
              </a:spcAft>
            </a:pPr>
            <a:r>
              <a:rPr sz="1550" b="1" i="0">
                <a:solidFill>
                  <a:srgbClr val="EB6834"/>
                </a:solidFill>
                <a:latin typeface="Helvetica Neue"/>
              </a:rPr>
              <a:t>▸  </a:t>
            </a:r>
            <a:r>
              <a:rPr sz="1550" b="1" i="0">
                <a:solidFill>
                  <a:srgbClr val="0B0B0B"/>
                </a:solidFill>
                <a:latin typeface="Helvetica Neue"/>
              </a:rPr>
              <a:t>2  Feature engineering  </a:t>
            </a:r>
            <a:r>
              <a:rPr sz="1550" b="0" i="0">
                <a:solidFill>
                  <a:srgbClr val="52514E"/>
                </a:solidFill>
                <a:latin typeface="Helvetica Neue"/>
              </a:rPr>
              <a:t>derive agronomically meaningful predictors</a:t>
            </a:r>
          </a:p>
          <a:p>
            <a:pPr algn="l">
              <a:lnSpc>
                <a:spcPct val="122000"/>
              </a:lnSpc>
              <a:spcBef>
                <a:spcPts val="800"/>
              </a:spcBef>
              <a:spcAft>
                <a:spcPts val="200"/>
              </a:spcAft>
            </a:pPr>
            <a:r>
              <a:rPr sz="1550" b="1" i="0">
                <a:solidFill>
                  <a:srgbClr val="EB6834"/>
                </a:solidFill>
                <a:latin typeface="Helvetica Neue"/>
              </a:rPr>
              <a:t>▸  </a:t>
            </a:r>
            <a:r>
              <a:rPr sz="1550" b="1" i="0">
                <a:solidFill>
                  <a:srgbClr val="0B0B0B"/>
                </a:solidFill>
                <a:latin typeface="Helvetica Neue"/>
              </a:rPr>
              <a:t>3  Comparative modelling  </a:t>
            </a:r>
            <a:r>
              <a:rPr sz="1550" b="0" i="0">
                <a:solidFill>
                  <a:srgbClr val="52514E"/>
                </a:solidFill>
                <a:latin typeface="Helvetica Neue"/>
              </a:rPr>
              <a:t>classical, deep, symbolic and physics-hybrid under one protocol</a:t>
            </a:r>
          </a:p>
          <a:p>
            <a:pPr algn="l">
              <a:lnSpc>
                <a:spcPct val="122000"/>
              </a:lnSpc>
              <a:spcBef>
                <a:spcPts val="800"/>
              </a:spcBef>
              <a:spcAft>
                <a:spcPts val="200"/>
              </a:spcAft>
            </a:pPr>
            <a:r>
              <a:rPr sz="1550" b="1" i="0">
                <a:solidFill>
                  <a:srgbClr val="EB6834"/>
                </a:solidFill>
                <a:latin typeface="Helvetica Neue"/>
              </a:rPr>
              <a:t>▸  </a:t>
            </a:r>
            <a:r>
              <a:rPr sz="1550" b="1" i="0">
                <a:solidFill>
                  <a:srgbClr val="0B0B0B"/>
                </a:solidFill>
                <a:latin typeface="Helvetica Neue"/>
              </a:rPr>
              <a:t>4  Honest evaluation  </a:t>
            </a:r>
            <a:r>
              <a:rPr sz="1550" b="0" i="0">
                <a:solidFill>
                  <a:srgbClr val="52514E"/>
                </a:solidFill>
                <a:latin typeface="Helvetica Neue"/>
              </a:rPr>
              <a:t>leakage-free cross-validation, significance tests, conformal intervals</a:t>
            </a:r>
          </a:p>
          <a:p>
            <a:pPr algn="l">
              <a:lnSpc>
                <a:spcPct val="122000"/>
              </a:lnSpc>
              <a:spcBef>
                <a:spcPts val="800"/>
              </a:spcBef>
              <a:spcAft>
                <a:spcPts val="200"/>
              </a:spcAft>
            </a:pPr>
            <a:r>
              <a:rPr sz="1550" b="1" i="0">
                <a:solidFill>
                  <a:srgbClr val="EB6834"/>
                </a:solidFill>
                <a:latin typeface="Helvetica Neue"/>
              </a:rPr>
              <a:t>▸  </a:t>
            </a:r>
            <a:r>
              <a:rPr sz="1550" b="1" i="0">
                <a:solidFill>
                  <a:srgbClr val="0B0B0B"/>
                </a:solidFill>
                <a:latin typeface="Helvetica Neue"/>
              </a:rPr>
              <a:t>5  Attribution and ablation  </a:t>
            </a:r>
            <a:r>
              <a:rPr sz="1550" b="0" i="0">
                <a:solidFill>
                  <a:srgbClr val="52514E"/>
                </a:solidFill>
                <a:latin typeface="Helvetica Neue"/>
              </a:rPr>
              <a:t>quantify what each data source and predictor contributes</a:t>
            </a:r>
          </a:p>
          <a:p>
            <a:pPr algn="l">
              <a:lnSpc>
                <a:spcPct val="122000"/>
              </a:lnSpc>
              <a:spcBef>
                <a:spcPts val="800"/>
              </a:spcBef>
              <a:spcAft>
                <a:spcPts val="200"/>
              </a:spcAft>
            </a:pPr>
            <a:r>
              <a:rPr sz="1550" b="1" i="0">
                <a:solidFill>
                  <a:srgbClr val="EB6834"/>
                </a:solidFill>
                <a:latin typeface="Helvetica Neue"/>
              </a:rPr>
              <a:t>▸  </a:t>
            </a:r>
            <a:r>
              <a:rPr sz="1550" b="1" i="0">
                <a:solidFill>
                  <a:srgbClr val="0B0B0B"/>
                </a:solidFill>
                <a:latin typeface="Helvetica Neue"/>
              </a:rPr>
              <a:t>6  Delivery  </a:t>
            </a:r>
            <a:r>
              <a:rPr sz="1550" b="0" i="0">
                <a:solidFill>
                  <a:srgbClr val="52514E"/>
                </a:solidFill>
                <a:latin typeface="Helvetica Neue"/>
              </a:rPr>
              <a:t>REST service and a decision-support dashboard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264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1560" y="2377440"/>
            <a:ext cx="9601200" cy="457200"/>
          </a:xfrm>
          <a:prstGeom prst="rect">
            <a:avLst/>
          </a:prstGeom>
          <a:noFill/>
        </p:spPr>
        <p:txBody>
          <a:bodyPr wrap="square" anchor="t" lIns="0" rIns="0" tIns="0" bIns="0">
            <a:spAutoFit/>
          </a:bodyPr>
          <a:lstStyle/>
          <a:p>
            <a:pPr algn="l">
              <a:spcBef>
                <a:spcPts val="0"/>
              </a:spcBef>
              <a:spcAft>
                <a:spcPts val="600"/>
              </a:spcAft>
            </a:pPr>
            <a:r>
              <a:rPr sz="1600" b="1" i="0">
                <a:solidFill>
                  <a:srgbClr val="EB6834"/>
                </a:solidFill>
                <a:latin typeface="Helvetica Neue"/>
              </a:rPr>
              <a:t>01</a:t>
            </a:r>
          </a:p>
        </p:txBody>
      </p:sp>
      <p:sp>
        <p:nvSpPr>
          <p:cNvPr id="4" name="TextBox 3"/>
          <p:cNvSpPr txBox="1"/>
          <p:nvPr/>
        </p:nvSpPr>
        <p:spPr>
          <a:xfrm>
            <a:off x="1051560" y="2834640"/>
            <a:ext cx="9601200" cy="914400"/>
          </a:xfrm>
          <a:prstGeom prst="rect">
            <a:avLst/>
          </a:prstGeom>
          <a:noFill/>
        </p:spPr>
        <p:txBody>
          <a:bodyPr wrap="square" anchor="t" lIns="0" rIns="0" tIns="0" bIns="0">
            <a:spAutoFit/>
          </a:bodyPr>
          <a:lstStyle/>
          <a:p>
            <a:pPr algn="l">
              <a:spcBef>
                <a:spcPts val="0"/>
              </a:spcBef>
              <a:spcAft>
                <a:spcPts val="600"/>
              </a:spcAft>
            </a:pPr>
            <a:r>
              <a:rPr sz="3600" b="1" i="0">
                <a:solidFill>
                  <a:srgbClr val="FFFFFF"/>
                </a:solidFill>
                <a:latin typeface="Helvetica Neue"/>
              </a:rPr>
              <a:t>Review of others' work</a:t>
            </a:r>
          </a:p>
        </p:txBody>
      </p:sp>
      <p:sp>
        <p:nvSpPr>
          <p:cNvPr id="5" name="TextBox 4"/>
          <p:cNvSpPr txBox="1"/>
          <p:nvPr/>
        </p:nvSpPr>
        <p:spPr>
          <a:xfrm>
            <a:off x="1051560" y="3886200"/>
            <a:ext cx="8686800" cy="914400"/>
          </a:xfrm>
          <a:prstGeom prst="rect">
            <a:avLst/>
          </a:prstGeom>
          <a:noFill/>
        </p:spPr>
        <p:txBody>
          <a:bodyPr wrap="square" anchor="t" lIns="0" rIns="0" tIns="0" bIns="0">
            <a:spAutoFit/>
          </a:bodyPr>
          <a:lstStyle/>
          <a:p>
            <a:pPr algn="l">
              <a:lnSpc>
                <a:spcPct val="130000"/>
              </a:lnSpc>
              <a:spcBef>
                <a:spcPts val="0"/>
              </a:spcBef>
              <a:spcAft>
                <a:spcPts val="600"/>
              </a:spcAft>
            </a:pPr>
            <a:r>
              <a:rPr sz="1700" b="0" i="0">
                <a:solidFill>
                  <a:srgbClr val="CDE2FB"/>
                </a:solidFill>
                <a:latin typeface="Helvetica Neue"/>
              </a:rPr>
              <a:t>Four traditions — classical ML, deep and hybrid architectures, mechanistic crop models, and the Sri Lankan literature — and what none of them covers.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RELATED WORK</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Where the literature stands</a:t>
            </a:r>
          </a:p>
        </p:txBody>
      </p:sp>
      <p:graphicFrame>
        <p:nvGraphicFramePr>
          <p:cNvPr id="5" name="Table 4"/>
          <p:cNvGraphicFramePr>
            <a:graphicFrameLocks noGrp="1"/>
          </p:cNvGraphicFramePr>
          <p:nvPr/>
        </p:nvGraphicFramePr>
        <p:xfrm>
          <a:off x="777240" y="1920240"/>
          <a:ext cx="10637212" cy="3072384"/>
        </p:xfrm>
        <a:graphic>
          <a:graphicData uri="http://schemas.openxmlformats.org/drawingml/2006/table">
            <a:tbl>
              <a:tblPr firstRow="1" bandRow="1">
                <a:tableStyleId>{5C22544A-7EE6-4342-B048-85BDC9FD1C3A}</a:tableStyleId>
              </a:tblPr>
              <a:tblGrid>
                <a:gridCol w="2575325"/>
                <a:gridCol w="2239413"/>
                <a:gridCol w="2239413"/>
                <a:gridCol w="3583061"/>
              </a:tblGrid>
              <a:tr h="384048">
                <a:tc>
                  <a:txBody>
                    <a:bodyPr wrap="square"/>
                    <a:lstStyle/>
                    <a:p>
                      <a:pPr algn="l"/>
                      <a:r>
                        <a:rPr sz="1200" b="1" i="0">
                          <a:solidFill>
                            <a:srgbClr val="FFFFFF"/>
                          </a:solidFill>
                          <a:latin typeface="Helvetica Neue"/>
                        </a:rPr>
                        <a:t>Work</a:t>
                      </a:r>
                    </a:p>
                  </a:txBody>
                  <a:tcPr marL="91440" marR="91440">
                    <a:solidFill>
                      <a:srgbClr val="0D366B"/>
                    </a:solidFill>
                  </a:tcPr>
                </a:tc>
                <a:tc>
                  <a:txBody>
                    <a:bodyPr wrap="square"/>
                    <a:lstStyle/>
                    <a:p>
                      <a:pPr algn="l"/>
                      <a:r>
                        <a:rPr sz="1200" b="1" i="0">
                          <a:solidFill>
                            <a:srgbClr val="FFFFFF"/>
                          </a:solidFill>
                          <a:latin typeface="Helvetica Neue"/>
                        </a:rPr>
                        <a:t>Crop / region</a:t>
                      </a:r>
                    </a:p>
                  </a:txBody>
                  <a:tcPr marL="91440" marR="91440">
                    <a:solidFill>
                      <a:srgbClr val="0D366B"/>
                    </a:solidFill>
                  </a:tcPr>
                </a:tc>
                <a:tc>
                  <a:txBody>
                    <a:bodyPr wrap="square"/>
                    <a:lstStyle/>
                    <a:p>
                      <a:pPr algn="l"/>
                      <a:r>
                        <a:rPr sz="1200" b="1" i="0">
                          <a:solidFill>
                            <a:srgbClr val="FFFFFF"/>
                          </a:solidFill>
                          <a:latin typeface="Helvetica Neue"/>
                        </a:rPr>
                        <a:t>Method</a:t>
                      </a:r>
                    </a:p>
                  </a:txBody>
                  <a:tcPr marL="91440" marR="91440">
                    <a:solidFill>
                      <a:srgbClr val="0D366B"/>
                    </a:solidFill>
                  </a:tcPr>
                </a:tc>
                <a:tc>
                  <a:txBody>
                    <a:bodyPr wrap="square"/>
                    <a:lstStyle/>
                    <a:p>
                      <a:pPr algn="l"/>
                      <a:r>
                        <a:rPr sz="1200" b="1" i="0">
                          <a:solidFill>
                            <a:srgbClr val="FFFFFF"/>
                          </a:solidFill>
                          <a:latin typeface="Helvetica Neue"/>
                        </a:rPr>
                        <a:t>Limitation for our problem</a:t>
                      </a:r>
                    </a:p>
                  </a:txBody>
                  <a:tcPr marL="91440" marR="91440">
                    <a:solidFill>
                      <a:srgbClr val="0D366B"/>
                    </a:solidFill>
                  </a:tcPr>
                </a:tc>
              </a:tr>
              <a:tr h="384048">
                <a:tc>
                  <a:txBody>
                    <a:bodyPr wrap="square"/>
                    <a:lstStyle/>
                    <a:p>
                      <a:pPr algn="l"/>
                      <a:r>
                        <a:rPr sz="1150" b="0" i="0">
                          <a:solidFill>
                            <a:srgbClr val="52514E"/>
                          </a:solidFill>
                          <a:latin typeface="Helvetica Neue"/>
                        </a:rPr>
                        <a:t>Jabed et al. (2024)</a:t>
                      </a:r>
                    </a:p>
                  </a:txBody>
                  <a:tcPr marL="91440" marR="91440">
                    <a:solidFill>
                      <a:srgbClr val="F7F6F4"/>
                    </a:solidFill>
                  </a:tcPr>
                </a:tc>
                <a:tc>
                  <a:txBody>
                    <a:bodyPr wrap="square"/>
                    <a:lstStyle/>
                    <a:p>
                      <a:pPr algn="l"/>
                      <a:r>
                        <a:rPr sz="1150" b="0" i="0">
                          <a:solidFill>
                            <a:srgbClr val="52514E"/>
                          </a:solidFill>
                          <a:latin typeface="Helvetica Neue"/>
                        </a:rPr>
                        <a:t>Multiple / global</a:t>
                      </a:r>
                    </a:p>
                  </a:txBody>
                  <a:tcPr marL="91440" marR="91440">
                    <a:solidFill>
                      <a:srgbClr val="F7F6F4"/>
                    </a:solidFill>
                  </a:tcPr>
                </a:tc>
                <a:tc>
                  <a:txBody>
                    <a:bodyPr wrap="square"/>
                    <a:lstStyle/>
                    <a:p>
                      <a:pPr algn="l"/>
                      <a:r>
                        <a:rPr sz="1150" b="0" i="0">
                          <a:solidFill>
                            <a:srgbClr val="52514E"/>
                          </a:solidFill>
                          <a:latin typeface="Helvetica Neue"/>
                        </a:rPr>
                        <a:t>Review of ML and DL</a:t>
                      </a:r>
                    </a:p>
                  </a:txBody>
                  <a:tcPr marL="91440" marR="91440">
                    <a:solidFill>
                      <a:srgbClr val="F7F6F4"/>
                    </a:solidFill>
                  </a:tcPr>
                </a:tc>
                <a:tc>
                  <a:txBody>
                    <a:bodyPr wrap="square"/>
                    <a:lstStyle/>
                    <a:p>
                      <a:pPr algn="l"/>
                      <a:r>
                        <a:rPr sz="1150" b="0" i="0">
                          <a:solidFill>
                            <a:srgbClr val="52514E"/>
                          </a:solidFill>
                          <a:latin typeface="Helvetica Neue"/>
                        </a:rPr>
                        <a:t>No small-sample guidance</a:t>
                      </a:r>
                    </a:p>
                  </a:txBody>
                  <a:tcPr marL="91440" marR="91440">
                    <a:solidFill>
                      <a:srgbClr val="F7F6F4"/>
                    </a:solidFill>
                  </a:tcPr>
                </a:tc>
              </a:tr>
              <a:tr h="384048">
                <a:tc>
                  <a:txBody>
                    <a:bodyPr wrap="square"/>
                    <a:lstStyle/>
                    <a:p>
                      <a:pPr algn="l"/>
                      <a:r>
                        <a:rPr sz="1150" b="0" i="0">
                          <a:solidFill>
                            <a:srgbClr val="52514E"/>
                          </a:solidFill>
                          <a:latin typeface="Helvetica Neue"/>
                        </a:rPr>
                        <a:t>Chikwendu et al. (2025)</a:t>
                      </a:r>
                    </a:p>
                  </a:txBody>
                  <a:tcPr marL="91440" marR="91440">
                    <a:solidFill>
                      <a:srgbClr val="FCFCFB"/>
                    </a:solidFill>
                  </a:tcPr>
                </a:tc>
                <a:tc>
                  <a:txBody>
                    <a:bodyPr wrap="square"/>
                    <a:lstStyle/>
                    <a:p>
                      <a:pPr algn="l"/>
                      <a:r>
                        <a:rPr sz="1150" b="0" i="0">
                          <a:solidFill>
                            <a:srgbClr val="52514E"/>
                          </a:solidFill>
                          <a:latin typeface="Helvetica Neue"/>
                        </a:rPr>
                        <a:t>Multiple</a:t>
                      </a:r>
                    </a:p>
                  </a:txBody>
                  <a:tcPr marL="91440" marR="91440">
                    <a:solidFill>
                      <a:srgbClr val="FCFCFB"/>
                    </a:solidFill>
                  </a:tcPr>
                </a:tc>
                <a:tc>
                  <a:txBody>
                    <a:bodyPr wrap="square"/>
                    <a:lstStyle/>
                    <a:p>
                      <a:pPr algn="l"/>
                      <a:r>
                        <a:rPr sz="1150" b="0" i="0">
                          <a:solidFill>
                            <a:srgbClr val="52514E"/>
                          </a:solidFill>
                          <a:latin typeface="Helvetica Neue"/>
                        </a:rPr>
                        <a:t>RF, XGBoost, SVR, ANN</a:t>
                      </a:r>
                    </a:p>
                  </a:txBody>
                  <a:tcPr marL="91440" marR="91440">
                    <a:solidFill>
                      <a:srgbClr val="FCFCFB"/>
                    </a:solidFill>
                  </a:tcPr>
                </a:tc>
                <a:tc>
                  <a:txBody>
                    <a:bodyPr wrap="square"/>
                    <a:lstStyle/>
                    <a:p>
                      <a:pPr algn="l"/>
                      <a:r>
                        <a:rPr sz="1150" b="0" i="0">
                          <a:solidFill>
                            <a:srgbClr val="52514E"/>
                          </a:solidFill>
                          <a:latin typeface="Helvetica Neue"/>
                        </a:rPr>
                        <a:t>Random split leaks temporal information</a:t>
                      </a:r>
                    </a:p>
                  </a:txBody>
                  <a:tcPr marL="91440" marR="91440">
                    <a:solidFill>
                      <a:srgbClr val="FCFCFB"/>
                    </a:solidFill>
                  </a:tcPr>
                </a:tc>
              </a:tr>
              <a:tr h="384048">
                <a:tc>
                  <a:txBody>
                    <a:bodyPr wrap="square"/>
                    <a:lstStyle/>
                    <a:p>
                      <a:pPr algn="l"/>
                      <a:r>
                        <a:rPr sz="1150" b="0" i="0">
                          <a:solidFill>
                            <a:srgbClr val="52514E"/>
                          </a:solidFill>
                          <a:latin typeface="Helvetica Neue"/>
                        </a:rPr>
                        <a:t>Rajpoot &amp; Chandrakar (2025)</a:t>
                      </a:r>
                    </a:p>
                  </a:txBody>
                  <a:tcPr marL="91440" marR="91440">
                    <a:solidFill>
                      <a:srgbClr val="F7F6F4"/>
                    </a:solidFill>
                  </a:tcPr>
                </a:tc>
                <a:tc>
                  <a:txBody>
                    <a:bodyPr wrap="square"/>
                    <a:lstStyle/>
                    <a:p>
                      <a:pPr algn="l"/>
                      <a:r>
                        <a:rPr sz="1150" b="0" i="0">
                          <a:solidFill>
                            <a:srgbClr val="52514E"/>
                          </a:solidFill>
                          <a:latin typeface="Helvetica Neue"/>
                        </a:rPr>
                        <a:t>Cereals</a:t>
                      </a:r>
                    </a:p>
                  </a:txBody>
                  <a:tcPr marL="91440" marR="91440">
                    <a:solidFill>
                      <a:srgbClr val="F7F6F4"/>
                    </a:solidFill>
                  </a:tcPr>
                </a:tc>
                <a:tc>
                  <a:txBody>
                    <a:bodyPr wrap="square"/>
                    <a:lstStyle/>
                    <a:p>
                      <a:pPr algn="l"/>
                      <a:r>
                        <a:rPr sz="1150" b="0" i="0">
                          <a:solidFill>
                            <a:srgbClr val="52514E"/>
                          </a:solidFill>
                          <a:latin typeface="Helvetica Neue"/>
                        </a:rPr>
                        <a:t>Hybrid CNN-LSTM</a:t>
                      </a:r>
                    </a:p>
                  </a:txBody>
                  <a:tcPr marL="91440" marR="91440">
                    <a:solidFill>
                      <a:srgbClr val="F7F6F4"/>
                    </a:solidFill>
                  </a:tcPr>
                </a:tc>
                <a:tc>
                  <a:txBody>
                    <a:bodyPr wrap="square"/>
                    <a:lstStyle/>
                    <a:p>
                      <a:pPr algn="l"/>
                      <a:r>
                        <a:rPr sz="1150" b="0" i="0">
                          <a:solidFill>
                            <a:srgbClr val="52514E"/>
                          </a:solidFill>
                          <a:latin typeface="Helvetica Neue"/>
                        </a:rPr>
                        <a:t>Validated only at large sample size</a:t>
                      </a:r>
                    </a:p>
                  </a:txBody>
                  <a:tcPr marL="91440" marR="91440">
                    <a:solidFill>
                      <a:srgbClr val="F7F6F4"/>
                    </a:solidFill>
                  </a:tcPr>
                </a:tc>
              </a:tr>
              <a:tr h="384048">
                <a:tc>
                  <a:txBody>
                    <a:bodyPr wrap="square"/>
                    <a:lstStyle/>
                    <a:p>
                      <a:pPr algn="l"/>
                      <a:r>
                        <a:rPr sz="1150" b="0" i="0">
                          <a:solidFill>
                            <a:srgbClr val="52514E"/>
                          </a:solidFill>
                          <a:latin typeface="Helvetica Neue"/>
                        </a:rPr>
                        <a:t>Shahhosseini et al. (2021)</a:t>
                      </a:r>
                    </a:p>
                  </a:txBody>
                  <a:tcPr marL="91440" marR="91440">
                    <a:solidFill>
                      <a:srgbClr val="FCFCFB"/>
                    </a:solidFill>
                  </a:tcPr>
                </a:tc>
                <a:tc>
                  <a:txBody>
                    <a:bodyPr wrap="square"/>
                    <a:lstStyle/>
                    <a:p>
                      <a:pPr algn="l"/>
                      <a:r>
                        <a:rPr sz="1150" b="0" i="0">
                          <a:solidFill>
                            <a:srgbClr val="52514E"/>
                          </a:solidFill>
                          <a:latin typeface="Helvetica Neue"/>
                        </a:rPr>
                        <a:t>Corn / US</a:t>
                      </a:r>
                    </a:p>
                  </a:txBody>
                  <a:tcPr marL="91440" marR="91440">
                    <a:solidFill>
                      <a:srgbClr val="FCFCFB"/>
                    </a:solidFill>
                  </a:tcPr>
                </a:tc>
                <a:tc>
                  <a:txBody>
                    <a:bodyPr wrap="square"/>
                    <a:lstStyle/>
                    <a:p>
                      <a:pPr algn="l"/>
                      <a:r>
                        <a:rPr sz="1150" b="0" i="0">
                          <a:solidFill>
                            <a:srgbClr val="52514E"/>
                          </a:solidFill>
                          <a:latin typeface="Helvetica Neue"/>
                        </a:rPr>
                        <a:t>Crop model + ML</a:t>
                      </a:r>
                    </a:p>
                  </a:txBody>
                  <a:tcPr marL="91440" marR="91440">
                    <a:solidFill>
                      <a:srgbClr val="FCFCFB"/>
                    </a:solidFill>
                  </a:tcPr>
                </a:tc>
                <a:tc>
                  <a:txBody>
                    <a:bodyPr wrap="square"/>
                    <a:lstStyle/>
                    <a:p>
                      <a:pPr algn="l"/>
                      <a:r>
                        <a:rPr sz="1150" b="0" i="0">
                          <a:solidFill>
                            <a:srgbClr val="52514E"/>
                          </a:solidFill>
                          <a:latin typeface="Helvetica Neue"/>
                        </a:rPr>
                        <a:t>Needs a full APSIM-class simulator</a:t>
                      </a:r>
                    </a:p>
                  </a:txBody>
                  <a:tcPr marL="91440" marR="91440">
                    <a:solidFill>
                      <a:srgbClr val="FCFCFB"/>
                    </a:solidFill>
                  </a:tcPr>
                </a:tc>
              </a:tr>
              <a:tr h="384048">
                <a:tc>
                  <a:txBody>
                    <a:bodyPr wrap="square"/>
                    <a:lstStyle/>
                    <a:p>
                      <a:pPr algn="l"/>
                      <a:r>
                        <a:rPr sz="1150" b="0" i="0">
                          <a:solidFill>
                            <a:srgbClr val="52514E"/>
                          </a:solidFill>
                          <a:latin typeface="Helvetica Neue"/>
                        </a:rPr>
                        <a:t>Amarasinghe et al. (2024)</a:t>
                      </a:r>
                    </a:p>
                  </a:txBody>
                  <a:tcPr marL="91440" marR="91440">
                    <a:solidFill>
                      <a:srgbClr val="F7F6F4"/>
                    </a:solidFill>
                  </a:tcPr>
                </a:tc>
                <a:tc>
                  <a:txBody>
                    <a:bodyPr wrap="square"/>
                    <a:lstStyle/>
                    <a:p>
                      <a:pPr algn="l"/>
                      <a:r>
                        <a:rPr sz="1150" b="0" i="0">
                          <a:solidFill>
                            <a:srgbClr val="52514E"/>
                          </a:solidFill>
                          <a:latin typeface="Helvetica Neue"/>
                        </a:rPr>
                        <a:t>Rice / Sri Lanka</a:t>
                      </a:r>
                    </a:p>
                  </a:txBody>
                  <a:tcPr marL="91440" marR="91440">
                    <a:solidFill>
                      <a:srgbClr val="F7F6F4"/>
                    </a:solidFill>
                  </a:tcPr>
                </a:tc>
                <a:tc>
                  <a:txBody>
                    <a:bodyPr wrap="square"/>
                    <a:lstStyle/>
                    <a:p>
                      <a:pPr algn="l"/>
                      <a:r>
                        <a:rPr sz="1150" b="0" i="0">
                          <a:solidFill>
                            <a:srgbClr val="52514E"/>
                          </a:solidFill>
                          <a:latin typeface="Helvetica Neue"/>
                        </a:rPr>
                        <a:t>Feature-engineered ML</a:t>
                      </a:r>
                    </a:p>
                  </a:txBody>
                  <a:tcPr marL="91440" marR="91440">
                    <a:solidFill>
                      <a:srgbClr val="F7F6F4"/>
                    </a:solidFill>
                  </a:tcPr>
                </a:tc>
                <a:tc>
                  <a:txBody>
                    <a:bodyPr wrap="square"/>
                    <a:lstStyle/>
                    <a:p>
                      <a:pPr algn="l"/>
                      <a:r>
                        <a:rPr sz="1150" b="0" i="0">
                          <a:solidFill>
                            <a:srgbClr val="52514E"/>
                          </a:solidFill>
                          <a:latin typeface="Helvetica Neue"/>
                        </a:rPr>
                        <a:t>Paddy has crop-cutting surveys</a:t>
                      </a:r>
                    </a:p>
                  </a:txBody>
                  <a:tcPr marL="91440" marR="91440">
                    <a:solidFill>
                      <a:srgbClr val="F7F6F4"/>
                    </a:solidFill>
                  </a:tcPr>
                </a:tc>
              </a:tr>
              <a:tr h="384048">
                <a:tc>
                  <a:txBody>
                    <a:bodyPr wrap="square"/>
                    <a:lstStyle/>
                    <a:p>
                      <a:pPr algn="l"/>
                      <a:r>
                        <a:rPr sz="1150" b="0" i="0">
                          <a:solidFill>
                            <a:srgbClr val="52514E"/>
                          </a:solidFill>
                          <a:latin typeface="Helvetica Neue"/>
                        </a:rPr>
                        <a:t>Iqbal et al. (2023)</a:t>
                      </a:r>
                    </a:p>
                  </a:txBody>
                  <a:tcPr marL="91440" marR="91440">
                    <a:solidFill>
                      <a:srgbClr val="FCFCFB"/>
                    </a:solidFill>
                  </a:tcPr>
                </a:tc>
                <a:tc>
                  <a:txBody>
                    <a:bodyPr wrap="square"/>
                    <a:lstStyle/>
                    <a:p>
                      <a:pPr algn="l"/>
                      <a:r>
                        <a:rPr sz="1150" b="0" i="0">
                          <a:solidFill>
                            <a:srgbClr val="52514E"/>
                          </a:solidFill>
                          <a:latin typeface="Helvetica Neue"/>
                        </a:rPr>
                        <a:t>Onion / Bangladesh</a:t>
                      </a:r>
                    </a:p>
                  </a:txBody>
                  <a:tcPr marL="91440" marR="91440">
                    <a:solidFill>
                      <a:srgbClr val="FCFCFB"/>
                    </a:solidFill>
                  </a:tcPr>
                </a:tc>
                <a:tc>
                  <a:txBody>
                    <a:bodyPr wrap="square"/>
                    <a:lstStyle/>
                    <a:p>
                      <a:pPr algn="l"/>
                      <a:r>
                        <a:rPr sz="1150" b="0" i="0">
                          <a:solidFill>
                            <a:srgbClr val="52514E"/>
                          </a:solidFill>
                          <a:latin typeface="Helvetica Neue"/>
                        </a:rPr>
                        <a:t>Supervised ML</a:t>
                      </a:r>
                    </a:p>
                  </a:txBody>
                  <a:tcPr marL="91440" marR="91440">
                    <a:solidFill>
                      <a:srgbClr val="FCFCFB"/>
                    </a:solidFill>
                  </a:tcPr>
                </a:tc>
                <a:tc>
                  <a:txBody>
                    <a:bodyPr wrap="square"/>
                    <a:lstStyle/>
                    <a:p>
                      <a:pPr algn="l"/>
                      <a:r>
                        <a:rPr sz="1150" b="0" i="0">
                          <a:solidFill>
                            <a:srgbClr val="52514E"/>
                          </a:solidFill>
                          <a:latin typeface="Helvetica Neue"/>
                        </a:rPr>
                        <a:t>Climate only; no satellite, no seasons</a:t>
                      </a:r>
                    </a:p>
                  </a:txBody>
                  <a:tcPr marL="91440" marR="91440">
                    <a:solidFill>
                      <a:srgbClr val="FCFCFB"/>
                    </a:solidFill>
                  </a:tcPr>
                </a:tc>
              </a:tr>
              <a:tr h="384048">
                <a:tc>
                  <a:txBody>
                    <a:bodyPr wrap="square"/>
                    <a:lstStyle/>
                    <a:p>
                      <a:pPr algn="l"/>
                      <a:r>
                        <a:rPr sz="1150" b="0" i="0">
                          <a:solidFill>
                            <a:srgbClr val="52514E"/>
                          </a:solidFill>
                          <a:latin typeface="Helvetica Neue"/>
                        </a:rPr>
                        <a:t>Sutharsan &amp; Yogendran (2023)</a:t>
                      </a:r>
                    </a:p>
                  </a:txBody>
                  <a:tcPr marL="91440" marR="91440">
                    <a:solidFill>
                      <a:srgbClr val="F7F6F4"/>
                    </a:solidFill>
                  </a:tcPr>
                </a:tc>
                <a:tc>
                  <a:txBody>
                    <a:bodyPr wrap="square"/>
                    <a:lstStyle/>
                    <a:p>
                      <a:pPr algn="l"/>
                      <a:r>
                        <a:rPr sz="1150" b="0" i="0">
                          <a:solidFill>
                            <a:srgbClr val="52514E"/>
                          </a:solidFill>
                          <a:latin typeface="Helvetica Neue"/>
                        </a:rPr>
                        <a:t>Red onion / Sri Lanka</a:t>
                      </a:r>
                    </a:p>
                  </a:txBody>
                  <a:tcPr marL="91440" marR="91440">
                    <a:solidFill>
                      <a:srgbClr val="F7F6F4"/>
                    </a:solidFill>
                  </a:tcPr>
                </a:tc>
                <a:tc>
                  <a:txBody>
                    <a:bodyPr wrap="square"/>
                    <a:lstStyle/>
                    <a:p>
                      <a:pPr algn="l"/>
                      <a:r>
                        <a:rPr sz="1150" b="0" i="0">
                          <a:solidFill>
                            <a:srgbClr val="52514E"/>
                          </a:solidFill>
                          <a:latin typeface="Helvetica Neue"/>
                        </a:rPr>
                        <a:t>Multiple regressors</a:t>
                      </a:r>
                    </a:p>
                  </a:txBody>
                  <a:tcPr marL="91440" marR="91440">
                    <a:solidFill>
                      <a:srgbClr val="F7F6F4"/>
                    </a:solidFill>
                  </a:tcPr>
                </a:tc>
                <a:tc>
                  <a:txBody>
                    <a:bodyPr wrap="square"/>
                    <a:lstStyle/>
                    <a:p>
                      <a:pPr algn="l"/>
                      <a:r>
                        <a:rPr sz="1150" b="0" i="0">
                          <a:solidFill>
                            <a:srgbClr val="52514E"/>
                          </a:solidFill>
                          <a:latin typeface="Helvetica Neue"/>
                        </a:rPr>
                        <a:t>Predicts price, not yield</a:t>
                      </a:r>
                    </a:p>
                  </a:txBody>
                  <a:tcPr marL="91440" marR="91440">
                    <a:solidFill>
                      <a:srgbClr val="F7F6F4"/>
                    </a:solidFill>
                  </a:tcPr>
                </a:tc>
              </a:tr>
            </a:tbl>
          </a:graphicData>
        </a:graphic>
      </p:graphicFrame>
      <p:sp>
        <p:nvSpPr>
          <p:cNvPr id="6" name="Rectangle 5"/>
          <p:cNvSpPr/>
          <p:nvPr/>
        </p:nvSpPr>
        <p:spPr>
          <a:xfrm>
            <a:off x="777240" y="5623560"/>
            <a:ext cx="10637215" cy="731520"/>
          </a:xfrm>
          <a:prstGeom prst="rect">
            <a:avLst/>
          </a:prstGeom>
          <a:solidFill>
            <a:srgbClr val="F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5623560"/>
            <a:ext cx="54864" cy="7315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88575" cy="731520"/>
          </a:xfrm>
          <a:prstGeom prst="rect">
            <a:avLst/>
          </a:prstGeom>
          <a:noFill/>
        </p:spPr>
        <p:txBody>
          <a:bodyPr wrap="square" anchor="ctr" lIns="0" rIns="0" tIns="0" bIns="0">
            <a:spAutoFit/>
          </a:bodyPr>
          <a:lstStyle/>
          <a:p>
            <a:pPr algn="l">
              <a:spcBef>
                <a:spcPts val="0"/>
              </a:spcBef>
              <a:spcAft>
                <a:spcPts val="600"/>
              </a:spcAft>
            </a:pPr>
            <a:r>
              <a:rPr sz="1500" b="1" i="0">
                <a:solidFill>
                  <a:srgbClr val="0D366B"/>
                </a:solidFill>
                <a:latin typeface="Helvetica Neue"/>
              </a:rPr>
              <a:t>No published work predicts big onion yield for Sri Lankan districts.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RELATED WORK</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Five gaps we target</a:t>
            </a:r>
          </a:p>
        </p:txBody>
      </p:sp>
      <p:sp>
        <p:nvSpPr>
          <p:cNvPr id="5" name="TextBox 4"/>
          <p:cNvSpPr txBox="1"/>
          <p:nvPr/>
        </p:nvSpPr>
        <p:spPr>
          <a:xfrm>
            <a:off x="777240" y="1691640"/>
            <a:ext cx="10637215" cy="3749040"/>
          </a:xfrm>
          <a:prstGeom prst="rect">
            <a:avLst/>
          </a:prstGeom>
          <a:noFill/>
        </p:spPr>
        <p:txBody>
          <a:bodyPr wrap="square" anchor="t" lIns="0" rIns="0" tIns="0" bIns="0">
            <a:spAutoFit/>
          </a:bodyPr>
          <a:lstStyle/>
          <a:p>
            <a:pPr algn="l">
              <a:lnSpc>
                <a:spcPct val="122000"/>
              </a:lnSpc>
              <a:spcBef>
                <a:spcPts val="0"/>
              </a:spcBef>
              <a:spcAft>
                <a:spcPts val="200"/>
              </a:spcAft>
            </a:pPr>
            <a:r>
              <a:rPr sz="1700" b="1" i="0">
                <a:solidFill>
                  <a:srgbClr val="EB6834"/>
                </a:solidFill>
                <a:latin typeface="Helvetica Neue"/>
              </a:rPr>
              <a:t>▸  </a:t>
            </a:r>
            <a:r>
              <a:rPr sz="1700" b="1" i="0">
                <a:solidFill>
                  <a:srgbClr val="0B0B0B"/>
                </a:solidFill>
                <a:latin typeface="Helvetica Neue"/>
              </a:rPr>
              <a:t>Gap 1  </a:t>
            </a:r>
            <a:r>
              <a:rPr sz="1700" b="0" i="0">
                <a:solidFill>
                  <a:srgbClr val="52514E"/>
                </a:solidFill>
                <a:latin typeface="Helvetica Neue"/>
              </a:rPr>
              <a:t>no big onion yield prediction system exists for Sri Lanka</a:t>
            </a:r>
          </a:p>
          <a:p>
            <a:pPr algn="l">
              <a:lnSpc>
                <a:spcPct val="122000"/>
              </a:lnSpc>
              <a:spcBef>
                <a:spcPts val="1100"/>
              </a:spcBef>
              <a:spcAft>
                <a:spcPts val="200"/>
              </a:spcAft>
            </a:pPr>
            <a:r>
              <a:rPr sz="1700" b="1" i="0">
                <a:solidFill>
                  <a:srgbClr val="EB6834"/>
                </a:solidFill>
                <a:latin typeface="Helvetica Neue"/>
              </a:rPr>
              <a:t>▸  </a:t>
            </a:r>
            <a:r>
              <a:rPr sz="1700" b="1" i="0">
                <a:solidFill>
                  <a:srgbClr val="0B0B0B"/>
                </a:solidFill>
                <a:latin typeface="Helvetica Neue"/>
              </a:rPr>
              <a:t>Gap 2  </a:t>
            </a:r>
            <a:r>
              <a:rPr sz="1700" b="0" i="0">
                <a:solidFill>
                  <a:srgbClr val="52514E"/>
                </a:solidFill>
                <a:latin typeface="Helvetica Neue"/>
              </a:rPr>
              <a:t>no guidance on model choice under severe data scarcity for vegetables</a:t>
            </a:r>
          </a:p>
          <a:p>
            <a:pPr algn="l">
              <a:lnSpc>
                <a:spcPct val="122000"/>
              </a:lnSpc>
              <a:spcBef>
                <a:spcPts val="1100"/>
              </a:spcBef>
              <a:spcAft>
                <a:spcPts val="200"/>
              </a:spcAft>
            </a:pPr>
            <a:r>
              <a:rPr sz="1700" b="1" i="0">
                <a:solidFill>
                  <a:srgbClr val="EB6834"/>
                </a:solidFill>
                <a:latin typeface="Helvetica Neue"/>
              </a:rPr>
              <a:t>▸  </a:t>
            </a:r>
            <a:r>
              <a:rPr sz="1700" b="1" i="0">
                <a:solidFill>
                  <a:srgbClr val="0B0B0B"/>
                </a:solidFill>
                <a:latin typeface="Helvetica Neue"/>
              </a:rPr>
              <a:t>Gap 3  </a:t>
            </a:r>
            <a:r>
              <a:rPr sz="1700" b="0" i="0">
                <a:solidFill>
                  <a:srgbClr val="52514E"/>
                </a:solidFill>
                <a:latin typeface="Helvetica Neue"/>
              </a:rPr>
              <a:t>mechanistic and learned components are rarely combined at this scale</a:t>
            </a:r>
          </a:p>
          <a:p>
            <a:pPr algn="l">
              <a:lnSpc>
                <a:spcPct val="122000"/>
              </a:lnSpc>
              <a:spcBef>
                <a:spcPts val="1100"/>
              </a:spcBef>
              <a:spcAft>
                <a:spcPts val="200"/>
              </a:spcAft>
            </a:pPr>
            <a:r>
              <a:rPr sz="1700" b="1" i="0">
                <a:solidFill>
                  <a:srgbClr val="EB6834"/>
                </a:solidFill>
                <a:latin typeface="Helvetica Neue"/>
              </a:rPr>
              <a:t>▸  </a:t>
            </a:r>
            <a:r>
              <a:rPr sz="1700" b="1" i="0">
                <a:solidFill>
                  <a:srgbClr val="0B0B0B"/>
                </a:solidFill>
                <a:latin typeface="Helvetica Neue"/>
              </a:rPr>
              <a:t>Gap 4  </a:t>
            </a:r>
            <a:r>
              <a:rPr sz="1700" b="0" i="0">
                <a:solidFill>
                  <a:srgbClr val="52514E"/>
                </a:solidFill>
                <a:latin typeface="Helvetica Neue"/>
              </a:rPr>
              <a:t>bimodal Yala/Maha seasonality is not represented architecturally</a:t>
            </a:r>
          </a:p>
          <a:p>
            <a:pPr algn="l">
              <a:lnSpc>
                <a:spcPct val="122000"/>
              </a:lnSpc>
              <a:spcBef>
                <a:spcPts val="1100"/>
              </a:spcBef>
              <a:spcAft>
                <a:spcPts val="200"/>
              </a:spcAft>
            </a:pPr>
            <a:r>
              <a:rPr sz="1700" b="1" i="0">
                <a:solidFill>
                  <a:srgbClr val="EB6834"/>
                </a:solidFill>
                <a:latin typeface="Helvetica Neue"/>
              </a:rPr>
              <a:t>▸  </a:t>
            </a:r>
            <a:r>
              <a:rPr sz="1700" b="1" i="0">
                <a:solidFill>
                  <a:srgbClr val="0B0B0B"/>
                </a:solidFill>
                <a:latin typeface="Helvetica Neue"/>
              </a:rPr>
              <a:t>Gap 5  </a:t>
            </a:r>
            <a:r>
              <a:rPr sz="1700" b="0" i="0">
                <a:solidFill>
                  <a:srgbClr val="52514E"/>
                </a:solidFill>
                <a:latin typeface="Helvetica Neue"/>
              </a:rPr>
              <a:t>no decomposition of which data source is worth paying for</a:t>
            </a:r>
          </a:p>
        </p:txBody>
      </p:sp>
      <p:sp>
        <p:nvSpPr>
          <p:cNvPr id="6" name="Rectangle 5"/>
          <p:cNvSpPr/>
          <p:nvPr/>
        </p:nvSpPr>
        <p:spPr>
          <a:xfrm>
            <a:off x="777240" y="5623560"/>
            <a:ext cx="10637215" cy="731520"/>
          </a:xfrm>
          <a:prstGeom prst="rect">
            <a:avLst/>
          </a:prstGeom>
          <a:solidFill>
            <a:srgbClr val="F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5623560"/>
            <a:ext cx="54864" cy="7315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88575" cy="731520"/>
          </a:xfrm>
          <a:prstGeom prst="rect">
            <a:avLst/>
          </a:prstGeom>
          <a:noFill/>
        </p:spPr>
        <p:txBody>
          <a:bodyPr wrap="square" anchor="ctr" lIns="0" rIns="0" tIns="0" bIns="0">
            <a:spAutoFit/>
          </a:bodyPr>
          <a:lstStyle/>
          <a:p>
            <a:pPr algn="l">
              <a:spcBef>
                <a:spcPts val="0"/>
              </a:spcBef>
              <a:spcAft>
                <a:spcPts val="600"/>
              </a:spcAft>
            </a:pPr>
            <a:r>
              <a:rPr sz="1500" b="1" i="0">
                <a:solidFill>
                  <a:srgbClr val="0D366B"/>
                </a:solidFill>
                <a:latin typeface="Helvetica Neue"/>
              </a:rPr>
              <a:t>Each gap maps to one contribution in this project — we return to this map at the end.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264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1560" y="2377440"/>
            <a:ext cx="9601200" cy="457200"/>
          </a:xfrm>
          <a:prstGeom prst="rect">
            <a:avLst/>
          </a:prstGeom>
          <a:noFill/>
        </p:spPr>
        <p:txBody>
          <a:bodyPr wrap="square" anchor="t" lIns="0" rIns="0" tIns="0" bIns="0">
            <a:spAutoFit/>
          </a:bodyPr>
          <a:lstStyle/>
          <a:p>
            <a:pPr algn="l">
              <a:spcBef>
                <a:spcPts val="0"/>
              </a:spcBef>
              <a:spcAft>
                <a:spcPts val="600"/>
              </a:spcAft>
            </a:pPr>
            <a:r>
              <a:rPr sz="1600" b="1" i="0">
                <a:solidFill>
                  <a:srgbClr val="EB6834"/>
                </a:solidFill>
                <a:latin typeface="Helvetica Neue"/>
              </a:rPr>
              <a:t>02</a:t>
            </a:r>
          </a:p>
        </p:txBody>
      </p:sp>
      <p:sp>
        <p:nvSpPr>
          <p:cNvPr id="4" name="TextBox 3"/>
          <p:cNvSpPr txBox="1"/>
          <p:nvPr/>
        </p:nvSpPr>
        <p:spPr>
          <a:xfrm>
            <a:off x="1051560" y="2834640"/>
            <a:ext cx="9601200" cy="914400"/>
          </a:xfrm>
          <a:prstGeom prst="rect">
            <a:avLst/>
          </a:prstGeom>
          <a:noFill/>
        </p:spPr>
        <p:txBody>
          <a:bodyPr wrap="square" anchor="t" lIns="0" rIns="0" tIns="0" bIns="0">
            <a:spAutoFit/>
          </a:bodyPr>
          <a:lstStyle/>
          <a:p>
            <a:pPr algn="l">
              <a:spcBef>
                <a:spcPts val="0"/>
              </a:spcBef>
              <a:spcAft>
                <a:spcPts val="600"/>
              </a:spcAft>
            </a:pPr>
            <a:r>
              <a:rPr sz="3600" b="1" i="0">
                <a:solidFill>
                  <a:srgbClr val="FFFFFF"/>
                </a:solidFill>
                <a:latin typeface="Helvetica Neue"/>
              </a:rPr>
              <a:t>Our approach</a:t>
            </a:r>
          </a:p>
        </p:txBody>
      </p:sp>
      <p:sp>
        <p:nvSpPr>
          <p:cNvPr id="5" name="TextBox 4"/>
          <p:cNvSpPr txBox="1"/>
          <p:nvPr/>
        </p:nvSpPr>
        <p:spPr>
          <a:xfrm>
            <a:off x="1051560" y="3886200"/>
            <a:ext cx="8686800" cy="914400"/>
          </a:xfrm>
          <a:prstGeom prst="rect">
            <a:avLst/>
          </a:prstGeom>
          <a:noFill/>
        </p:spPr>
        <p:txBody>
          <a:bodyPr wrap="square" anchor="t" lIns="0" rIns="0" tIns="0" bIns="0">
            <a:spAutoFit/>
          </a:bodyPr>
          <a:lstStyle/>
          <a:p>
            <a:pPr algn="l">
              <a:lnSpc>
                <a:spcPct val="130000"/>
              </a:lnSpc>
              <a:spcBef>
                <a:spcPts val="0"/>
              </a:spcBef>
              <a:spcAft>
                <a:spcPts val="600"/>
              </a:spcAft>
            </a:pPr>
            <a:r>
              <a:rPr sz="1700" b="0" i="0">
                <a:solidFill>
                  <a:srgbClr val="CDE2FB"/>
                </a:solidFill>
                <a:latin typeface="Helvetica Neue"/>
              </a:rPr>
              <a:t>Four data streams reduced to one grain, 37,988 real daily weather records, and an evaluation protocol built to not flatter 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OUR APPROACH</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Top-level system architecture</a:t>
            </a:r>
          </a:p>
        </p:txBody>
      </p:sp>
      <p:pic>
        <p:nvPicPr>
          <p:cNvPr id="5" name="Picture 4" descr="figure_4_1_system_architecture.png"/>
          <p:cNvPicPr>
            <a:picLocks noChangeAspect="1"/>
          </p:cNvPicPr>
          <p:nvPr/>
        </p:nvPicPr>
        <p:blipFill>
          <a:blip r:embed="rId2"/>
          <a:stretch>
            <a:fillRect/>
          </a:stretch>
        </p:blipFill>
        <p:spPr>
          <a:xfrm>
            <a:off x="2706630" y="1783080"/>
            <a:ext cx="6778434" cy="4343400"/>
          </a:xfrm>
          <a:prstGeom prst="rect">
            <a:avLst/>
          </a:prstGeom>
        </p:spPr>
      </p:pic>
      <p:sp>
        <p:nvSpPr>
          <p:cNvPr id="6" name="TextBox 5"/>
          <p:cNvSpPr txBox="1"/>
          <p:nvPr/>
        </p:nvSpPr>
        <p:spPr>
          <a:xfrm>
            <a:off x="777240" y="6272784"/>
            <a:ext cx="10637215" cy="457200"/>
          </a:xfrm>
          <a:prstGeom prst="rect">
            <a:avLst/>
          </a:prstGeom>
          <a:noFill/>
        </p:spPr>
        <p:txBody>
          <a:bodyPr wrap="square" anchor="t" lIns="0" rIns="0" tIns="0" bIns="0">
            <a:spAutoFit/>
          </a:bodyPr>
          <a:lstStyle/>
          <a:p>
            <a:pPr algn="l">
              <a:spcBef>
                <a:spcPts val="0"/>
              </a:spcBef>
              <a:spcAft>
                <a:spcPts val="600"/>
              </a:spcAft>
            </a:pPr>
            <a:r>
              <a:rPr sz="1300" b="0" i="0">
                <a:solidFill>
                  <a:srgbClr val="8A8983"/>
                </a:solidFill>
                <a:latin typeface="Helvetica Neue"/>
              </a:rPr>
              <a:t>Data integration → modelling and evaluation → REST serving → dashboard. Modules are separated by file and HTTP interfaces.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OUR APPROACH</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Four data streams, one grain</a:t>
            </a:r>
          </a:p>
        </p:txBody>
      </p:sp>
      <p:graphicFrame>
        <p:nvGraphicFramePr>
          <p:cNvPr id="5" name="Table 4"/>
          <p:cNvGraphicFramePr>
            <a:graphicFrameLocks noGrp="1"/>
          </p:cNvGraphicFramePr>
          <p:nvPr/>
        </p:nvGraphicFramePr>
        <p:xfrm>
          <a:off x="777240" y="1920240"/>
          <a:ext cx="10637213" cy="2304288"/>
        </p:xfrm>
        <a:graphic>
          <a:graphicData uri="http://schemas.openxmlformats.org/drawingml/2006/table">
            <a:tbl>
              <a:tblPr firstRow="1" bandRow="1">
                <a:tableStyleId>{5C22544A-7EE6-4342-B048-85BDC9FD1C3A}</a:tableStyleId>
              </a:tblPr>
              <a:tblGrid>
                <a:gridCol w="2015472"/>
                <a:gridCol w="2911237"/>
                <a:gridCol w="2239413"/>
                <a:gridCol w="3471091"/>
              </a:tblGrid>
              <a:tr h="384048">
                <a:tc>
                  <a:txBody>
                    <a:bodyPr wrap="square"/>
                    <a:lstStyle/>
                    <a:p>
                      <a:pPr algn="l"/>
                      <a:r>
                        <a:rPr sz="1200" b="1" i="0">
                          <a:solidFill>
                            <a:srgbClr val="FFFFFF"/>
                          </a:solidFill>
                          <a:latin typeface="Helvetica Neue"/>
                        </a:rPr>
                        <a:t>Stream</a:t>
                      </a:r>
                    </a:p>
                  </a:txBody>
                  <a:tcPr marL="91440" marR="91440">
                    <a:solidFill>
                      <a:srgbClr val="0D366B"/>
                    </a:solidFill>
                  </a:tcPr>
                </a:tc>
                <a:tc>
                  <a:txBody>
                    <a:bodyPr wrap="square"/>
                    <a:lstStyle/>
                    <a:p>
                      <a:pPr algn="l"/>
                      <a:r>
                        <a:rPr sz="1200" b="1" i="0">
                          <a:solidFill>
                            <a:srgbClr val="FFFFFF"/>
                          </a:solidFill>
                          <a:latin typeface="Helvetica Neue"/>
                        </a:rPr>
                        <a:t>Source</a:t>
                      </a:r>
                    </a:p>
                  </a:txBody>
                  <a:tcPr marL="91440" marR="91440">
                    <a:solidFill>
                      <a:srgbClr val="0D366B"/>
                    </a:solidFill>
                  </a:tcPr>
                </a:tc>
                <a:tc>
                  <a:txBody>
                    <a:bodyPr wrap="square"/>
                    <a:lstStyle/>
                    <a:p>
                      <a:pPr algn="l"/>
                      <a:r>
                        <a:rPr sz="1200" b="1" i="0">
                          <a:solidFill>
                            <a:srgbClr val="FFFFFF"/>
                          </a:solidFill>
                          <a:latin typeface="Helvetica Neue"/>
                        </a:rPr>
                        <a:t>Native grain</a:t>
                      </a:r>
                    </a:p>
                  </a:txBody>
                  <a:tcPr marL="91440" marR="91440">
                    <a:solidFill>
                      <a:srgbClr val="0D366B"/>
                    </a:solidFill>
                  </a:tcPr>
                </a:tc>
                <a:tc>
                  <a:txBody>
                    <a:bodyPr wrap="square"/>
                    <a:lstStyle/>
                    <a:p>
                      <a:pPr algn="l"/>
                      <a:r>
                        <a:rPr sz="1200" b="1" i="0">
                          <a:solidFill>
                            <a:srgbClr val="FFFFFF"/>
                          </a:solidFill>
                          <a:latin typeface="Helvetica Neue"/>
                        </a:rPr>
                        <a:t>Role</a:t>
                      </a:r>
                    </a:p>
                  </a:txBody>
                  <a:tcPr marL="91440" marR="91440">
                    <a:solidFill>
                      <a:srgbClr val="0D366B"/>
                    </a:solidFill>
                  </a:tcPr>
                </a:tc>
              </a:tr>
              <a:tr h="384048">
                <a:tc>
                  <a:txBody>
                    <a:bodyPr wrap="square"/>
                    <a:lstStyle/>
                    <a:p>
                      <a:pPr algn="l"/>
                      <a:r>
                        <a:rPr sz="1150" b="0" i="0">
                          <a:solidFill>
                            <a:srgbClr val="52514E"/>
                          </a:solidFill>
                          <a:latin typeface="Helvetica Neue"/>
                        </a:rPr>
                        <a:t>District yield</a:t>
                      </a:r>
                    </a:p>
                  </a:txBody>
                  <a:tcPr marL="91440" marR="91440">
                    <a:solidFill>
                      <a:srgbClr val="F7F6F4"/>
                    </a:solidFill>
                  </a:tcPr>
                </a:tc>
                <a:tc>
                  <a:txBody>
                    <a:bodyPr wrap="square"/>
                    <a:lstStyle/>
                    <a:p>
                      <a:pPr algn="l"/>
                      <a:r>
                        <a:rPr sz="1150" b="0" i="0">
                          <a:solidFill>
                            <a:srgbClr val="52514E"/>
                          </a:solidFill>
                          <a:latin typeface="Helvetica Neue"/>
                        </a:rPr>
                        <a:t>DCS Sri Lanka; FAOSTAT</a:t>
                      </a:r>
                    </a:p>
                  </a:txBody>
                  <a:tcPr marL="91440" marR="91440">
                    <a:solidFill>
                      <a:srgbClr val="F7F6F4"/>
                    </a:solidFill>
                  </a:tcPr>
                </a:tc>
                <a:tc>
                  <a:txBody>
                    <a:bodyPr wrap="square"/>
                    <a:lstStyle/>
                    <a:p>
                      <a:pPr algn="l"/>
                      <a:r>
                        <a:rPr sz="1150" b="0" i="0">
                          <a:solidFill>
                            <a:srgbClr val="52514E"/>
                          </a:solidFill>
                          <a:latin typeface="Helvetica Neue"/>
                        </a:rPr>
                        <a:t>District · season · year</a:t>
                      </a:r>
                    </a:p>
                  </a:txBody>
                  <a:tcPr marL="91440" marR="91440">
                    <a:solidFill>
                      <a:srgbClr val="F7F6F4"/>
                    </a:solidFill>
                  </a:tcPr>
                </a:tc>
                <a:tc>
                  <a:txBody>
                    <a:bodyPr wrap="square"/>
                    <a:lstStyle/>
                    <a:p>
                      <a:pPr algn="l"/>
                      <a:r>
                        <a:rPr sz="1150" b="0" i="0">
                          <a:solidFill>
                            <a:srgbClr val="52514E"/>
                          </a:solidFill>
                          <a:latin typeface="Helvetica Neue"/>
                        </a:rPr>
                        <a:t>Target and yield-history predictors</a:t>
                      </a:r>
                    </a:p>
                  </a:txBody>
                  <a:tcPr marL="91440" marR="91440">
                    <a:solidFill>
                      <a:srgbClr val="F7F6F4"/>
                    </a:solidFill>
                  </a:tcPr>
                </a:tc>
              </a:tr>
              <a:tr h="384048">
                <a:tc>
                  <a:txBody>
                    <a:bodyPr wrap="square"/>
                    <a:lstStyle/>
                    <a:p>
                      <a:pPr algn="l"/>
                      <a:r>
                        <a:rPr sz="1150" b="0" i="0">
                          <a:solidFill>
                            <a:srgbClr val="52514E"/>
                          </a:solidFill>
                          <a:latin typeface="Helvetica Neue"/>
                        </a:rPr>
                        <a:t>Daily weather</a:t>
                      </a:r>
                    </a:p>
                  </a:txBody>
                  <a:tcPr marL="91440" marR="91440">
                    <a:solidFill>
                      <a:srgbClr val="FCFCFB"/>
                    </a:solidFill>
                  </a:tcPr>
                </a:tc>
                <a:tc>
                  <a:txBody>
                    <a:bodyPr wrap="square"/>
                    <a:lstStyle/>
                    <a:p>
                      <a:pPr algn="l"/>
                      <a:r>
                        <a:rPr sz="1150" b="0" i="0">
                          <a:solidFill>
                            <a:srgbClr val="52514E"/>
                          </a:solidFill>
                          <a:latin typeface="Helvetica Neue"/>
                        </a:rPr>
                        <a:t>NASA POWER; CHIRPS</a:t>
                      </a:r>
                    </a:p>
                  </a:txBody>
                  <a:tcPr marL="91440" marR="91440">
                    <a:solidFill>
                      <a:srgbClr val="FCFCFB"/>
                    </a:solidFill>
                  </a:tcPr>
                </a:tc>
                <a:tc>
                  <a:txBody>
                    <a:bodyPr wrap="square"/>
                    <a:lstStyle/>
                    <a:p>
                      <a:pPr algn="l"/>
                      <a:r>
                        <a:rPr sz="1150" b="0" i="0">
                          <a:solidFill>
                            <a:srgbClr val="52514E"/>
                          </a:solidFill>
                          <a:latin typeface="Helvetica Neue"/>
                        </a:rPr>
                        <a:t>Daily</a:t>
                      </a:r>
                    </a:p>
                  </a:txBody>
                  <a:tcPr marL="91440" marR="91440">
                    <a:solidFill>
                      <a:srgbClr val="FCFCFB"/>
                    </a:solidFill>
                  </a:tcPr>
                </a:tc>
                <a:tc>
                  <a:txBody>
                    <a:bodyPr wrap="square"/>
                    <a:lstStyle/>
                    <a:p>
                      <a:pPr algn="l"/>
                      <a:r>
                        <a:rPr sz="1150" b="0" i="0">
                          <a:solidFill>
                            <a:srgbClr val="52514E"/>
                          </a:solidFill>
                          <a:latin typeface="Helvetica Neue"/>
                        </a:rPr>
                        <a:t>Temperature, rainfall, humidity, radiation</a:t>
                      </a:r>
                    </a:p>
                  </a:txBody>
                  <a:tcPr marL="91440" marR="91440">
                    <a:solidFill>
                      <a:srgbClr val="FCFCFB"/>
                    </a:solidFill>
                  </a:tcPr>
                </a:tc>
              </a:tr>
              <a:tr h="384048">
                <a:tc>
                  <a:txBody>
                    <a:bodyPr wrap="square"/>
                    <a:lstStyle/>
                    <a:p>
                      <a:pPr algn="l"/>
                      <a:r>
                        <a:rPr sz="1150" b="0" i="0">
                          <a:solidFill>
                            <a:srgbClr val="52514E"/>
                          </a:solidFill>
                          <a:latin typeface="Helvetica Neue"/>
                        </a:rPr>
                        <a:t>Vegetation indices</a:t>
                      </a:r>
                    </a:p>
                  </a:txBody>
                  <a:tcPr marL="91440" marR="91440">
                    <a:solidFill>
                      <a:srgbClr val="F7F6F4"/>
                    </a:solidFill>
                  </a:tcPr>
                </a:tc>
                <a:tc>
                  <a:txBody>
                    <a:bodyPr wrap="square"/>
                    <a:lstStyle/>
                    <a:p>
                      <a:pPr algn="l"/>
                      <a:r>
                        <a:rPr sz="1150" b="0" i="0">
                          <a:solidFill>
                            <a:srgbClr val="52514E"/>
                          </a:solidFill>
                          <a:latin typeface="Helvetica Neue"/>
                        </a:rPr>
                        <a:t>MODIS, Sentinel-2 via Earth Engine</a:t>
                      </a:r>
                    </a:p>
                  </a:txBody>
                  <a:tcPr marL="91440" marR="91440">
                    <a:solidFill>
                      <a:srgbClr val="F7F6F4"/>
                    </a:solidFill>
                  </a:tcPr>
                </a:tc>
                <a:tc>
                  <a:txBody>
                    <a:bodyPr wrap="square"/>
                    <a:lstStyle/>
                    <a:p>
                      <a:pPr algn="l"/>
                      <a:r>
                        <a:rPr sz="1150" b="0" i="0">
                          <a:solidFill>
                            <a:srgbClr val="52514E"/>
                          </a:solidFill>
                          <a:latin typeface="Helvetica Neue"/>
                        </a:rPr>
                        <a:t>5–16 day composite</a:t>
                      </a:r>
                    </a:p>
                  </a:txBody>
                  <a:tcPr marL="91440" marR="91440">
                    <a:solidFill>
                      <a:srgbClr val="F7F6F4"/>
                    </a:solidFill>
                  </a:tcPr>
                </a:tc>
                <a:tc>
                  <a:txBody>
                    <a:bodyPr wrap="square"/>
                    <a:lstStyle/>
                    <a:p>
                      <a:pPr algn="l"/>
                      <a:r>
                        <a:rPr sz="1150" b="0" i="0">
                          <a:solidFill>
                            <a:srgbClr val="52514E"/>
                          </a:solidFill>
                          <a:latin typeface="Helvetica Neue"/>
                        </a:rPr>
                        <a:t>Canopy vigour, anomaly, growth rate</a:t>
                      </a:r>
                    </a:p>
                  </a:txBody>
                  <a:tcPr marL="91440" marR="91440">
                    <a:solidFill>
                      <a:srgbClr val="F7F6F4"/>
                    </a:solidFill>
                  </a:tcPr>
                </a:tc>
              </a:tr>
              <a:tr h="384048">
                <a:tc>
                  <a:txBody>
                    <a:bodyPr wrap="square"/>
                    <a:lstStyle/>
                    <a:p>
                      <a:pPr algn="l"/>
                      <a:r>
                        <a:rPr sz="1150" b="0" i="0">
                          <a:solidFill>
                            <a:srgbClr val="52514E"/>
                          </a:solidFill>
                          <a:latin typeface="Helvetica Neue"/>
                        </a:rPr>
                        <a:t>Land surface temp.</a:t>
                      </a:r>
                    </a:p>
                  </a:txBody>
                  <a:tcPr marL="91440" marR="91440">
                    <a:solidFill>
                      <a:srgbClr val="FCFCFB"/>
                    </a:solidFill>
                  </a:tcPr>
                </a:tc>
                <a:tc>
                  <a:txBody>
                    <a:bodyPr wrap="square"/>
                    <a:lstStyle/>
                    <a:p>
                      <a:pPr algn="l"/>
                      <a:r>
                        <a:rPr sz="1150" b="0" i="0">
                          <a:solidFill>
                            <a:srgbClr val="52514E"/>
                          </a:solidFill>
                          <a:latin typeface="Helvetica Neue"/>
                        </a:rPr>
                        <a:t>MODIS MOD11A1</a:t>
                      </a:r>
                    </a:p>
                  </a:txBody>
                  <a:tcPr marL="91440" marR="91440">
                    <a:solidFill>
                      <a:srgbClr val="FCFCFB"/>
                    </a:solidFill>
                  </a:tcPr>
                </a:tc>
                <a:tc>
                  <a:txBody>
                    <a:bodyPr wrap="square"/>
                    <a:lstStyle/>
                    <a:p>
                      <a:pPr algn="l"/>
                      <a:r>
                        <a:rPr sz="1150" b="0" i="0">
                          <a:solidFill>
                            <a:srgbClr val="52514E"/>
                          </a:solidFill>
                          <a:latin typeface="Helvetica Neue"/>
                        </a:rPr>
                        <a:t>Daily, 1 km</a:t>
                      </a:r>
                    </a:p>
                  </a:txBody>
                  <a:tcPr marL="91440" marR="91440">
                    <a:solidFill>
                      <a:srgbClr val="FCFCFB"/>
                    </a:solidFill>
                  </a:tcPr>
                </a:tc>
                <a:tc>
                  <a:txBody>
                    <a:bodyPr wrap="square"/>
                    <a:lstStyle/>
                    <a:p>
                      <a:pPr algn="l"/>
                      <a:r>
                        <a:rPr sz="1150" b="0" i="0">
                          <a:solidFill>
                            <a:srgbClr val="52514E"/>
                          </a:solidFill>
                          <a:latin typeface="Helvetica Neue"/>
                        </a:rPr>
                        <a:t>Day and night thermal regime</a:t>
                      </a:r>
                    </a:p>
                  </a:txBody>
                  <a:tcPr marL="91440" marR="91440">
                    <a:solidFill>
                      <a:srgbClr val="FCFCFB"/>
                    </a:solidFill>
                  </a:tcPr>
                </a:tc>
              </a:tr>
              <a:tr h="384048">
                <a:tc>
                  <a:txBody>
                    <a:bodyPr wrap="square"/>
                    <a:lstStyle/>
                    <a:p>
                      <a:pPr algn="l"/>
                      <a:r>
                        <a:rPr sz="1150" b="0" i="0">
                          <a:solidFill>
                            <a:srgbClr val="52514E"/>
                          </a:solidFill>
                          <a:latin typeface="Helvetica Neue"/>
                        </a:rPr>
                        <a:t>Soil properties</a:t>
                      </a:r>
                    </a:p>
                  </a:txBody>
                  <a:tcPr marL="91440" marR="91440">
                    <a:solidFill>
                      <a:srgbClr val="F7F6F4"/>
                    </a:solidFill>
                  </a:tcPr>
                </a:tc>
                <a:tc>
                  <a:txBody>
                    <a:bodyPr wrap="square"/>
                    <a:lstStyle/>
                    <a:p>
                      <a:pPr algn="l"/>
                      <a:r>
                        <a:rPr sz="1150" b="0" i="0">
                          <a:solidFill>
                            <a:srgbClr val="52514E"/>
                          </a:solidFill>
                          <a:latin typeface="Helvetica Neue"/>
                        </a:rPr>
                        <a:t>ISRIC SoilGrids250m</a:t>
                      </a:r>
                    </a:p>
                  </a:txBody>
                  <a:tcPr marL="91440" marR="91440">
                    <a:solidFill>
                      <a:srgbClr val="F7F6F4"/>
                    </a:solidFill>
                  </a:tcPr>
                </a:tc>
                <a:tc>
                  <a:txBody>
                    <a:bodyPr wrap="square"/>
                    <a:lstStyle/>
                    <a:p>
                      <a:pPr algn="l"/>
                      <a:r>
                        <a:rPr sz="1150" b="0" i="0">
                          <a:solidFill>
                            <a:srgbClr val="52514E"/>
                          </a:solidFill>
                          <a:latin typeface="Helvetica Neue"/>
                        </a:rPr>
                        <a:t>Static, 250 m</a:t>
                      </a:r>
                    </a:p>
                  </a:txBody>
                  <a:tcPr marL="91440" marR="91440">
                    <a:solidFill>
                      <a:srgbClr val="F7F6F4"/>
                    </a:solidFill>
                  </a:tcPr>
                </a:tc>
                <a:tc>
                  <a:txBody>
                    <a:bodyPr wrap="square"/>
                    <a:lstStyle/>
                    <a:p>
                      <a:pPr algn="l"/>
                      <a:r>
                        <a:rPr sz="1150" b="0" i="0">
                          <a:solidFill>
                            <a:srgbClr val="52514E"/>
                          </a:solidFill>
                          <a:latin typeface="Helvetica Neue"/>
                        </a:rPr>
                        <a:t>pH, organic carbon, clay, sand</a:t>
                      </a:r>
                    </a:p>
                  </a:txBody>
                  <a:tcPr marL="91440" marR="91440">
                    <a:solidFill>
                      <a:srgbClr val="F7F6F4"/>
                    </a:solidFill>
                  </a:tcPr>
                </a:tc>
              </a:tr>
            </a:tbl>
          </a:graphicData>
        </a:graphic>
      </p:graphicFrame>
      <p:sp>
        <p:nvSpPr>
          <p:cNvPr id="6" name="Rectangle 5"/>
          <p:cNvSpPr/>
          <p:nvPr/>
        </p:nvSpPr>
        <p:spPr>
          <a:xfrm>
            <a:off x="777240" y="5623560"/>
            <a:ext cx="10637215" cy="731520"/>
          </a:xfrm>
          <a:prstGeom prst="rect">
            <a:avLst/>
          </a:prstGeom>
          <a:solidFill>
            <a:srgbClr val="F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5623560"/>
            <a:ext cx="54864" cy="7315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88575" cy="731520"/>
          </a:xfrm>
          <a:prstGeom prst="rect">
            <a:avLst/>
          </a:prstGeom>
          <a:noFill/>
        </p:spPr>
        <p:txBody>
          <a:bodyPr wrap="square" anchor="ctr" lIns="0" rIns="0" tIns="0" bIns="0">
            <a:spAutoFit/>
          </a:bodyPr>
          <a:lstStyle/>
          <a:p>
            <a:pPr algn="l">
              <a:spcBef>
                <a:spcPts val="0"/>
              </a:spcBef>
              <a:spcAft>
                <a:spcPts val="600"/>
              </a:spcAft>
            </a:pPr>
            <a:r>
              <a:rPr sz="1500" b="1" i="0">
                <a:solidFill>
                  <a:srgbClr val="0D366B"/>
                </a:solidFill>
                <a:latin typeface="Helvetica Neue"/>
              </a:rPr>
              <a:t>Everything is reduced to one record per district, season and year.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OUR APPROACH</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Engineered predictors, after the cull</a:t>
            </a:r>
          </a:p>
        </p:txBody>
      </p:sp>
      <p:sp>
        <p:nvSpPr>
          <p:cNvPr id="5" name="Rectangle 4"/>
          <p:cNvSpPr/>
          <p:nvPr/>
        </p:nvSpPr>
        <p:spPr>
          <a:xfrm>
            <a:off x="777240" y="1691640"/>
            <a:ext cx="45720" cy="2926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91640"/>
            <a:ext cx="4884267" cy="320040"/>
          </a:xfrm>
          <a:prstGeom prst="rect">
            <a:avLst/>
          </a:prstGeom>
          <a:noFill/>
        </p:spPr>
        <p:txBody>
          <a:bodyPr wrap="square" anchor="t" lIns="0" rIns="0" tIns="0" bIns="0">
            <a:spAutoFit/>
          </a:bodyPr>
          <a:lstStyle/>
          <a:p>
            <a:pPr algn="l">
              <a:spcBef>
                <a:spcPts val="0"/>
              </a:spcBef>
              <a:spcAft>
                <a:spcPts val="600"/>
              </a:spcAft>
            </a:pPr>
            <a:r>
              <a:rPr sz="1700" b="1" i="0">
                <a:solidFill>
                  <a:srgbClr val="0D366B"/>
                </a:solidFill>
                <a:latin typeface="Helvetica Neue"/>
              </a:rPr>
              <a:t>Measured and derived</a:t>
            </a:r>
          </a:p>
        </p:txBody>
      </p:sp>
      <p:sp>
        <p:nvSpPr>
          <p:cNvPr id="7" name="TextBox 6"/>
          <p:cNvSpPr txBox="1"/>
          <p:nvPr/>
        </p:nvSpPr>
        <p:spPr>
          <a:xfrm>
            <a:off x="777240" y="2194560"/>
            <a:ext cx="5067147" cy="3200400"/>
          </a:xfrm>
          <a:prstGeom prst="rect">
            <a:avLst/>
          </a:prstGeom>
          <a:noFill/>
        </p:spPr>
        <p:txBody>
          <a:bodyPr wrap="square" anchor="t" lIns="0" rIns="0" tIns="0" bIns="0">
            <a:spAutoFit/>
          </a:bodyPr>
          <a:lstStyle/>
          <a:p>
            <a:pPr algn="l">
              <a:lnSpc>
                <a:spcPct val="120000"/>
              </a:lnSpc>
              <a:spcBef>
                <a:spcPts val="0"/>
              </a:spcBef>
              <a:spcAft>
                <a:spcPts val="200"/>
              </a:spcAft>
            </a:pPr>
            <a:r>
              <a:rPr sz="1500" b="1" i="0">
                <a:solidFill>
                  <a:srgbClr val="EB6834"/>
                </a:solidFill>
                <a:latin typeface="Helvetica Neue"/>
              </a:rPr>
              <a:t>•  </a:t>
            </a:r>
            <a:r>
              <a:rPr sz="1500" b="0" i="0">
                <a:solidFill>
                  <a:srgbClr val="52514E"/>
                </a:solidFill>
                <a:latin typeface="Helvetica Neue"/>
              </a:rPr>
              <a:t>Weather (9) — growing degree days, heat stress days, SPI drought index, rainfall totals and extremes</a:t>
            </a:r>
          </a:p>
          <a:p>
            <a:pPr algn="l">
              <a:lnSpc>
                <a:spcPct val="120000"/>
              </a:lnSpc>
              <a:spcBef>
                <a:spcPts val="900"/>
              </a:spcBef>
              <a:spcAft>
                <a:spcPts val="200"/>
              </a:spcAft>
            </a:pPr>
            <a:r>
              <a:rPr sz="1500" b="1" i="0">
                <a:solidFill>
                  <a:srgbClr val="EB6834"/>
                </a:solidFill>
                <a:latin typeface="Helvetica Neue"/>
              </a:rPr>
              <a:t>•  </a:t>
            </a:r>
            <a:r>
              <a:rPr sz="1500" b="0" i="0">
                <a:solidFill>
                  <a:srgbClr val="52514E"/>
                </a:solidFill>
                <a:latin typeface="Helvetica Neue"/>
              </a:rPr>
              <a:t>Satellite (11) — NDVI mean/max/min, anomaly, time-to-peak, growth rate, EVI, NDWI, day and night LST</a:t>
            </a:r>
          </a:p>
          <a:p>
            <a:pPr algn="l">
              <a:lnSpc>
                <a:spcPct val="120000"/>
              </a:lnSpc>
              <a:spcBef>
                <a:spcPts val="900"/>
              </a:spcBef>
              <a:spcAft>
                <a:spcPts val="200"/>
              </a:spcAft>
            </a:pPr>
            <a:r>
              <a:rPr sz="1500" b="1" i="0">
                <a:solidFill>
                  <a:srgbClr val="EB6834"/>
                </a:solidFill>
                <a:latin typeface="Helvetica Neue"/>
              </a:rPr>
              <a:t>•  </a:t>
            </a:r>
            <a:r>
              <a:rPr sz="1500" b="0" i="0">
                <a:solidFill>
                  <a:srgbClr val="52514E"/>
                </a:solidFill>
                <a:latin typeface="Helvetica Neue"/>
              </a:rPr>
              <a:t>History (5) — previous season, previous year, three-year average, season indicator, previous extent</a:t>
            </a:r>
          </a:p>
          <a:p>
            <a:pPr algn="l">
              <a:lnSpc>
                <a:spcPct val="120000"/>
              </a:lnSpc>
              <a:spcBef>
                <a:spcPts val="900"/>
              </a:spcBef>
              <a:spcAft>
                <a:spcPts val="200"/>
              </a:spcAft>
            </a:pPr>
            <a:r>
              <a:rPr sz="1500" b="1" i="0">
                <a:solidFill>
                  <a:srgbClr val="EB6834"/>
                </a:solidFill>
                <a:latin typeface="Helvetica Neue"/>
              </a:rPr>
              <a:t>•  </a:t>
            </a:r>
            <a:r>
              <a:rPr sz="1500" b="0" i="0">
                <a:solidFill>
                  <a:srgbClr val="52514E"/>
                </a:solidFill>
                <a:latin typeface="Helvetica Neue"/>
              </a:rPr>
              <a:t>Soil (4) — pH, organic carbon, clay and sand fraction</a:t>
            </a:r>
          </a:p>
        </p:txBody>
      </p:sp>
      <p:sp>
        <p:nvSpPr>
          <p:cNvPr id="8" name="Rectangle 7"/>
          <p:cNvSpPr/>
          <p:nvPr/>
        </p:nvSpPr>
        <p:spPr>
          <a:xfrm>
            <a:off x="6347307" y="1691640"/>
            <a:ext cx="45720" cy="2926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0187" y="1691640"/>
            <a:ext cx="4884267" cy="320040"/>
          </a:xfrm>
          <a:prstGeom prst="rect">
            <a:avLst/>
          </a:prstGeom>
          <a:noFill/>
        </p:spPr>
        <p:txBody>
          <a:bodyPr wrap="square" anchor="t" lIns="0" rIns="0" tIns="0" bIns="0">
            <a:spAutoFit/>
          </a:bodyPr>
          <a:lstStyle/>
          <a:p>
            <a:pPr algn="l">
              <a:spcBef>
                <a:spcPts val="0"/>
              </a:spcBef>
              <a:spcAft>
                <a:spcPts val="600"/>
              </a:spcAft>
            </a:pPr>
            <a:r>
              <a:rPr sz="1700" b="1" i="0">
                <a:solidFill>
                  <a:srgbClr val="0D366B"/>
                </a:solidFill>
                <a:latin typeface="Helvetica Neue"/>
              </a:rPr>
              <a:t>Interaction terms — encoded hypotheses</a:t>
            </a:r>
          </a:p>
        </p:txBody>
      </p:sp>
      <p:sp>
        <p:nvSpPr>
          <p:cNvPr id="10" name="TextBox 9"/>
          <p:cNvSpPr txBox="1"/>
          <p:nvPr/>
        </p:nvSpPr>
        <p:spPr>
          <a:xfrm>
            <a:off x="6347307" y="2194560"/>
            <a:ext cx="5067147" cy="3200400"/>
          </a:xfrm>
          <a:prstGeom prst="rect">
            <a:avLst/>
          </a:prstGeom>
          <a:noFill/>
        </p:spPr>
        <p:txBody>
          <a:bodyPr wrap="square" anchor="t" lIns="0" rIns="0" tIns="0" bIns="0">
            <a:spAutoFit/>
          </a:bodyPr>
          <a:lstStyle/>
          <a:p>
            <a:pPr algn="l">
              <a:lnSpc>
                <a:spcPct val="120000"/>
              </a:lnSpc>
              <a:spcBef>
                <a:spcPts val="0"/>
              </a:spcBef>
              <a:spcAft>
                <a:spcPts val="200"/>
              </a:spcAft>
            </a:pPr>
            <a:r>
              <a:rPr sz="1500" b="1" i="0">
                <a:solidFill>
                  <a:srgbClr val="2A78D6"/>
                </a:solidFill>
                <a:latin typeface="Helvetica Neue"/>
              </a:rPr>
              <a:t>•  </a:t>
            </a:r>
            <a:r>
              <a:rPr sz="1500" b="0" i="0">
                <a:solidFill>
                  <a:srgbClr val="52514E"/>
                </a:solidFill>
                <a:latin typeface="Helvetica Neue"/>
              </a:rPr>
              <a:t>rainfall × NDVI — rain only helps when there is a canopy to use it</a:t>
            </a:r>
          </a:p>
          <a:p>
            <a:pPr algn="l">
              <a:lnSpc>
                <a:spcPct val="120000"/>
              </a:lnSpc>
              <a:spcBef>
                <a:spcPts val="900"/>
              </a:spcBef>
              <a:spcAft>
                <a:spcPts val="200"/>
              </a:spcAft>
            </a:pPr>
            <a:r>
              <a:rPr sz="1500" b="1" i="0">
                <a:solidFill>
                  <a:srgbClr val="2A78D6"/>
                </a:solidFill>
                <a:latin typeface="Helvetica Neue"/>
              </a:rPr>
              <a:t>•  </a:t>
            </a:r>
            <a:r>
              <a:rPr sz="1500" b="0" i="0">
                <a:solidFill>
                  <a:srgbClr val="52514E"/>
                </a:solidFill>
                <a:latin typeface="Helvetica Neue"/>
              </a:rPr>
              <a:t>temperature × humidity — evaporative demand and fungal disease pressure</a:t>
            </a:r>
          </a:p>
          <a:p>
            <a:pPr algn="l">
              <a:lnSpc>
                <a:spcPct val="120000"/>
              </a:lnSpc>
              <a:spcBef>
                <a:spcPts val="900"/>
              </a:spcBef>
              <a:spcAft>
                <a:spcPts val="200"/>
              </a:spcAft>
            </a:pPr>
            <a:r>
              <a:rPr sz="1500" b="1" i="0">
                <a:solidFill>
                  <a:srgbClr val="2A78D6"/>
                </a:solidFill>
                <a:latin typeface="Helvetica Neue"/>
              </a:rPr>
              <a:t>•  </a:t>
            </a:r>
            <a:r>
              <a:rPr sz="1500" b="0" i="0">
                <a:solidFill>
                  <a:srgbClr val="52514E"/>
                </a:solidFill>
                <a:latin typeface="Helvetica Neue"/>
              </a:rPr>
              <a:t>NDVI × LST — is the green canopy also thermally stressed?</a:t>
            </a:r>
          </a:p>
          <a:p>
            <a:pPr algn="l">
              <a:lnSpc>
                <a:spcPct val="120000"/>
              </a:lnSpc>
              <a:spcBef>
                <a:spcPts val="900"/>
              </a:spcBef>
              <a:spcAft>
                <a:spcPts val="200"/>
              </a:spcAft>
            </a:pPr>
            <a:r>
              <a:rPr sz="1500" b="1" i="0">
                <a:solidFill>
                  <a:srgbClr val="2A78D6"/>
                </a:solidFill>
                <a:latin typeface="Helvetica Neue"/>
              </a:rPr>
              <a:t>•  </a:t>
            </a:r>
            <a:r>
              <a:rPr sz="1500" b="0" i="0">
                <a:solidFill>
                  <a:srgbClr val="52514E"/>
                </a:solidFill>
                <a:latin typeface="Helvetica Neue"/>
              </a:rPr>
              <a:t>These three are the only features built from hypothesis rather than measurement — and two of them top the SHAP ranking</a:t>
            </a:r>
          </a:p>
        </p:txBody>
      </p:sp>
      <p:sp>
        <p:nvSpPr>
          <p:cNvPr id="11" name="Rectangle 10"/>
          <p:cNvSpPr/>
          <p:nvPr/>
        </p:nvSpPr>
        <p:spPr>
          <a:xfrm>
            <a:off x="777240" y="5623560"/>
            <a:ext cx="10637215" cy="731520"/>
          </a:xfrm>
          <a:prstGeom prst="rect">
            <a:avLst/>
          </a:prstGeom>
          <a:solidFill>
            <a:srgbClr val="F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623560"/>
            <a:ext cx="54864" cy="7315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5623560"/>
            <a:ext cx="10088575" cy="731520"/>
          </a:xfrm>
          <a:prstGeom prst="rect">
            <a:avLst/>
          </a:prstGeom>
          <a:noFill/>
        </p:spPr>
        <p:txBody>
          <a:bodyPr wrap="square" anchor="ctr" lIns="0" rIns="0" tIns="0" bIns="0">
            <a:spAutoFit/>
          </a:bodyPr>
          <a:lstStyle/>
          <a:p>
            <a:pPr algn="l">
              <a:spcBef>
                <a:spcPts val="0"/>
              </a:spcBef>
              <a:spcAft>
                <a:spcPts val="600"/>
              </a:spcAft>
            </a:pPr>
            <a:r>
              <a:rPr sz="1500" b="1" i="0">
                <a:solidFill>
                  <a:srgbClr val="0D366B"/>
                </a:solidFill>
                <a:latin typeface="Helvetica Neue"/>
              </a:rPr>
              <a:t>Yield-history features are shifted within district so a record never sees its own target.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OUR APPROACH</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What we compare, and against what</a:t>
            </a:r>
          </a:p>
        </p:txBody>
      </p:sp>
      <p:graphicFrame>
        <p:nvGraphicFramePr>
          <p:cNvPr id="5" name="Table 4"/>
          <p:cNvGraphicFramePr>
            <a:graphicFrameLocks noGrp="1"/>
          </p:cNvGraphicFramePr>
          <p:nvPr/>
        </p:nvGraphicFramePr>
        <p:xfrm>
          <a:off x="777240" y="1920240"/>
          <a:ext cx="10637213" cy="3072384"/>
        </p:xfrm>
        <a:graphic>
          <a:graphicData uri="http://schemas.openxmlformats.org/drawingml/2006/table">
            <a:tbl>
              <a:tblPr firstRow="1" bandRow="1">
                <a:tableStyleId>{5C22544A-7EE6-4342-B048-85BDC9FD1C3A}</a:tableStyleId>
              </a:tblPr>
              <a:tblGrid>
                <a:gridCol w="2911237"/>
                <a:gridCol w="2575325"/>
                <a:gridCol w="5150651"/>
              </a:tblGrid>
              <a:tr h="384048">
                <a:tc>
                  <a:txBody>
                    <a:bodyPr wrap="square"/>
                    <a:lstStyle/>
                    <a:p>
                      <a:pPr algn="l"/>
                      <a:r>
                        <a:rPr sz="1200" b="1" i="0">
                          <a:solidFill>
                            <a:srgbClr val="FFFFFF"/>
                          </a:solidFill>
                          <a:latin typeface="Helvetica Neue"/>
                        </a:rPr>
                        <a:t>Model</a:t>
                      </a:r>
                    </a:p>
                  </a:txBody>
                  <a:tcPr marL="91440" marR="91440">
                    <a:solidFill>
                      <a:srgbClr val="0D366B"/>
                    </a:solidFill>
                  </a:tcPr>
                </a:tc>
                <a:tc>
                  <a:txBody>
                    <a:bodyPr wrap="square"/>
                    <a:lstStyle/>
                    <a:p>
                      <a:pPr algn="l"/>
                      <a:r>
                        <a:rPr sz="1200" b="1" i="0">
                          <a:solidFill>
                            <a:srgbClr val="FFFFFF"/>
                          </a:solidFill>
                          <a:latin typeface="Helvetica Neue"/>
                        </a:rPr>
                        <a:t>Family</a:t>
                      </a:r>
                    </a:p>
                  </a:txBody>
                  <a:tcPr marL="91440" marR="91440">
                    <a:solidFill>
                      <a:srgbClr val="0D366B"/>
                    </a:solidFill>
                  </a:tcPr>
                </a:tc>
                <a:tc>
                  <a:txBody>
                    <a:bodyPr wrap="square"/>
                    <a:lstStyle/>
                    <a:p>
                      <a:pPr algn="l"/>
                      <a:r>
                        <a:rPr sz="1200" b="1" i="0">
                          <a:solidFill>
                            <a:srgbClr val="FFFFFF"/>
                          </a:solidFill>
                          <a:latin typeface="Helvetica Neue"/>
                        </a:rPr>
                        <a:t>Why it is in the comparison</a:t>
                      </a:r>
                    </a:p>
                  </a:txBody>
                  <a:tcPr marL="91440" marR="91440">
                    <a:solidFill>
                      <a:srgbClr val="0D366B"/>
                    </a:solidFill>
                  </a:tcPr>
                </a:tc>
              </a:tr>
              <a:tr h="384048">
                <a:tc>
                  <a:txBody>
                    <a:bodyPr wrap="square"/>
                    <a:lstStyle/>
                    <a:p>
                      <a:pPr algn="l"/>
                      <a:r>
                        <a:rPr sz="1150" b="0" i="0">
                          <a:solidFill>
                            <a:srgbClr val="52514E"/>
                          </a:solidFill>
                          <a:latin typeface="Helvetica Neue"/>
                        </a:rPr>
                        <a:t>Train mean</a:t>
                      </a:r>
                    </a:p>
                  </a:txBody>
                  <a:tcPr marL="91440" marR="91440">
                    <a:solidFill>
                      <a:srgbClr val="F7F6F4"/>
                    </a:solidFill>
                  </a:tcPr>
                </a:tc>
                <a:tc>
                  <a:txBody>
                    <a:bodyPr wrap="square"/>
                    <a:lstStyle/>
                    <a:p>
                      <a:pPr algn="l"/>
                      <a:r>
                        <a:rPr sz="1150" b="0" i="0">
                          <a:solidFill>
                            <a:srgbClr val="52514E"/>
                          </a:solidFill>
                          <a:latin typeface="Helvetica Neue"/>
                        </a:rPr>
                        <a:t>Naive</a:t>
                      </a:r>
                    </a:p>
                  </a:txBody>
                  <a:tcPr marL="91440" marR="91440">
                    <a:solidFill>
                      <a:srgbClr val="F7F6F4"/>
                    </a:solidFill>
                  </a:tcPr>
                </a:tc>
                <a:tc>
                  <a:txBody>
                    <a:bodyPr wrap="square"/>
                    <a:lstStyle/>
                    <a:p>
                      <a:pPr algn="l"/>
                      <a:r>
                        <a:rPr sz="1150" b="0" i="0">
                          <a:solidFill>
                            <a:srgbClr val="52514E"/>
                          </a:solidFill>
                          <a:latin typeface="Helvetica Neue"/>
                        </a:rPr>
                        <a:t>THE BAR — best available without knowing the held-out year</a:t>
                      </a:r>
                    </a:p>
                  </a:txBody>
                  <a:tcPr marL="91440" marR="91440">
                    <a:solidFill>
                      <a:srgbClr val="F7F6F4"/>
                    </a:solidFill>
                  </a:tcPr>
                </a:tc>
              </a:tr>
              <a:tr h="384048">
                <a:tc>
                  <a:txBody>
                    <a:bodyPr wrap="square"/>
                    <a:lstStyle/>
                    <a:p>
                      <a:pPr algn="l"/>
                      <a:r>
                        <a:rPr sz="1150" b="0" i="0">
                          <a:solidFill>
                            <a:srgbClr val="52514E"/>
                          </a:solidFill>
                          <a:latin typeface="Helvetica Neue"/>
                        </a:rPr>
                        <a:t>Oracle year-mean</a:t>
                      </a:r>
                    </a:p>
                  </a:txBody>
                  <a:tcPr marL="91440" marR="91440">
                    <a:solidFill>
                      <a:srgbClr val="FCFCFB"/>
                    </a:solidFill>
                  </a:tcPr>
                </a:tc>
                <a:tc>
                  <a:txBody>
                    <a:bodyPr wrap="square"/>
                    <a:lstStyle/>
                    <a:p>
                      <a:pPr algn="l"/>
                      <a:r>
                        <a:rPr sz="1150" b="0" i="0">
                          <a:solidFill>
                            <a:srgbClr val="52514E"/>
                          </a:solidFill>
                          <a:latin typeface="Helvetica Neue"/>
                        </a:rPr>
                        <a:t>Reference</a:t>
                      </a:r>
                    </a:p>
                  </a:txBody>
                  <a:tcPr marL="91440" marR="91440">
                    <a:solidFill>
                      <a:srgbClr val="FCFCFB"/>
                    </a:solidFill>
                  </a:tcPr>
                </a:tc>
                <a:tc>
                  <a:txBody>
                    <a:bodyPr wrap="square"/>
                    <a:lstStyle/>
                    <a:p>
                      <a:pPr algn="l"/>
                      <a:r>
                        <a:rPr sz="1150" b="0" i="0">
                          <a:solidFill>
                            <a:srgbClr val="52514E"/>
                          </a:solidFill>
                          <a:latin typeface="Helvetica Neue"/>
                        </a:rPr>
                        <a:t>NOT ACHIEVABLE — bounds what perfect year knowledge buys</a:t>
                      </a:r>
                    </a:p>
                  </a:txBody>
                  <a:tcPr marL="91440" marR="91440">
                    <a:solidFill>
                      <a:srgbClr val="FCFCFB"/>
                    </a:solidFill>
                  </a:tcPr>
                </a:tc>
              </a:tr>
              <a:tr h="384048">
                <a:tc>
                  <a:txBody>
                    <a:bodyPr wrap="square"/>
                    <a:lstStyle/>
                    <a:p>
                      <a:pPr algn="l"/>
                      <a:r>
                        <a:rPr sz="1150" b="0" i="0">
                          <a:solidFill>
                            <a:srgbClr val="52514E"/>
                          </a:solidFill>
                          <a:latin typeface="Helvetica Neue"/>
                        </a:rPr>
                        <a:t>Random Forest</a:t>
                      </a:r>
                    </a:p>
                  </a:txBody>
                  <a:tcPr marL="91440" marR="91440">
                    <a:solidFill>
                      <a:srgbClr val="F7F6F4"/>
                    </a:solidFill>
                  </a:tcPr>
                </a:tc>
                <a:tc>
                  <a:txBody>
                    <a:bodyPr wrap="square"/>
                    <a:lstStyle/>
                    <a:p>
                      <a:pPr algn="l"/>
                      <a:r>
                        <a:rPr sz="1150" b="0" i="0">
                          <a:solidFill>
                            <a:srgbClr val="52514E"/>
                          </a:solidFill>
                          <a:latin typeface="Helvetica Neue"/>
                        </a:rPr>
                        <a:t>Bagged trees</a:t>
                      </a:r>
                    </a:p>
                  </a:txBody>
                  <a:tcPr marL="91440" marR="91440">
                    <a:solidFill>
                      <a:srgbClr val="F7F6F4"/>
                    </a:solidFill>
                  </a:tcPr>
                </a:tc>
                <a:tc>
                  <a:txBody>
                    <a:bodyPr wrap="square"/>
                    <a:lstStyle/>
                    <a:p>
                      <a:pPr algn="l"/>
                      <a:r>
                        <a:rPr sz="1150" b="0" i="0">
                          <a:solidFill>
                            <a:srgbClr val="52514E"/>
                          </a:solidFill>
                          <a:latin typeface="Helvetica Neue"/>
                        </a:rPr>
                        <a:t>Variance reduction; robust small-sample baseline</a:t>
                      </a:r>
                    </a:p>
                  </a:txBody>
                  <a:tcPr marL="91440" marR="91440">
                    <a:solidFill>
                      <a:srgbClr val="F7F6F4"/>
                    </a:solidFill>
                  </a:tcPr>
                </a:tc>
              </a:tr>
              <a:tr h="384048">
                <a:tc>
                  <a:txBody>
                    <a:bodyPr wrap="square"/>
                    <a:lstStyle/>
                    <a:p>
                      <a:pPr algn="l"/>
                      <a:r>
                        <a:rPr sz="1150" b="0" i="0">
                          <a:solidFill>
                            <a:srgbClr val="52514E"/>
                          </a:solidFill>
                          <a:latin typeface="Helvetica Neue"/>
                        </a:rPr>
                        <a:t>XGBoost</a:t>
                      </a:r>
                    </a:p>
                  </a:txBody>
                  <a:tcPr marL="91440" marR="91440">
                    <a:solidFill>
                      <a:srgbClr val="FCFCFB"/>
                    </a:solidFill>
                  </a:tcPr>
                </a:tc>
                <a:tc>
                  <a:txBody>
                    <a:bodyPr wrap="square"/>
                    <a:lstStyle/>
                    <a:p>
                      <a:pPr algn="l"/>
                      <a:r>
                        <a:rPr sz="1150" b="0" i="0">
                          <a:solidFill>
                            <a:srgbClr val="52514E"/>
                          </a:solidFill>
                          <a:latin typeface="Helvetica Neue"/>
                        </a:rPr>
                        <a:t>Boosted trees</a:t>
                      </a:r>
                    </a:p>
                  </a:txBody>
                  <a:tcPr marL="91440" marR="91440">
                    <a:solidFill>
                      <a:srgbClr val="FCFCFB"/>
                    </a:solidFill>
                  </a:tcPr>
                </a:tc>
                <a:tc>
                  <a:txBody>
                    <a:bodyPr wrap="square"/>
                    <a:lstStyle/>
                    <a:p>
                      <a:pPr algn="l"/>
                      <a:r>
                        <a:rPr sz="1150" b="0" i="0">
                          <a:solidFill>
                            <a:srgbClr val="52514E"/>
                          </a:solidFill>
                          <a:latin typeface="Helvetica Neue"/>
                        </a:rPr>
                        <a:t>Bias reduction under explicit regularisation</a:t>
                      </a:r>
                    </a:p>
                  </a:txBody>
                  <a:tcPr marL="91440" marR="91440">
                    <a:solidFill>
                      <a:srgbClr val="FCFCFB"/>
                    </a:solidFill>
                  </a:tcPr>
                </a:tc>
              </a:tr>
              <a:tr h="384048">
                <a:tc>
                  <a:txBody>
                    <a:bodyPr wrap="square"/>
                    <a:lstStyle/>
                    <a:p>
                      <a:pPr algn="l"/>
                      <a:r>
                        <a:rPr sz="1150" b="0" i="0">
                          <a:solidFill>
                            <a:srgbClr val="52514E"/>
                          </a:solidFill>
                          <a:latin typeface="Helvetica Neue"/>
                        </a:rPr>
                        <a:t>SVR</a:t>
                      </a:r>
                    </a:p>
                  </a:txBody>
                  <a:tcPr marL="91440" marR="91440">
                    <a:solidFill>
                      <a:srgbClr val="F7F6F4"/>
                    </a:solidFill>
                  </a:tcPr>
                </a:tc>
                <a:tc>
                  <a:txBody>
                    <a:bodyPr wrap="square"/>
                    <a:lstStyle/>
                    <a:p>
                      <a:pPr algn="l"/>
                      <a:r>
                        <a:rPr sz="1150" b="0" i="0">
                          <a:solidFill>
                            <a:srgbClr val="52514E"/>
                          </a:solidFill>
                          <a:latin typeface="Helvetica Neue"/>
                        </a:rPr>
                        <a:t>Kernel method</a:t>
                      </a:r>
                    </a:p>
                  </a:txBody>
                  <a:tcPr marL="91440" marR="91440">
                    <a:solidFill>
                      <a:srgbClr val="F7F6F4"/>
                    </a:solidFill>
                  </a:tcPr>
                </a:tc>
                <a:tc>
                  <a:txBody>
                    <a:bodyPr wrap="square"/>
                    <a:lstStyle/>
                    <a:p>
                      <a:pPr algn="l"/>
                      <a:r>
                        <a:rPr sz="1150" b="0" i="0">
                          <a:solidFill>
                            <a:srgbClr val="52514E"/>
                          </a:solidFill>
                          <a:latin typeface="Helvetica Neue"/>
                        </a:rPr>
                        <a:t>Capacity independent of sample size</a:t>
                      </a:r>
                    </a:p>
                  </a:txBody>
                  <a:tcPr marL="91440" marR="91440">
                    <a:solidFill>
                      <a:srgbClr val="F7F6F4"/>
                    </a:solidFill>
                  </a:tcPr>
                </a:tc>
              </a:tr>
              <a:tr h="384048">
                <a:tc>
                  <a:txBody>
                    <a:bodyPr wrap="square"/>
                    <a:lstStyle/>
                    <a:p>
                      <a:pPr algn="l"/>
                      <a:r>
                        <a:rPr sz="1150" b="0" i="0">
                          <a:solidFill>
                            <a:srgbClr val="52514E"/>
                          </a:solidFill>
                          <a:latin typeface="Helvetica Neue"/>
                        </a:rPr>
                        <a:t>District mean / persistence</a:t>
                      </a:r>
                    </a:p>
                  </a:txBody>
                  <a:tcPr marL="91440" marR="91440">
                    <a:solidFill>
                      <a:srgbClr val="FCFCFB"/>
                    </a:solidFill>
                  </a:tcPr>
                </a:tc>
                <a:tc>
                  <a:txBody>
                    <a:bodyPr wrap="square"/>
                    <a:lstStyle/>
                    <a:p>
                      <a:pPr algn="l"/>
                      <a:r>
                        <a:rPr sz="1150" b="0" i="0">
                          <a:solidFill>
                            <a:srgbClr val="52514E"/>
                          </a:solidFill>
                          <a:latin typeface="Helvetica Neue"/>
                        </a:rPr>
                        <a:t>Naive</a:t>
                      </a:r>
                    </a:p>
                  </a:txBody>
                  <a:tcPr marL="91440" marR="91440">
                    <a:solidFill>
                      <a:srgbClr val="FCFCFB"/>
                    </a:solidFill>
                  </a:tcPr>
                </a:tc>
                <a:tc>
                  <a:txBody>
                    <a:bodyPr wrap="square"/>
                    <a:lstStyle/>
                    <a:p>
                      <a:pPr algn="l"/>
                      <a:r>
                        <a:rPr sz="1150" b="0" i="0">
                          <a:solidFill>
                            <a:srgbClr val="52514E"/>
                          </a:solidFill>
                          <a:latin typeface="Helvetica Neue"/>
                        </a:rPr>
                        <a:t>Do district identity or last year carry the signal?</a:t>
                      </a:r>
                    </a:p>
                  </a:txBody>
                  <a:tcPr marL="91440" marR="91440">
                    <a:solidFill>
                      <a:srgbClr val="FCFCFB"/>
                    </a:solidFill>
                  </a:tcPr>
                </a:tc>
              </a:tr>
              <a:tr h="384048">
                <a:tc>
                  <a:txBody>
                    <a:bodyPr wrap="square"/>
                    <a:lstStyle/>
                    <a:p>
                      <a:pPr algn="l"/>
                      <a:r>
                        <a:rPr sz="1150" b="0" i="0">
                          <a:solidFill>
                            <a:srgbClr val="52514E"/>
                          </a:solidFill>
                          <a:latin typeface="Helvetica Neue"/>
                        </a:rPr>
                        <a:t>PADR</a:t>
                      </a:r>
                    </a:p>
                  </a:txBody>
                  <a:tcPr marL="91440" marR="91440">
                    <a:solidFill>
                      <a:srgbClr val="F7F6F4"/>
                    </a:solidFill>
                  </a:tcPr>
                </a:tc>
                <a:tc>
                  <a:txBody>
                    <a:bodyPr wrap="square"/>
                    <a:lstStyle/>
                    <a:p>
                      <a:pPr algn="l"/>
                      <a:r>
                        <a:rPr sz="1150" b="0" i="0">
                          <a:solidFill>
                            <a:srgbClr val="52514E"/>
                          </a:solidFill>
                          <a:latin typeface="Helvetica Neue"/>
                        </a:rPr>
                        <a:t>Mechanistic, estimated</a:t>
                      </a:r>
                    </a:p>
                  </a:txBody>
                  <a:tcPr marL="91440" marR="91440">
                    <a:solidFill>
                      <a:srgbClr val="F7F6F4"/>
                    </a:solidFill>
                  </a:tcPr>
                </a:tc>
                <a:tc>
                  <a:txBody>
                    <a:bodyPr wrap="square"/>
                    <a:lstStyle/>
                    <a:p>
                      <a:pPr algn="l"/>
                      <a:r>
                        <a:rPr sz="1150" b="0" i="0">
                          <a:solidFill>
                            <a:srgbClr val="52514E"/>
                          </a:solidFill>
                          <a:latin typeface="Helvetica Neue"/>
                        </a:rPr>
                        <a:t>THE METHOD — 17 parameters, constants fitted from data</a:t>
                      </a:r>
                    </a:p>
                  </a:txBody>
                  <a:tcPr marL="91440" marR="91440">
                    <a:solidFill>
                      <a:srgbClr val="F7F6F4"/>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9264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1560" y="2377440"/>
            <a:ext cx="9601200" cy="457200"/>
          </a:xfrm>
          <a:prstGeom prst="rect">
            <a:avLst/>
          </a:prstGeom>
          <a:noFill/>
        </p:spPr>
        <p:txBody>
          <a:bodyPr wrap="square" anchor="t" lIns="0" rIns="0" tIns="0" bIns="0">
            <a:spAutoFit/>
          </a:bodyPr>
          <a:lstStyle/>
          <a:p>
            <a:pPr algn="l">
              <a:spcBef>
                <a:spcPts val="0"/>
              </a:spcBef>
              <a:spcAft>
                <a:spcPts val="600"/>
              </a:spcAft>
            </a:pPr>
            <a:r>
              <a:rPr sz="1600" b="1" i="0">
                <a:solidFill>
                  <a:srgbClr val="EB6834"/>
                </a:solidFill>
                <a:latin typeface="Helvetica Neue"/>
              </a:rPr>
              <a:t>03</a:t>
            </a:r>
          </a:p>
        </p:txBody>
      </p:sp>
      <p:sp>
        <p:nvSpPr>
          <p:cNvPr id="4" name="TextBox 3"/>
          <p:cNvSpPr txBox="1"/>
          <p:nvPr/>
        </p:nvSpPr>
        <p:spPr>
          <a:xfrm>
            <a:off x="1051560" y="2834640"/>
            <a:ext cx="9601200" cy="914400"/>
          </a:xfrm>
          <a:prstGeom prst="rect">
            <a:avLst/>
          </a:prstGeom>
          <a:noFill/>
        </p:spPr>
        <p:txBody>
          <a:bodyPr wrap="square" anchor="t" lIns="0" rIns="0" tIns="0" bIns="0">
            <a:spAutoFit/>
          </a:bodyPr>
          <a:lstStyle/>
          <a:p>
            <a:pPr algn="l">
              <a:spcBef>
                <a:spcPts val="0"/>
              </a:spcBef>
              <a:spcAft>
                <a:spcPts val="600"/>
              </a:spcAft>
            </a:pPr>
            <a:r>
              <a:rPr sz="3600" b="1" i="0">
                <a:solidFill>
                  <a:srgbClr val="FFFFFF"/>
                </a:solidFill>
                <a:latin typeface="Helvetica Neue"/>
              </a:rPr>
              <a:t>The method</a:t>
            </a:r>
          </a:p>
        </p:txBody>
      </p:sp>
      <p:sp>
        <p:nvSpPr>
          <p:cNvPr id="5" name="TextBox 4"/>
          <p:cNvSpPr txBox="1"/>
          <p:nvPr/>
        </p:nvSpPr>
        <p:spPr>
          <a:xfrm>
            <a:off x="1051560" y="3886200"/>
            <a:ext cx="8686800" cy="914400"/>
          </a:xfrm>
          <a:prstGeom prst="rect">
            <a:avLst/>
          </a:prstGeom>
          <a:noFill/>
        </p:spPr>
        <p:txBody>
          <a:bodyPr wrap="square" anchor="t" lIns="0" rIns="0" tIns="0" bIns="0">
            <a:spAutoFit/>
          </a:bodyPr>
          <a:lstStyle/>
          <a:p>
            <a:pPr algn="l">
              <a:lnSpc>
                <a:spcPct val="130000"/>
              </a:lnSpc>
              <a:spcBef>
                <a:spcPts val="0"/>
              </a:spcBef>
              <a:spcAft>
                <a:spcPts val="600"/>
              </a:spcAft>
            </a:pPr>
            <a:r>
              <a:rPr sz="1700" b="0" i="0">
                <a:solidFill>
                  <a:srgbClr val="CDE2FB"/>
                </a:solidFill>
                <a:latin typeface="Helvetica Neue"/>
              </a:rPr>
              <a:t>A seventeen-parameter agronomic response model whose crop constants are estimated from data rather than assumed.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THE METHOD</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PADR — phenology-aligned differentiable response</a:t>
            </a:r>
          </a:p>
        </p:txBody>
      </p:sp>
      <p:sp>
        <p:nvSpPr>
          <p:cNvPr id="5" name="TextBox 4"/>
          <p:cNvSpPr txBox="1"/>
          <p:nvPr/>
        </p:nvSpPr>
        <p:spPr>
          <a:xfrm>
            <a:off x="777240" y="1691640"/>
            <a:ext cx="10637215" cy="3749040"/>
          </a:xfrm>
          <a:prstGeom prst="rect">
            <a:avLst/>
          </a:prstGeom>
          <a:noFill/>
        </p:spPr>
        <p:txBody>
          <a:bodyPr wrap="square" anchor="t" lIns="0" rIns="0" tIns="0" bIns="0">
            <a:spAutoFit/>
          </a:bodyPr>
          <a:lstStyle/>
          <a:p>
            <a:pPr algn="l">
              <a:lnSpc>
                <a:spcPct val="122000"/>
              </a:lnSpc>
              <a:spcBef>
                <a:spcPts val="0"/>
              </a:spcBef>
              <a:spcAft>
                <a:spcPts val="200"/>
              </a:spcAft>
            </a:pPr>
            <a:r>
              <a:rPr sz="1700" b="1" i="0">
                <a:solidFill>
                  <a:srgbClr val="EB6834"/>
                </a:solidFill>
                <a:latin typeface="Helvetica Neue"/>
              </a:rPr>
              <a:t>▸  </a:t>
            </a:r>
            <a:r>
              <a:rPr sz="1700" b="1" i="0">
                <a:solidFill>
                  <a:srgbClr val="0B0B0B"/>
                </a:solidFill>
                <a:latin typeface="Helvetica Neue"/>
              </a:rPr>
              <a:t>The shape  </a:t>
            </a:r>
            <a:r>
              <a:rPr sz="1700" b="0" i="0">
                <a:solidFill>
                  <a:srgbClr val="52514E"/>
                </a:solidFill>
                <a:latin typeface="Helvetica Neue"/>
              </a:rPr>
              <a:t>yield = attainable yield × ∫ β(τ) · f_temp · f_water · f_waterlog dτ</a:t>
            </a:r>
          </a:p>
          <a:p>
            <a:pPr algn="l">
              <a:lnSpc>
                <a:spcPct val="122000"/>
              </a:lnSpc>
              <a:spcBef>
                <a:spcPts val="1100"/>
              </a:spcBef>
              <a:spcAft>
                <a:spcPts val="200"/>
              </a:spcAft>
            </a:pPr>
            <a:r>
              <a:rPr sz="1700" b="1" i="0">
                <a:solidFill>
                  <a:srgbClr val="EB6834"/>
                </a:solidFill>
                <a:latin typeface="Helvetica Neue"/>
              </a:rPr>
              <a:t>▸  </a:t>
            </a:r>
            <a:r>
              <a:rPr sz="1700" b="1" i="0">
                <a:solidFill>
                  <a:srgbClr val="0B0B0B"/>
                </a:solidFill>
                <a:latin typeface="Helvetica Neue"/>
              </a:rPr>
              <a:t>What is new  </a:t>
            </a:r>
            <a:r>
              <a:rPr sz="1700" b="0" i="0">
                <a:solidFill>
                  <a:srgbClr val="52514E"/>
                </a:solidFill>
                <a:latin typeface="Helvetica Neue"/>
              </a:rPr>
              <a:t>the FAO-33 and thermal constants are ESTIMATED, not fixed — existing hybrids freeze the crop model and fit ML on its residual</a:t>
            </a:r>
          </a:p>
          <a:p>
            <a:pPr algn="l">
              <a:lnSpc>
                <a:spcPct val="122000"/>
              </a:lnSpc>
              <a:spcBef>
                <a:spcPts val="1100"/>
              </a:spcBef>
              <a:spcAft>
                <a:spcPts val="200"/>
              </a:spcAft>
            </a:pPr>
            <a:r>
              <a:rPr sz="1700" b="1" i="0">
                <a:solidFill>
                  <a:srgbClr val="EB6834"/>
                </a:solidFill>
                <a:latin typeface="Helvetica Neue"/>
              </a:rPr>
              <a:t>▸  </a:t>
            </a:r>
            <a:r>
              <a:rPr sz="1700" b="1" i="0">
                <a:solidFill>
                  <a:srgbClr val="0B0B0B"/>
                </a:solidFill>
                <a:latin typeface="Helvetica Neue"/>
              </a:rPr>
              <a:t>Shrinkage to physics  </a:t>
            </a:r>
            <a:r>
              <a:rPr sz="1700" b="0" i="0">
                <a:solidFill>
                  <a:srgbClr val="52514E"/>
                </a:solidFill>
                <a:latin typeface="Helvetica Neue"/>
              </a:rPr>
              <a:t>each constant is penalised toward its textbook value, so it moves only when the data pay for the move</a:t>
            </a:r>
          </a:p>
          <a:p>
            <a:pPr algn="l">
              <a:lnSpc>
                <a:spcPct val="122000"/>
              </a:lnSpc>
              <a:spcBef>
                <a:spcPts val="1100"/>
              </a:spcBef>
              <a:spcAft>
                <a:spcPts val="200"/>
              </a:spcAft>
            </a:pPr>
            <a:r>
              <a:rPr sz="1700" b="1" i="0">
                <a:solidFill>
                  <a:srgbClr val="EB6834"/>
                </a:solidFill>
                <a:latin typeface="Helvetica Neue"/>
              </a:rPr>
              <a:t>▸  </a:t>
            </a:r>
            <a:r>
              <a:rPr sz="1700" b="1" i="0">
                <a:solidFill>
                  <a:srgbClr val="0B0B0B"/>
                </a:solidFill>
                <a:latin typeface="Helvetica Neue"/>
              </a:rPr>
              <a:t>Seventeen parameters  </a:t>
            </a:r>
            <a:r>
              <a:rPr sz="1700" b="0" i="0">
                <a:solidFill>
                  <a:srgbClr val="52514E"/>
                </a:solidFill>
                <a:latin typeface="Helvetica Neue"/>
              </a:rPr>
              <a:t>against 44,929 in the CNN-LSTM it replaces — a model this small is the only kind 24 training rows can support</a:t>
            </a:r>
          </a:p>
          <a:p>
            <a:pPr algn="l">
              <a:lnSpc>
                <a:spcPct val="122000"/>
              </a:lnSpc>
              <a:spcBef>
                <a:spcPts val="1100"/>
              </a:spcBef>
              <a:spcAft>
                <a:spcPts val="200"/>
              </a:spcAft>
            </a:pPr>
            <a:r>
              <a:rPr sz="1700" b="1" i="0">
                <a:solidFill>
                  <a:srgbClr val="EB6834"/>
                </a:solidFill>
                <a:latin typeface="Helvetica Neue"/>
              </a:rPr>
              <a:t>▸  </a:t>
            </a:r>
            <a:r>
              <a:rPr sz="1700" b="1" i="0">
                <a:solidFill>
                  <a:srgbClr val="0B0B0B"/>
                </a:solidFill>
                <a:latin typeface="Helvetica Neue"/>
              </a:rPr>
              <a:t>Fitted by L-BFGS-B  </a:t>
            </a:r>
            <a:r>
              <a:rPr sz="1700" b="0" i="0">
                <a:solidFill>
                  <a:srgbClr val="52514E"/>
                </a:solidFill>
                <a:latin typeface="Helvetica Neue"/>
              </a:rPr>
              <a:t>multi-start, agronomic box bounds, refit from scratch inside every fold</a:t>
            </a:r>
          </a:p>
        </p:txBody>
      </p:sp>
      <p:sp>
        <p:nvSpPr>
          <p:cNvPr id="6" name="Rectangle 5"/>
          <p:cNvSpPr/>
          <p:nvPr/>
        </p:nvSpPr>
        <p:spPr>
          <a:xfrm>
            <a:off x="777240" y="5623560"/>
            <a:ext cx="10637215" cy="731520"/>
          </a:xfrm>
          <a:prstGeom prst="rect">
            <a:avLst/>
          </a:prstGeom>
          <a:solidFill>
            <a:srgbClr val="F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5623560"/>
            <a:ext cx="54864" cy="7315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88575" cy="731520"/>
          </a:xfrm>
          <a:prstGeom prst="rect">
            <a:avLst/>
          </a:prstGeom>
          <a:noFill/>
        </p:spPr>
        <p:txBody>
          <a:bodyPr wrap="square" anchor="ctr" lIns="0" rIns="0" tIns="0" bIns="0">
            <a:spAutoFit/>
          </a:bodyPr>
          <a:lstStyle/>
          <a:p>
            <a:pPr algn="l">
              <a:spcBef>
                <a:spcPts val="0"/>
              </a:spcBef>
              <a:spcAft>
                <a:spcPts val="600"/>
              </a:spcAft>
            </a:pPr>
            <a:r>
              <a:rPr sz="1500" b="1" i="0">
                <a:solidFill>
                  <a:srgbClr val="0D366B"/>
                </a:solidFill>
                <a:latin typeface="Helvetica Neue"/>
              </a:rPr>
              <a:t>The fitted constants are the scientific output. They survive even when the prediction does not.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THE METHOD</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Weather on a thermal clock, not a calendar</a:t>
            </a:r>
          </a:p>
        </p:txBody>
      </p:sp>
      <p:sp>
        <p:nvSpPr>
          <p:cNvPr id="5" name="TextBox 4"/>
          <p:cNvSpPr txBox="1"/>
          <p:nvPr/>
        </p:nvSpPr>
        <p:spPr>
          <a:xfrm>
            <a:off x="777240" y="1691640"/>
            <a:ext cx="10637215" cy="4617720"/>
          </a:xfrm>
          <a:prstGeom prst="rect">
            <a:avLst/>
          </a:prstGeom>
          <a:noFill/>
        </p:spPr>
        <p:txBody>
          <a:bodyPr wrap="square" anchor="t" lIns="0" rIns="0" tIns="0" bIns="0">
            <a:spAutoFit/>
          </a:bodyPr>
          <a:lstStyle/>
          <a:p>
            <a:pPr algn="l">
              <a:lnSpc>
                <a:spcPct val="122000"/>
              </a:lnSpc>
              <a:spcBef>
                <a:spcPts val="0"/>
              </a:spcBef>
              <a:spcAft>
                <a:spcPts val="200"/>
              </a:spcAft>
            </a:pPr>
            <a:r>
              <a:rPr sz="1700" b="1" i="0">
                <a:solidFill>
                  <a:srgbClr val="EB6834"/>
                </a:solidFill>
                <a:latin typeface="Helvetica Neue"/>
              </a:rPr>
              <a:t>▸  </a:t>
            </a:r>
            <a:r>
              <a:rPr sz="1700" b="1" i="0">
                <a:solidFill>
                  <a:srgbClr val="0B0B0B"/>
                </a:solidFill>
                <a:latin typeface="Helvetica Neue"/>
              </a:rPr>
              <a:t>The problem  </a:t>
            </a:r>
            <a:r>
              <a:rPr sz="1700" b="0" i="0">
                <a:solidFill>
                  <a:srgbClr val="52514E"/>
                </a:solidFill>
                <a:latin typeface="Helvetica Neue"/>
              </a:rPr>
              <a:t>'September rainfall' means a different developmental moment in each district-year</a:t>
            </a:r>
          </a:p>
          <a:p>
            <a:pPr algn="l">
              <a:lnSpc>
                <a:spcPct val="122000"/>
              </a:lnSpc>
              <a:spcBef>
                <a:spcPts val="1100"/>
              </a:spcBef>
              <a:spcAft>
                <a:spcPts val="200"/>
              </a:spcAft>
            </a:pPr>
            <a:r>
              <a:rPr sz="1700" b="1" i="0">
                <a:solidFill>
                  <a:srgbClr val="EB6834"/>
                </a:solidFill>
                <a:latin typeface="Helvetica Neue"/>
              </a:rPr>
              <a:t>▸  </a:t>
            </a:r>
            <a:r>
              <a:rPr sz="1700" b="1" i="0">
                <a:solidFill>
                  <a:srgbClr val="0B0B0B"/>
                </a:solidFill>
                <a:latin typeface="Helvetica Neue"/>
              </a:rPr>
              <a:t>Satellite could not solve it  </a:t>
            </a:r>
            <a:r>
              <a:rPr sz="1700" b="0" i="0">
                <a:solidFill>
                  <a:srgbClr val="52514E"/>
                </a:solidFill>
                <a:latin typeface="Helvetica Neue"/>
              </a:rPr>
              <a:t>onion is 0.002–0.89% of any district's land area, so district-mean NDVI measures paddy and scrub — 25 of 28 district-years failed to anchor</a:t>
            </a:r>
          </a:p>
          <a:p>
            <a:pPr algn="l">
              <a:lnSpc>
                <a:spcPct val="122000"/>
              </a:lnSpc>
              <a:spcBef>
                <a:spcPts val="1100"/>
              </a:spcBef>
              <a:spcAft>
                <a:spcPts val="200"/>
              </a:spcAft>
            </a:pPr>
            <a:r>
              <a:rPr sz="1700" b="1" i="0">
                <a:solidFill>
                  <a:srgbClr val="EB6834"/>
                </a:solidFill>
                <a:latin typeface="Helvetica Neue"/>
              </a:rPr>
              <a:t>▸  </a:t>
            </a:r>
            <a:r>
              <a:rPr sz="1700" b="1" i="0">
                <a:solidFill>
                  <a:srgbClr val="0B0B0B"/>
                </a:solidFill>
                <a:latin typeface="Helvetica Neue"/>
              </a:rPr>
              <a:t>What worked instead  </a:t>
            </a:r>
            <a:r>
              <a:rPr sz="1700" b="0" i="0">
                <a:solidFill>
                  <a:srgbClr val="52514E"/>
                </a:solidFill>
                <a:latin typeface="Helvetica Neue"/>
              </a:rPr>
              <a:t>harvest date from the DCS monthly production distribution — genuinely crop-specific, and it moves across 51 days</a:t>
            </a:r>
          </a:p>
          <a:p>
            <a:pPr algn="l">
              <a:lnSpc>
                <a:spcPct val="122000"/>
              </a:lnSpc>
              <a:spcBef>
                <a:spcPts val="1100"/>
              </a:spcBef>
              <a:spcAft>
                <a:spcPts val="200"/>
              </a:spcAft>
            </a:pPr>
            <a:r>
              <a:rPr sz="1700" b="1" i="0">
                <a:solidFill>
                  <a:srgbClr val="EB6834"/>
                </a:solidFill>
                <a:latin typeface="Helvetica Neue"/>
              </a:rPr>
              <a:t>▸  </a:t>
            </a:r>
            <a:r>
              <a:rPr sz="1700" b="1" i="0">
                <a:solidFill>
                  <a:srgbClr val="0B0B0B"/>
                </a:solidFill>
                <a:latin typeface="Helvetica Neue"/>
              </a:rPr>
              <a:t>Thermal time backwards  </a:t>
            </a:r>
            <a:r>
              <a:rPr sz="1700" b="0" i="0">
                <a:solidFill>
                  <a:srgbClr val="52514E"/>
                </a:solidFill>
                <a:latin typeface="Helvetica Neue"/>
              </a:rPr>
              <a:t>planting located by accumulating degree-days back from harvest; 28 of 28 anchored, zero fallbacks</a:t>
            </a:r>
          </a:p>
          <a:p>
            <a:pPr algn="l">
              <a:lnSpc>
                <a:spcPct val="122000"/>
              </a:lnSpc>
              <a:spcBef>
                <a:spcPts val="1100"/>
              </a:spcBef>
              <a:spcAft>
                <a:spcPts val="200"/>
              </a:spcAft>
            </a:pPr>
            <a:r>
              <a:rPr sz="1700" b="1" i="0">
                <a:solidFill>
                  <a:srgbClr val="EB6834"/>
                </a:solidFill>
                <a:latin typeface="Helvetica Neue"/>
              </a:rPr>
              <a:t>▸  </a:t>
            </a:r>
            <a:r>
              <a:rPr sz="1700" b="1" i="0">
                <a:solidFill>
                  <a:srgbClr val="0B0B0B"/>
                </a:solidFill>
                <a:latin typeface="Helvetica Neue"/>
              </a:rPr>
              <a:t>It behaves like physics  </a:t>
            </a:r>
            <a:r>
              <a:rPr sz="1700" b="0" i="0">
                <a:solidFill>
                  <a:srgbClr val="52514E"/>
                </a:solidFill>
                <a:latin typeface="Helvetica Neue"/>
              </a:rPr>
              <a:t>hot Anuradhapura completes a season in 78–86 days; cooler Matale needs 90–99 for the same heat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PROTOCOL</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How we evaluate — and why it lowers our score</a:t>
            </a:r>
          </a:p>
        </p:txBody>
      </p:sp>
      <p:sp>
        <p:nvSpPr>
          <p:cNvPr id="5" name="TextBox 4"/>
          <p:cNvSpPr txBox="1"/>
          <p:nvPr/>
        </p:nvSpPr>
        <p:spPr>
          <a:xfrm>
            <a:off x="777240" y="1691640"/>
            <a:ext cx="10637215" cy="3749040"/>
          </a:xfrm>
          <a:prstGeom prst="rect">
            <a:avLst/>
          </a:prstGeom>
          <a:noFill/>
        </p:spPr>
        <p:txBody>
          <a:bodyPr wrap="square" anchor="t" lIns="0" rIns="0" tIns="0" bIns="0">
            <a:spAutoFit/>
          </a:bodyPr>
          <a:lstStyle/>
          <a:p>
            <a:pPr algn="l">
              <a:lnSpc>
                <a:spcPct val="122000"/>
              </a:lnSpc>
              <a:spcBef>
                <a:spcPts val="0"/>
              </a:spcBef>
              <a:spcAft>
                <a:spcPts val="200"/>
              </a:spcAft>
            </a:pPr>
            <a:r>
              <a:rPr sz="1550" b="1" i="0">
                <a:solidFill>
                  <a:srgbClr val="EB6834"/>
                </a:solidFill>
                <a:latin typeface="Helvetica Neue"/>
              </a:rPr>
              <a:t>▸  </a:t>
            </a:r>
            <a:r>
              <a:rPr sz="1550" b="1" i="0">
                <a:solidFill>
                  <a:srgbClr val="0B0B0B"/>
                </a:solidFill>
                <a:latin typeface="Helvetica Neue"/>
              </a:rPr>
              <a:t>Leave-one-year-out  </a:t>
            </a:r>
            <a:r>
              <a:rPr sz="1550" b="0" i="0">
                <a:solidFill>
                  <a:srgbClr val="52514E"/>
                </a:solidFill>
                <a:latin typeface="Helvetica Neue"/>
              </a:rPr>
              <a:t>hold out a whole year; every fitted quantity, including all scaling, estimated inside the fold</a:t>
            </a:r>
          </a:p>
          <a:p>
            <a:pPr algn="l">
              <a:lnSpc>
                <a:spcPct val="122000"/>
              </a:lnSpc>
              <a:spcBef>
                <a:spcPts val="800"/>
              </a:spcBef>
              <a:spcAft>
                <a:spcPts val="200"/>
              </a:spcAft>
            </a:pPr>
            <a:r>
              <a:rPr sz="1550" b="1" i="0">
                <a:solidFill>
                  <a:srgbClr val="EB6834"/>
                </a:solidFill>
                <a:latin typeface="Helvetica Neue"/>
              </a:rPr>
              <a:t>▸  </a:t>
            </a:r>
            <a:r>
              <a:rPr sz="1550" b="1" i="0">
                <a:solidFill>
                  <a:srgbClr val="0B0B0B"/>
                </a:solidFill>
                <a:latin typeface="Helvetica Neue"/>
              </a:rPr>
              <a:t>Why not a random split  </a:t>
            </a:r>
            <a:r>
              <a:rPr sz="1550" b="0" i="0">
                <a:solidFill>
                  <a:srgbClr val="52514E"/>
                </a:solidFill>
                <a:latin typeface="Helvetica Neue"/>
              </a:rPr>
              <a:t>records from one year share a weather regime; a random split would report a far more flattering and entirely misleading number</a:t>
            </a:r>
          </a:p>
          <a:p>
            <a:pPr algn="l">
              <a:lnSpc>
                <a:spcPct val="122000"/>
              </a:lnSpc>
              <a:spcBef>
                <a:spcPts val="800"/>
              </a:spcBef>
              <a:spcAft>
                <a:spcPts val="200"/>
              </a:spcAft>
            </a:pPr>
            <a:r>
              <a:rPr sz="1550" b="1" i="0">
                <a:solidFill>
                  <a:srgbClr val="EB6834"/>
                </a:solidFill>
                <a:latin typeface="Helvetica Neue"/>
              </a:rPr>
              <a:t>▸  </a:t>
            </a:r>
            <a:r>
              <a:rPr sz="1550" b="1" i="0">
                <a:solidFill>
                  <a:srgbClr val="0B0B0B"/>
                </a:solidFill>
                <a:latin typeface="Helvetica Neue"/>
              </a:rPr>
              <a:t>Four leaks found and removed  </a:t>
            </a:r>
            <a:r>
              <a:rPr sz="1550" b="0" i="0">
                <a:solidFill>
                  <a:srgbClr val="52514E"/>
                </a:solidFill>
                <a:latin typeface="Helvetica Neue"/>
              </a:rPr>
              <a:t>anomalies had been standardised on the full panel; the target had been winsorised at full-sample percentiles</a:t>
            </a:r>
          </a:p>
          <a:p>
            <a:pPr algn="l">
              <a:lnSpc>
                <a:spcPct val="122000"/>
              </a:lnSpc>
              <a:spcBef>
                <a:spcPts val="800"/>
              </a:spcBef>
              <a:spcAft>
                <a:spcPts val="200"/>
              </a:spcAft>
            </a:pPr>
            <a:r>
              <a:rPr sz="1550" b="1" i="0">
                <a:solidFill>
                  <a:srgbClr val="EB6834"/>
                </a:solidFill>
                <a:latin typeface="Helvetica Neue"/>
              </a:rPr>
              <a:t>▸  </a:t>
            </a:r>
            <a:r>
              <a:rPr sz="1550" b="1" i="0">
                <a:solidFill>
                  <a:srgbClr val="0B0B0B"/>
                </a:solidFill>
                <a:latin typeface="Helvetica Neue"/>
              </a:rPr>
              <a:t>Yield lags dropped, not repaired  </a:t>
            </a:r>
            <a:r>
              <a:rPr sz="1550" b="0" i="0">
                <a:solidFill>
                  <a:srgbClr val="52514E"/>
                </a:solidFill>
                <a:latin typeface="Helvetica Neue"/>
              </a:rPr>
              <a:t>under LOYO the row for year k+1 carries year k's observed yield — no clean fix inside this protocol</a:t>
            </a:r>
          </a:p>
          <a:p>
            <a:pPr algn="l">
              <a:lnSpc>
                <a:spcPct val="122000"/>
              </a:lnSpc>
              <a:spcBef>
                <a:spcPts val="800"/>
              </a:spcBef>
              <a:spcAft>
                <a:spcPts val="200"/>
              </a:spcAft>
            </a:pPr>
            <a:r>
              <a:rPr sz="1550" b="1" i="0">
                <a:solidFill>
                  <a:srgbClr val="EB6834"/>
                </a:solidFill>
                <a:latin typeface="Helvetica Neue"/>
              </a:rPr>
              <a:t>▸  </a:t>
            </a:r>
            <a:r>
              <a:rPr sz="1550" b="1" i="0">
                <a:solidFill>
                  <a:srgbClr val="0B0B0B"/>
                </a:solidFill>
                <a:latin typeface="Helvetica Neue"/>
              </a:rPr>
              <a:t>Observations weighted by area  </a:t>
            </a:r>
            <a:r>
              <a:rPr sz="1550" b="0" i="0">
                <a:solidFill>
                  <a:srgbClr val="52514E"/>
                </a:solidFill>
                <a:latin typeface="Helvetica Neue"/>
              </a:rPr>
              <a:t>cells span 3.5 to 1,765 hectares; treating them as equally reliable is not defensible</a:t>
            </a:r>
          </a:p>
        </p:txBody>
      </p:sp>
      <p:sp>
        <p:nvSpPr>
          <p:cNvPr id="6" name="Rectangle 5"/>
          <p:cNvSpPr/>
          <p:nvPr/>
        </p:nvSpPr>
        <p:spPr>
          <a:xfrm>
            <a:off x="777240" y="5623560"/>
            <a:ext cx="10637215" cy="731520"/>
          </a:xfrm>
          <a:prstGeom prst="rect">
            <a:avLst/>
          </a:prstGeom>
          <a:solidFill>
            <a:srgbClr val="F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5623560"/>
            <a:ext cx="54864" cy="7315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88575" cy="731520"/>
          </a:xfrm>
          <a:prstGeom prst="rect">
            <a:avLst/>
          </a:prstGeom>
          <a:noFill/>
        </p:spPr>
        <p:txBody>
          <a:bodyPr wrap="square" anchor="ctr" lIns="0" rIns="0" tIns="0" bIns="0">
            <a:spAutoFit/>
          </a:bodyPr>
          <a:lstStyle/>
          <a:p>
            <a:pPr algn="l">
              <a:spcBef>
                <a:spcPts val="0"/>
              </a:spcBef>
              <a:spcAft>
                <a:spcPts val="600"/>
              </a:spcAft>
            </a:pPr>
            <a:r>
              <a:rPr sz="1500" b="1" i="0">
                <a:solidFill>
                  <a:srgbClr val="0D366B"/>
                </a:solidFill>
                <a:latin typeface="Helvetica Neue"/>
              </a:rPr>
              <a:t>An honest protocol is why our numbers are lower than published work using random splits.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9264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1560" y="2377440"/>
            <a:ext cx="9601200" cy="457200"/>
          </a:xfrm>
          <a:prstGeom prst="rect">
            <a:avLst/>
          </a:prstGeom>
          <a:noFill/>
        </p:spPr>
        <p:txBody>
          <a:bodyPr wrap="square" anchor="t" lIns="0" rIns="0" tIns="0" bIns="0">
            <a:spAutoFit/>
          </a:bodyPr>
          <a:lstStyle/>
          <a:p>
            <a:pPr algn="l">
              <a:spcBef>
                <a:spcPts val="0"/>
              </a:spcBef>
              <a:spcAft>
                <a:spcPts val="600"/>
              </a:spcAft>
            </a:pPr>
            <a:r>
              <a:rPr sz="1600" b="1" i="0">
                <a:solidFill>
                  <a:srgbClr val="EB6834"/>
                </a:solidFill>
                <a:latin typeface="Helvetica Neue"/>
              </a:rPr>
              <a:t>04</a:t>
            </a:r>
          </a:p>
        </p:txBody>
      </p:sp>
      <p:sp>
        <p:nvSpPr>
          <p:cNvPr id="4" name="TextBox 3"/>
          <p:cNvSpPr txBox="1"/>
          <p:nvPr/>
        </p:nvSpPr>
        <p:spPr>
          <a:xfrm>
            <a:off x="1051560" y="2834640"/>
            <a:ext cx="9601200" cy="914400"/>
          </a:xfrm>
          <a:prstGeom prst="rect">
            <a:avLst/>
          </a:prstGeom>
          <a:noFill/>
        </p:spPr>
        <p:txBody>
          <a:bodyPr wrap="square" anchor="t" lIns="0" rIns="0" tIns="0" bIns="0">
            <a:spAutoFit/>
          </a:bodyPr>
          <a:lstStyle/>
          <a:p>
            <a:pPr algn="l">
              <a:spcBef>
                <a:spcPts val="0"/>
              </a:spcBef>
              <a:spcAft>
                <a:spcPts val="600"/>
              </a:spcAft>
            </a:pPr>
            <a:r>
              <a:rPr sz="3600" b="1" i="0">
                <a:solidFill>
                  <a:srgbClr val="FFFFFF"/>
                </a:solidFill>
                <a:latin typeface="Helvetica Neue"/>
              </a:rPr>
              <a:t>Results</a:t>
            </a:r>
          </a:p>
        </p:txBody>
      </p:sp>
      <p:sp>
        <p:nvSpPr>
          <p:cNvPr id="5" name="TextBox 4"/>
          <p:cNvSpPr txBox="1"/>
          <p:nvPr/>
        </p:nvSpPr>
        <p:spPr>
          <a:xfrm>
            <a:off x="1051560" y="3886200"/>
            <a:ext cx="8686800" cy="914400"/>
          </a:xfrm>
          <a:prstGeom prst="rect">
            <a:avLst/>
          </a:prstGeom>
          <a:noFill/>
        </p:spPr>
        <p:txBody>
          <a:bodyPr wrap="square" anchor="t" lIns="0" rIns="0" tIns="0" bIns="0">
            <a:spAutoFit/>
          </a:bodyPr>
          <a:lstStyle/>
          <a:p>
            <a:pPr algn="l">
              <a:lnSpc>
                <a:spcPct val="130000"/>
              </a:lnSpc>
              <a:spcBef>
                <a:spcPts val="0"/>
              </a:spcBef>
              <a:spcAft>
                <a:spcPts val="600"/>
              </a:spcAft>
            </a:pPr>
            <a:r>
              <a:rPr sz="1700" b="0" i="0">
                <a:solidFill>
                  <a:srgbClr val="CDE2FB"/>
                </a:solidFill>
                <a:latin typeface="Helvetica Neue"/>
              </a:rPr>
              <a:t>What we found when we audited our own data — and what the corrected panel can and cannot support.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RESULTS</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We audited our own dataset. It did not survive.</a:t>
            </a:r>
          </a:p>
        </p:txBody>
      </p:sp>
      <p:sp>
        <p:nvSpPr>
          <p:cNvPr id="5" name="Rectangle 4"/>
          <p:cNvSpPr/>
          <p:nvPr/>
        </p:nvSpPr>
        <p:spPr>
          <a:xfrm>
            <a:off x="777240" y="2194560"/>
            <a:ext cx="3350666" cy="2651760"/>
          </a:xfrm>
          <a:prstGeom prst="rect">
            <a:avLst/>
          </a:prstGeom>
          <a:solidFill>
            <a:srgbClr val="F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2194560"/>
            <a:ext cx="3350666" cy="640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2" y="2761488"/>
            <a:ext cx="2838602" cy="1097280"/>
          </a:xfrm>
          <a:prstGeom prst="rect">
            <a:avLst/>
          </a:prstGeom>
          <a:noFill/>
        </p:spPr>
        <p:txBody>
          <a:bodyPr wrap="square" anchor="t" lIns="0" rIns="0" tIns="0" bIns="0">
            <a:spAutoFit/>
          </a:bodyPr>
          <a:lstStyle/>
          <a:p>
            <a:pPr algn="l">
              <a:spcBef>
                <a:spcPts val="0"/>
              </a:spcBef>
              <a:spcAft>
                <a:spcPts val="600"/>
              </a:spcAft>
            </a:pPr>
            <a:r>
              <a:rPr sz="4800" b="1" i="0">
                <a:solidFill>
                  <a:srgbClr val="EB6834"/>
                </a:solidFill>
                <a:latin typeface="Helvetica Neue"/>
              </a:rPr>
              <a:t>40%</a:t>
            </a:r>
          </a:p>
        </p:txBody>
      </p:sp>
      <p:sp>
        <p:nvSpPr>
          <p:cNvPr id="8" name="TextBox 7"/>
          <p:cNvSpPr txBox="1"/>
          <p:nvPr/>
        </p:nvSpPr>
        <p:spPr>
          <a:xfrm>
            <a:off x="1033272" y="3886200"/>
            <a:ext cx="2838602" cy="822960"/>
          </a:xfrm>
          <a:prstGeom prst="rect">
            <a:avLst/>
          </a:prstGeom>
          <a:noFill/>
        </p:spPr>
        <p:txBody>
          <a:bodyPr wrap="square" anchor="t" lIns="0" rIns="0" tIns="0" bIns="0">
            <a:spAutoFit/>
          </a:bodyPr>
          <a:lstStyle/>
          <a:p>
            <a:pPr algn="l">
              <a:lnSpc>
                <a:spcPct val="122000"/>
              </a:lnSpc>
              <a:spcBef>
                <a:spcPts val="0"/>
              </a:spcBef>
              <a:spcAft>
                <a:spcPts val="600"/>
              </a:spcAft>
            </a:pPr>
            <a:r>
              <a:rPr sz="1400" b="0" i="0">
                <a:solidFill>
                  <a:srgbClr val="52514E"/>
                </a:solidFill>
                <a:latin typeface="Helvetica Neue"/>
              </a:rPr>
              <a:t>of the target variable was fabricated — 50 of 124 month-rows</a:t>
            </a:r>
          </a:p>
        </p:txBody>
      </p:sp>
      <p:sp>
        <p:nvSpPr>
          <p:cNvPr id="9" name="Rectangle 8"/>
          <p:cNvSpPr/>
          <p:nvPr/>
        </p:nvSpPr>
        <p:spPr>
          <a:xfrm>
            <a:off x="4420514" y="2194560"/>
            <a:ext cx="3350666" cy="2651760"/>
          </a:xfrm>
          <a:prstGeom prst="rect">
            <a:avLst/>
          </a:prstGeom>
          <a:solidFill>
            <a:srgbClr val="F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20514" y="2194560"/>
            <a:ext cx="3350666" cy="64008"/>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76546" y="2761488"/>
            <a:ext cx="2838602" cy="1097280"/>
          </a:xfrm>
          <a:prstGeom prst="rect">
            <a:avLst/>
          </a:prstGeom>
          <a:noFill/>
        </p:spPr>
        <p:txBody>
          <a:bodyPr wrap="square" anchor="t" lIns="0" rIns="0" tIns="0" bIns="0">
            <a:spAutoFit/>
          </a:bodyPr>
          <a:lstStyle/>
          <a:p>
            <a:pPr algn="l">
              <a:spcBef>
                <a:spcPts val="0"/>
              </a:spcBef>
              <a:spcAft>
                <a:spcPts val="600"/>
              </a:spcAft>
            </a:pPr>
            <a:r>
              <a:rPr sz="4800" b="1" i="0">
                <a:solidFill>
                  <a:srgbClr val="4A3AA7"/>
                </a:solidFill>
                <a:latin typeface="Helvetica Neue"/>
              </a:rPr>
              <a:t>442</a:t>
            </a:r>
          </a:p>
        </p:txBody>
      </p:sp>
      <p:sp>
        <p:nvSpPr>
          <p:cNvPr id="12" name="TextBox 11"/>
          <p:cNvSpPr txBox="1"/>
          <p:nvPr/>
        </p:nvSpPr>
        <p:spPr>
          <a:xfrm>
            <a:off x="4676546" y="3886200"/>
            <a:ext cx="2838602" cy="822960"/>
          </a:xfrm>
          <a:prstGeom prst="rect">
            <a:avLst/>
          </a:prstGeom>
          <a:noFill/>
        </p:spPr>
        <p:txBody>
          <a:bodyPr wrap="square" anchor="t" lIns="0" rIns="0" tIns="0" bIns="0">
            <a:spAutoFit/>
          </a:bodyPr>
          <a:lstStyle/>
          <a:p>
            <a:pPr algn="l">
              <a:lnSpc>
                <a:spcPct val="122000"/>
              </a:lnSpc>
              <a:spcBef>
                <a:spcPts val="0"/>
              </a:spcBef>
              <a:spcAft>
                <a:spcPts val="600"/>
              </a:spcAft>
            </a:pPr>
            <a:r>
              <a:rPr sz="1400" b="0" i="0">
                <a:solidFill>
                  <a:srgbClr val="52514E"/>
                </a:solidFill>
                <a:latin typeface="Helvetica Neue"/>
              </a:rPr>
              <a:t>MT/ha implied by one record; onion's world record is ~100</a:t>
            </a:r>
          </a:p>
        </p:txBody>
      </p:sp>
      <p:sp>
        <p:nvSpPr>
          <p:cNvPr id="13" name="Rectangle 12"/>
          <p:cNvSpPr/>
          <p:nvPr/>
        </p:nvSpPr>
        <p:spPr>
          <a:xfrm>
            <a:off x="8063788" y="2194560"/>
            <a:ext cx="3350666" cy="2651760"/>
          </a:xfrm>
          <a:prstGeom prst="rect">
            <a:avLst/>
          </a:prstGeom>
          <a:solidFill>
            <a:srgbClr val="F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3788" y="2194560"/>
            <a:ext cx="3350666"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19820" y="2761488"/>
            <a:ext cx="2838602" cy="1097280"/>
          </a:xfrm>
          <a:prstGeom prst="rect">
            <a:avLst/>
          </a:prstGeom>
          <a:noFill/>
        </p:spPr>
        <p:txBody>
          <a:bodyPr wrap="square" anchor="t" lIns="0" rIns="0" tIns="0" bIns="0">
            <a:spAutoFit/>
          </a:bodyPr>
          <a:lstStyle/>
          <a:p>
            <a:pPr algn="l">
              <a:spcBef>
                <a:spcPts val="0"/>
              </a:spcBef>
              <a:spcAft>
                <a:spcPts val="600"/>
              </a:spcAft>
            </a:pPr>
            <a:r>
              <a:rPr sz="4800" b="1" i="0">
                <a:solidFill>
                  <a:srgbClr val="2A78D6"/>
                </a:solidFill>
                <a:latin typeface="Helvetica Neue"/>
              </a:rPr>
              <a:t>0.68</a:t>
            </a:r>
          </a:p>
        </p:txBody>
      </p:sp>
      <p:sp>
        <p:nvSpPr>
          <p:cNvPr id="16" name="TextBox 15"/>
          <p:cNvSpPr txBox="1"/>
          <p:nvPr/>
        </p:nvSpPr>
        <p:spPr>
          <a:xfrm>
            <a:off x="8319820" y="3886200"/>
            <a:ext cx="2838602" cy="822960"/>
          </a:xfrm>
          <a:prstGeom prst="rect">
            <a:avLst/>
          </a:prstGeom>
          <a:noFill/>
        </p:spPr>
        <p:txBody>
          <a:bodyPr wrap="square" anchor="t" lIns="0" rIns="0" tIns="0" bIns="0">
            <a:spAutoFit/>
          </a:bodyPr>
          <a:lstStyle/>
          <a:p>
            <a:pPr algn="l">
              <a:lnSpc>
                <a:spcPct val="122000"/>
              </a:lnSpc>
              <a:spcBef>
                <a:spcPts val="0"/>
              </a:spcBef>
              <a:spcAft>
                <a:spcPts val="600"/>
              </a:spcAft>
            </a:pPr>
            <a:r>
              <a:rPr sz="1400" b="0" i="0">
                <a:solidFill>
                  <a:srgbClr val="52514E"/>
                </a:solidFill>
                <a:latin typeface="Helvetica Neue"/>
              </a:rPr>
              <a:t>correlation between the old target and the corrected one</a:t>
            </a:r>
          </a:p>
        </p:txBody>
      </p:sp>
      <p:sp>
        <p:nvSpPr>
          <p:cNvPr id="17" name="TextBox 16"/>
          <p:cNvSpPr txBox="1"/>
          <p:nvPr/>
        </p:nvSpPr>
        <p:spPr>
          <a:xfrm>
            <a:off x="777240" y="5257800"/>
            <a:ext cx="10637215" cy="731520"/>
          </a:xfrm>
          <a:prstGeom prst="rect">
            <a:avLst/>
          </a:prstGeom>
          <a:noFill/>
        </p:spPr>
        <p:txBody>
          <a:bodyPr wrap="square" anchor="t" lIns="0" rIns="0" tIns="0" bIns="0">
            <a:spAutoFit/>
          </a:bodyPr>
          <a:lstStyle/>
          <a:p>
            <a:pPr algn="l">
              <a:lnSpc>
                <a:spcPct val="125000"/>
              </a:lnSpc>
              <a:spcBef>
                <a:spcPts val="0"/>
              </a:spcBef>
              <a:spcAft>
                <a:spcPts val="600"/>
              </a:spcAft>
            </a:pPr>
            <a:r>
              <a:rPr sz="1500" b="0" i="0">
                <a:solidFill>
                  <a:srgbClr val="52514E"/>
                </a:solidFill>
                <a:latin typeface="Helvetica Neue"/>
              </a:rPr>
              <a:t>The fabrication reached the TARGET, not just the covariates: yield varies month to month within every cell and the target was their unweighted mean. Rebuilt from 87 genuine DCS records as total production over total harvested area.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RESULTS</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The 0.75 target was not difficult. It was unattainable.</a:t>
            </a:r>
          </a:p>
        </p:txBody>
      </p:sp>
      <p:pic>
        <p:nvPicPr>
          <p:cNvPr id="5" name="Picture 4" descr="variance_ceiling.png"/>
          <p:cNvPicPr>
            <a:picLocks noChangeAspect="1"/>
          </p:cNvPicPr>
          <p:nvPr/>
        </p:nvPicPr>
        <p:blipFill>
          <a:blip r:embed="rId2"/>
          <a:stretch>
            <a:fillRect/>
          </a:stretch>
        </p:blipFill>
        <p:spPr>
          <a:xfrm>
            <a:off x="777240" y="1783080"/>
            <a:ext cx="10637215" cy="4037750"/>
          </a:xfrm>
          <a:prstGeom prst="rect">
            <a:avLst/>
          </a:prstGeom>
        </p:spPr>
      </p:pic>
      <p:sp>
        <p:nvSpPr>
          <p:cNvPr id="6" name="TextBox 5"/>
          <p:cNvSpPr txBox="1"/>
          <p:nvPr/>
        </p:nvSpPr>
        <p:spPr>
          <a:xfrm>
            <a:off x="777240" y="5967134"/>
            <a:ext cx="10637215" cy="457200"/>
          </a:xfrm>
          <a:prstGeom prst="rect">
            <a:avLst/>
          </a:prstGeom>
          <a:noFill/>
        </p:spPr>
        <p:txBody>
          <a:bodyPr wrap="square" anchor="t" lIns="0" rIns="0" tIns="0" bIns="0">
            <a:spAutoFit/>
          </a:bodyPr>
          <a:lstStyle/>
          <a:p>
            <a:pPr algn="l">
              <a:spcBef>
                <a:spcPts val="0"/>
              </a:spcBef>
              <a:spcAft>
                <a:spcPts val="600"/>
              </a:spcAft>
            </a:pPr>
            <a:r>
              <a:rPr sz="1300" b="0" i="0">
                <a:solidFill>
                  <a:srgbClr val="8A8983"/>
                </a:solidFill>
                <a:latin typeface="Helvetica Neue"/>
              </a:rPr>
              <a:t>64% of variance lies between years and leave-one-year-out removes it by construction; measurement error is 54% of what remains within a year.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RESULTS</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Every model loses to predicting the mean</a:t>
            </a:r>
          </a:p>
        </p:txBody>
      </p:sp>
      <p:pic>
        <p:nvPicPr>
          <p:cNvPr id="5" name="Picture 4" descr="padr_scoreboard.png"/>
          <p:cNvPicPr>
            <a:picLocks noChangeAspect="1"/>
          </p:cNvPicPr>
          <p:nvPr/>
        </p:nvPicPr>
        <p:blipFill>
          <a:blip r:embed="rId2"/>
          <a:stretch>
            <a:fillRect/>
          </a:stretch>
        </p:blipFill>
        <p:spPr>
          <a:xfrm>
            <a:off x="2028075" y="1783080"/>
            <a:ext cx="8135545" cy="4343400"/>
          </a:xfrm>
          <a:prstGeom prst="rect">
            <a:avLst/>
          </a:prstGeom>
        </p:spPr>
      </p:pic>
      <p:sp>
        <p:nvSpPr>
          <p:cNvPr id="6" name="TextBox 5"/>
          <p:cNvSpPr txBox="1"/>
          <p:nvPr/>
        </p:nvSpPr>
        <p:spPr>
          <a:xfrm>
            <a:off x="777240" y="6272784"/>
            <a:ext cx="10637215" cy="457200"/>
          </a:xfrm>
          <a:prstGeom prst="rect">
            <a:avLst/>
          </a:prstGeom>
          <a:noFill/>
        </p:spPr>
        <p:txBody>
          <a:bodyPr wrap="square" anchor="t" lIns="0" rIns="0" tIns="0" bIns="0">
            <a:spAutoFit/>
          </a:bodyPr>
          <a:lstStyle/>
          <a:p>
            <a:pPr algn="l">
              <a:spcBef>
                <a:spcPts val="0"/>
              </a:spcBef>
              <a:spcAft>
                <a:spcPts val="600"/>
              </a:spcAft>
            </a:pPr>
            <a:r>
              <a:rPr sz="1300" b="0" i="0">
                <a:solidFill>
                  <a:srgbClr val="8A8983"/>
                </a:solidFill>
                <a:latin typeface="Helvetica Neue"/>
              </a:rPr>
              <a:t>Leave-one-year-out R² on the corrected target. The oracle row uses the held-out year's own mean and is not achievable — it bounds what perfect knowledge of the year effect would buy.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RESULTS</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Why: the stress index cannot move far enough</a:t>
            </a:r>
          </a:p>
        </p:txBody>
      </p:sp>
      <p:pic>
        <p:nvPicPr>
          <p:cNvPr id="5" name="Picture 4" descr="stress_vs_yield.png"/>
          <p:cNvPicPr>
            <a:picLocks noChangeAspect="1"/>
          </p:cNvPicPr>
          <p:nvPr/>
        </p:nvPicPr>
        <p:blipFill>
          <a:blip r:embed="rId2"/>
          <a:stretch>
            <a:fillRect/>
          </a:stretch>
        </p:blipFill>
        <p:spPr>
          <a:xfrm>
            <a:off x="777240" y="1783080"/>
            <a:ext cx="10637215" cy="4058695"/>
          </a:xfrm>
          <a:prstGeom prst="rect">
            <a:avLst/>
          </a:prstGeom>
        </p:spPr>
      </p:pic>
      <p:sp>
        <p:nvSpPr>
          <p:cNvPr id="6" name="TextBox 5"/>
          <p:cNvSpPr txBox="1"/>
          <p:nvPr/>
        </p:nvSpPr>
        <p:spPr>
          <a:xfrm>
            <a:off x="777240" y="5988079"/>
            <a:ext cx="10637215" cy="457200"/>
          </a:xfrm>
          <a:prstGeom prst="rect">
            <a:avLst/>
          </a:prstGeom>
          <a:noFill/>
        </p:spPr>
        <p:txBody>
          <a:bodyPr wrap="square" anchor="t" lIns="0" rIns="0" tIns="0" bIns="0">
            <a:spAutoFit/>
          </a:bodyPr>
          <a:lstStyle/>
          <a:p>
            <a:pPr algn="l">
              <a:spcBef>
                <a:spcPts val="0"/>
              </a:spcBef>
              <a:spcAft>
                <a:spcPts val="600"/>
              </a:spcAft>
            </a:pPr>
            <a:r>
              <a:rPr sz="1300" b="0" i="0">
                <a:solidFill>
                  <a:srgbClr val="8A8983"/>
                </a:solidFill>
                <a:latin typeface="Helvetica Neue"/>
              </a:rPr>
              <a:t>Stress index varies 8%. Observed yield varies 35%. Thermal stress is near-constant in the tropics, and water deficit almost never binds under tank irrigation.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RESULTS — THE LINCHPIN</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Would we have found a signal if one were there?</a:t>
            </a:r>
          </a:p>
        </p:txBody>
      </p:sp>
      <p:pic>
        <p:nvPicPr>
          <p:cNvPr id="5" name="Picture 4" descr="power_curve.png"/>
          <p:cNvPicPr>
            <a:picLocks noChangeAspect="1"/>
          </p:cNvPicPr>
          <p:nvPr/>
        </p:nvPicPr>
        <p:blipFill>
          <a:blip r:embed="rId2"/>
          <a:stretch>
            <a:fillRect/>
          </a:stretch>
        </p:blipFill>
        <p:spPr>
          <a:xfrm>
            <a:off x="1892342" y="1783080"/>
            <a:ext cx="8407010" cy="4343400"/>
          </a:xfrm>
          <a:prstGeom prst="rect">
            <a:avLst/>
          </a:prstGeom>
        </p:spPr>
      </p:pic>
      <p:sp>
        <p:nvSpPr>
          <p:cNvPr id="6" name="TextBox 5"/>
          <p:cNvSpPr txBox="1"/>
          <p:nvPr/>
        </p:nvSpPr>
        <p:spPr>
          <a:xfrm>
            <a:off x="777240" y="6272784"/>
            <a:ext cx="10637215" cy="457200"/>
          </a:xfrm>
          <a:prstGeom prst="rect">
            <a:avLst/>
          </a:prstGeom>
          <a:noFill/>
        </p:spPr>
        <p:txBody>
          <a:bodyPr wrap="square" anchor="t" lIns="0" rIns="0" tIns="0" bIns="0">
            <a:spAutoFit/>
          </a:bodyPr>
          <a:lstStyle/>
          <a:p>
            <a:pPr algn="l">
              <a:spcBef>
                <a:spcPts val="0"/>
              </a:spcBef>
              <a:spcAft>
                <a:spcPts val="600"/>
              </a:spcAft>
            </a:pPr>
            <a:r>
              <a:rPr sz="1300" b="0" i="0">
                <a:solidFill>
                  <a:srgbClr val="8A8983"/>
                </a:solidFill>
                <a:latin typeface="Helvetica Neue"/>
              </a:rPr>
              <a:t>On simulated panels PADR recovers a weather signal driving as little as 6% of yield variance at n=28. It recovered none from the real data — so the true signal is below 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RESULTS — THE POSITIVE FINDING</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FAO-33 overstates weather sensitivity for this crop</a:t>
            </a:r>
          </a:p>
        </p:txBody>
      </p:sp>
      <p:pic>
        <p:nvPicPr>
          <p:cNvPr id="5" name="Picture 4" descr="learned_constants.png"/>
          <p:cNvPicPr>
            <a:picLocks noChangeAspect="1"/>
          </p:cNvPicPr>
          <p:nvPr/>
        </p:nvPicPr>
        <p:blipFill>
          <a:blip r:embed="rId2"/>
          <a:stretch>
            <a:fillRect/>
          </a:stretch>
        </p:blipFill>
        <p:spPr>
          <a:xfrm>
            <a:off x="777240" y="1783080"/>
            <a:ext cx="10637215" cy="4172355"/>
          </a:xfrm>
          <a:prstGeom prst="rect">
            <a:avLst/>
          </a:prstGeom>
        </p:spPr>
      </p:pic>
      <p:sp>
        <p:nvSpPr>
          <p:cNvPr id="6" name="TextBox 5"/>
          <p:cNvSpPr txBox="1"/>
          <p:nvPr/>
        </p:nvSpPr>
        <p:spPr>
          <a:xfrm>
            <a:off x="777240" y="6101739"/>
            <a:ext cx="10637215" cy="457200"/>
          </a:xfrm>
          <a:prstGeom prst="rect">
            <a:avLst/>
          </a:prstGeom>
          <a:noFill/>
        </p:spPr>
        <p:txBody>
          <a:bodyPr wrap="square" anchor="t" lIns="0" rIns="0" tIns="0" bIns="0">
            <a:spAutoFit/>
          </a:bodyPr>
          <a:lstStyle/>
          <a:p>
            <a:pPr algn="l">
              <a:spcBef>
                <a:spcPts val="0"/>
              </a:spcBef>
              <a:spcAft>
                <a:spcPts val="600"/>
              </a:spcAft>
            </a:pPr>
            <a:r>
              <a:rPr sz="1300" b="0" i="0">
                <a:solidFill>
                  <a:srgbClr val="8A8983"/>
                </a:solidFill>
                <a:latin typeface="Helvetica Neue"/>
              </a:rPr>
              <a:t>Pinning the coefficients to published values produces the right amount of variation (35%) but the worst score of any configuration (R² −1.54). T_opt and W_max are recovered to within 3%; Ky and T_crit are NOT identifiable at n=28 and are not claimed.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RESULTS</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Two claims survived. Two did not.</a:t>
            </a:r>
          </a:p>
        </p:txBody>
      </p:sp>
      <p:pic>
        <p:nvPicPr>
          <p:cNvPr id="5" name="Picture 4" descr="ablation_claims.png"/>
          <p:cNvPicPr>
            <a:picLocks noChangeAspect="1"/>
          </p:cNvPicPr>
          <p:nvPr/>
        </p:nvPicPr>
        <p:blipFill>
          <a:blip r:embed="rId2"/>
          <a:stretch>
            <a:fillRect/>
          </a:stretch>
        </p:blipFill>
        <p:spPr>
          <a:xfrm>
            <a:off x="1548642" y="1783080"/>
            <a:ext cx="9094411" cy="4343400"/>
          </a:xfrm>
          <a:prstGeom prst="rect">
            <a:avLst/>
          </a:prstGeom>
        </p:spPr>
      </p:pic>
      <p:sp>
        <p:nvSpPr>
          <p:cNvPr id="6" name="TextBox 5"/>
          <p:cNvSpPr txBox="1"/>
          <p:nvPr/>
        </p:nvSpPr>
        <p:spPr>
          <a:xfrm>
            <a:off x="777240" y="6272784"/>
            <a:ext cx="10637215" cy="457200"/>
          </a:xfrm>
          <a:prstGeom prst="rect">
            <a:avLst/>
          </a:prstGeom>
          <a:noFill/>
        </p:spPr>
        <p:txBody>
          <a:bodyPr wrap="square" anchor="t" lIns="0" rIns="0" tIns="0" bIns="0">
            <a:spAutoFit/>
          </a:bodyPr>
          <a:lstStyle/>
          <a:p>
            <a:pPr algn="l">
              <a:spcBef>
                <a:spcPts val="0"/>
              </a:spcBef>
              <a:spcAft>
                <a:spcPts val="600"/>
              </a:spcAft>
            </a:pPr>
            <a:r>
              <a:rPr sz="1300" b="0" i="0">
                <a:solidFill>
                  <a:srgbClr val="8A8983"/>
                </a:solidFill>
                <a:latin typeface="Helvetica Neue"/>
              </a:rPr>
              <a:t>Each design claim tested against its own control. Learning the physics and moderate shrinkage are supported; thermal-time indexing and the waterlogging term are not.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RESULTS</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When does weather matter for onion?</a:t>
            </a:r>
          </a:p>
        </p:txBody>
      </p:sp>
      <p:pic>
        <p:nvPicPr>
          <p:cNvPr id="5" name="Picture 4" descr="beta_curve.png"/>
          <p:cNvPicPr>
            <a:picLocks noChangeAspect="1"/>
          </p:cNvPicPr>
          <p:nvPr/>
        </p:nvPicPr>
        <p:blipFill>
          <a:blip r:embed="rId2"/>
          <a:stretch>
            <a:fillRect/>
          </a:stretch>
        </p:blipFill>
        <p:spPr>
          <a:xfrm>
            <a:off x="1885681" y="1783080"/>
            <a:ext cx="8420333" cy="4343400"/>
          </a:xfrm>
          <a:prstGeom prst="rect">
            <a:avLst/>
          </a:prstGeom>
        </p:spPr>
      </p:pic>
      <p:sp>
        <p:nvSpPr>
          <p:cNvPr id="6" name="TextBox 5"/>
          <p:cNvSpPr txBox="1"/>
          <p:nvPr/>
        </p:nvSpPr>
        <p:spPr>
          <a:xfrm>
            <a:off x="777240" y="6272784"/>
            <a:ext cx="10637215" cy="457200"/>
          </a:xfrm>
          <a:prstGeom prst="rect">
            <a:avLst/>
          </a:prstGeom>
          <a:noFill/>
        </p:spPr>
        <p:txBody>
          <a:bodyPr wrap="square" anchor="t" lIns="0" rIns="0" tIns="0" bIns="0">
            <a:spAutoFit/>
          </a:bodyPr>
          <a:lstStyle/>
          <a:p>
            <a:pPr algn="l">
              <a:spcBef>
                <a:spcPts val="0"/>
              </a:spcBef>
              <a:spcAft>
                <a:spcPts val="600"/>
              </a:spcAft>
            </a:pPr>
            <a:r>
              <a:rPr sz="1300" b="0" i="0">
                <a:solidFill>
                  <a:srgbClr val="8A8983"/>
                </a:solidFill>
                <a:latin typeface="Helvetica Neue"/>
              </a:rPr>
              <a:t>Estimated sensitivity declines monotonically — roughly seven times more weight on establishment than on harvest. Band shows the range across folds.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RESULTS</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Honest intervals — and what they reveal</a:t>
            </a:r>
          </a:p>
        </p:txBody>
      </p:sp>
      <p:graphicFrame>
        <p:nvGraphicFramePr>
          <p:cNvPr id="5" name="Table 4"/>
          <p:cNvGraphicFramePr>
            <a:graphicFrameLocks noGrp="1"/>
          </p:cNvGraphicFramePr>
          <p:nvPr/>
        </p:nvGraphicFramePr>
        <p:xfrm>
          <a:off x="777240" y="1920240"/>
          <a:ext cx="10637213" cy="2304288"/>
        </p:xfrm>
        <a:graphic>
          <a:graphicData uri="http://schemas.openxmlformats.org/drawingml/2006/table">
            <a:tbl>
              <a:tblPr firstRow="1" bandRow="1">
                <a:tableStyleId>{5C22544A-7EE6-4342-B048-85BDC9FD1C3A}</a:tableStyleId>
              </a:tblPr>
              <a:tblGrid>
                <a:gridCol w="4702768"/>
                <a:gridCol w="2687296"/>
                <a:gridCol w="3247149"/>
              </a:tblGrid>
              <a:tr h="384048">
                <a:tc>
                  <a:txBody>
                    <a:bodyPr wrap="square"/>
                    <a:lstStyle/>
                    <a:p>
                      <a:pPr algn="l"/>
                      <a:r>
                        <a:rPr sz="1200" b="1" i="0">
                          <a:solidFill>
                            <a:srgbClr val="FFFFFF"/>
                          </a:solidFill>
                          <a:latin typeface="Helvetica Neue"/>
                        </a:rPr>
                        <a:t>Model</a:t>
                      </a:r>
                    </a:p>
                  </a:txBody>
                  <a:tcPr marL="91440" marR="91440">
                    <a:solidFill>
                      <a:srgbClr val="0D366B"/>
                    </a:solidFill>
                  </a:tcPr>
                </a:tc>
                <a:tc>
                  <a:txBody>
                    <a:bodyPr wrap="square"/>
                    <a:lstStyle/>
                    <a:p>
                      <a:pPr algn="l"/>
                      <a:r>
                        <a:rPr sz="1200" b="1" i="0">
                          <a:solidFill>
                            <a:srgbClr val="FFFFFF"/>
                          </a:solidFill>
                          <a:latin typeface="Helvetica Neue"/>
                        </a:rPr>
                        <a:t>Coverage</a:t>
                      </a:r>
                    </a:p>
                  </a:txBody>
                  <a:tcPr marL="91440" marR="91440">
                    <a:solidFill>
                      <a:srgbClr val="0D366B"/>
                    </a:solidFill>
                  </a:tcPr>
                </a:tc>
                <a:tc>
                  <a:txBody>
                    <a:bodyPr wrap="square"/>
                    <a:lstStyle/>
                    <a:p>
                      <a:pPr algn="l"/>
                      <a:r>
                        <a:rPr sz="1200" b="1" i="0">
                          <a:solidFill>
                            <a:srgbClr val="FFFFFF"/>
                          </a:solidFill>
                          <a:latin typeface="Helvetica Neue"/>
                        </a:rPr>
                        <a:t>Half-width (MT/ha)</a:t>
                      </a:r>
                    </a:p>
                  </a:txBody>
                  <a:tcPr marL="91440" marR="91440">
                    <a:solidFill>
                      <a:srgbClr val="0D366B"/>
                    </a:solidFill>
                  </a:tcPr>
                </a:tc>
              </a:tr>
              <a:tr h="384048">
                <a:tc>
                  <a:txBody>
                    <a:bodyPr wrap="square"/>
                    <a:lstStyle/>
                    <a:p>
                      <a:pPr algn="l"/>
                      <a:r>
                        <a:rPr sz="1150" b="0" i="0">
                          <a:solidFill>
                            <a:srgbClr val="52514E"/>
                          </a:solidFill>
                          <a:latin typeface="Helvetica Neue"/>
                        </a:rPr>
                        <a:t>Oracle year-mean (not achievable)</a:t>
                      </a:r>
                    </a:p>
                  </a:txBody>
                  <a:tcPr marL="91440" marR="91440">
                    <a:solidFill>
                      <a:srgbClr val="F7F6F4"/>
                    </a:solidFill>
                  </a:tcPr>
                </a:tc>
                <a:tc>
                  <a:txBody>
                    <a:bodyPr wrap="square"/>
                    <a:lstStyle/>
                    <a:p>
                      <a:pPr algn="l"/>
                      <a:r>
                        <a:rPr sz="1150" b="0" i="0">
                          <a:solidFill>
                            <a:srgbClr val="52514E"/>
                          </a:solidFill>
                          <a:latin typeface="Helvetica Neue"/>
                        </a:rPr>
                        <a:t>0.929</a:t>
                      </a:r>
                    </a:p>
                  </a:txBody>
                  <a:tcPr marL="91440" marR="91440">
                    <a:solidFill>
                      <a:srgbClr val="F7F6F4"/>
                    </a:solidFill>
                  </a:tcPr>
                </a:tc>
                <a:tc>
                  <a:txBody>
                    <a:bodyPr wrap="square"/>
                    <a:lstStyle/>
                    <a:p>
                      <a:pPr algn="l"/>
                      <a:r>
                        <a:rPr sz="1150" b="0" i="0">
                          <a:solidFill>
                            <a:srgbClr val="52514E"/>
                          </a:solidFill>
                          <a:latin typeface="Helvetica Neue"/>
                        </a:rPr>
                        <a:t>6.70</a:t>
                      </a:r>
                    </a:p>
                  </a:txBody>
                  <a:tcPr marL="91440" marR="91440">
                    <a:solidFill>
                      <a:srgbClr val="F7F6F4"/>
                    </a:solidFill>
                  </a:tcPr>
                </a:tc>
              </a:tr>
              <a:tr h="384048">
                <a:tc>
                  <a:txBody>
                    <a:bodyPr wrap="square"/>
                    <a:lstStyle/>
                    <a:p>
                      <a:pPr algn="l"/>
                      <a:r>
                        <a:rPr sz="1150" b="0" i="0">
                          <a:solidFill>
                            <a:srgbClr val="52514E"/>
                          </a:solidFill>
                          <a:latin typeface="Helvetica Neue"/>
                        </a:rPr>
                        <a:t>Train mean</a:t>
                      </a:r>
                    </a:p>
                  </a:txBody>
                  <a:tcPr marL="91440" marR="91440">
                    <a:solidFill>
                      <a:srgbClr val="FCFCFB"/>
                    </a:solidFill>
                  </a:tcPr>
                </a:tc>
                <a:tc>
                  <a:txBody>
                    <a:bodyPr wrap="square"/>
                    <a:lstStyle/>
                    <a:p>
                      <a:pPr algn="l"/>
                      <a:r>
                        <a:rPr sz="1150" b="0" i="0">
                          <a:solidFill>
                            <a:srgbClr val="52514E"/>
                          </a:solidFill>
                          <a:latin typeface="Helvetica Neue"/>
                        </a:rPr>
                        <a:t>0.893</a:t>
                      </a:r>
                    </a:p>
                  </a:txBody>
                  <a:tcPr marL="91440" marR="91440">
                    <a:solidFill>
                      <a:srgbClr val="FCFCFB"/>
                    </a:solidFill>
                  </a:tcPr>
                </a:tc>
                <a:tc>
                  <a:txBody>
                    <a:bodyPr wrap="square"/>
                    <a:lstStyle/>
                    <a:p>
                      <a:pPr algn="l"/>
                      <a:r>
                        <a:rPr sz="1150" b="0" i="0">
                          <a:solidFill>
                            <a:srgbClr val="52514E"/>
                          </a:solidFill>
                          <a:latin typeface="Helvetica Neue"/>
                        </a:rPr>
                        <a:t>14.90</a:t>
                      </a:r>
                    </a:p>
                  </a:txBody>
                  <a:tcPr marL="91440" marR="91440">
                    <a:solidFill>
                      <a:srgbClr val="FCFCFB"/>
                    </a:solidFill>
                  </a:tcPr>
                </a:tc>
              </a:tr>
              <a:tr h="384048">
                <a:tc>
                  <a:txBody>
                    <a:bodyPr wrap="square"/>
                    <a:lstStyle/>
                    <a:p>
                      <a:pPr algn="l"/>
                      <a:r>
                        <a:rPr sz="1150" b="0" i="0">
                          <a:solidFill>
                            <a:srgbClr val="52514E"/>
                          </a:solidFill>
                          <a:latin typeface="Helvetica Neue"/>
                        </a:rPr>
                        <a:t>PADR</a:t>
                      </a:r>
                    </a:p>
                  </a:txBody>
                  <a:tcPr marL="91440" marR="91440">
                    <a:solidFill>
                      <a:srgbClr val="F7F6F4"/>
                    </a:solidFill>
                  </a:tcPr>
                </a:tc>
                <a:tc>
                  <a:txBody>
                    <a:bodyPr wrap="square"/>
                    <a:lstStyle/>
                    <a:p>
                      <a:pPr algn="l"/>
                      <a:r>
                        <a:rPr sz="1150" b="0" i="0">
                          <a:solidFill>
                            <a:srgbClr val="52514E"/>
                          </a:solidFill>
                          <a:latin typeface="Helvetica Neue"/>
                        </a:rPr>
                        <a:t>0.893</a:t>
                      </a:r>
                    </a:p>
                  </a:txBody>
                  <a:tcPr marL="91440" marR="91440">
                    <a:solidFill>
                      <a:srgbClr val="F7F6F4"/>
                    </a:solidFill>
                  </a:tcPr>
                </a:tc>
                <a:tc>
                  <a:txBody>
                    <a:bodyPr wrap="square"/>
                    <a:lstStyle/>
                    <a:p>
                      <a:pPr algn="l"/>
                      <a:r>
                        <a:rPr sz="1150" b="0" i="0">
                          <a:solidFill>
                            <a:srgbClr val="52514E"/>
                          </a:solidFill>
                          <a:latin typeface="Helvetica Neue"/>
                        </a:rPr>
                        <a:t>15.29</a:t>
                      </a:r>
                    </a:p>
                  </a:txBody>
                  <a:tcPr marL="91440" marR="91440">
                    <a:solidFill>
                      <a:srgbClr val="F7F6F4"/>
                    </a:solidFill>
                  </a:tcPr>
                </a:tc>
              </a:tr>
              <a:tr h="384048">
                <a:tc>
                  <a:txBody>
                    <a:bodyPr wrap="square"/>
                    <a:lstStyle/>
                    <a:p>
                      <a:pPr algn="l"/>
                      <a:r>
                        <a:rPr sz="1150" b="0" i="0">
                          <a:solidFill>
                            <a:srgbClr val="52514E"/>
                          </a:solidFill>
                          <a:latin typeface="Helvetica Neue"/>
                        </a:rPr>
                        <a:t>XGBoost</a:t>
                      </a:r>
                    </a:p>
                  </a:txBody>
                  <a:tcPr marL="91440" marR="91440">
                    <a:solidFill>
                      <a:srgbClr val="FCFCFB"/>
                    </a:solidFill>
                  </a:tcPr>
                </a:tc>
                <a:tc>
                  <a:txBody>
                    <a:bodyPr wrap="square"/>
                    <a:lstStyle/>
                    <a:p>
                      <a:pPr algn="l"/>
                      <a:r>
                        <a:rPr sz="1150" b="0" i="0">
                          <a:solidFill>
                            <a:srgbClr val="52514E"/>
                          </a:solidFill>
                          <a:latin typeface="Helvetica Neue"/>
                        </a:rPr>
                        <a:t>0.929</a:t>
                      </a:r>
                    </a:p>
                  </a:txBody>
                  <a:tcPr marL="91440" marR="91440">
                    <a:solidFill>
                      <a:srgbClr val="FCFCFB"/>
                    </a:solidFill>
                  </a:tcPr>
                </a:tc>
                <a:tc>
                  <a:txBody>
                    <a:bodyPr wrap="square"/>
                    <a:lstStyle/>
                    <a:p>
                      <a:pPr algn="l"/>
                      <a:r>
                        <a:rPr sz="1150" b="0" i="0">
                          <a:solidFill>
                            <a:srgbClr val="52514E"/>
                          </a:solidFill>
                          <a:latin typeface="Helvetica Neue"/>
                        </a:rPr>
                        <a:t>16.42</a:t>
                      </a:r>
                    </a:p>
                  </a:txBody>
                  <a:tcPr marL="91440" marR="91440">
                    <a:solidFill>
                      <a:srgbClr val="FCFCFB"/>
                    </a:solidFill>
                  </a:tcPr>
                </a:tc>
              </a:tr>
              <a:tr h="384048">
                <a:tc>
                  <a:txBody>
                    <a:bodyPr wrap="square"/>
                    <a:lstStyle/>
                    <a:p>
                      <a:pPr algn="l"/>
                      <a:r>
                        <a:rPr sz="1150" b="0" i="0">
                          <a:solidFill>
                            <a:srgbClr val="52514E"/>
                          </a:solidFill>
                          <a:latin typeface="Helvetica Neue"/>
                        </a:rPr>
                        <a:t>Random Forest</a:t>
                      </a:r>
                    </a:p>
                  </a:txBody>
                  <a:tcPr marL="91440" marR="91440">
                    <a:solidFill>
                      <a:srgbClr val="F7F6F4"/>
                    </a:solidFill>
                  </a:tcPr>
                </a:tc>
                <a:tc>
                  <a:txBody>
                    <a:bodyPr wrap="square"/>
                    <a:lstStyle/>
                    <a:p>
                      <a:pPr algn="l"/>
                      <a:r>
                        <a:rPr sz="1150" b="0" i="0">
                          <a:solidFill>
                            <a:srgbClr val="52514E"/>
                          </a:solidFill>
                          <a:latin typeface="Helvetica Neue"/>
                        </a:rPr>
                        <a:t>0.929</a:t>
                      </a:r>
                    </a:p>
                  </a:txBody>
                  <a:tcPr marL="91440" marR="91440">
                    <a:solidFill>
                      <a:srgbClr val="F7F6F4"/>
                    </a:solidFill>
                  </a:tcPr>
                </a:tc>
                <a:tc>
                  <a:txBody>
                    <a:bodyPr wrap="square"/>
                    <a:lstStyle/>
                    <a:p>
                      <a:pPr algn="l"/>
                      <a:r>
                        <a:rPr sz="1150" b="0" i="0">
                          <a:solidFill>
                            <a:srgbClr val="52514E"/>
                          </a:solidFill>
                          <a:latin typeface="Helvetica Neue"/>
                        </a:rPr>
                        <a:t>17.63</a:t>
                      </a:r>
                    </a:p>
                  </a:txBody>
                  <a:tcPr marL="91440" marR="91440">
                    <a:solidFill>
                      <a:srgbClr val="F7F6F4"/>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CORRECTIONS</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Two findings we are withdrawing</a:t>
            </a:r>
          </a:p>
        </p:txBody>
      </p:sp>
      <p:sp>
        <p:nvSpPr>
          <p:cNvPr id="5" name="TextBox 4"/>
          <p:cNvSpPr txBox="1"/>
          <p:nvPr/>
        </p:nvSpPr>
        <p:spPr>
          <a:xfrm>
            <a:off x="777240" y="1691640"/>
            <a:ext cx="10637215" cy="3749040"/>
          </a:xfrm>
          <a:prstGeom prst="rect">
            <a:avLst/>
          </a:prstGeom>
          <a:noFill/>
        </p:spPr>
        <p:txBody>
          <a:bodyPr wrap="square" anchor="t" lIns="0" rIns="0" tIns="0" bIns="0">
            <a:spAutoFit/>
          </a:bodyPr>
          <a:lstStyle/>
          <a:p>
            <a:pPr algn="l">
              <a:lnSpc>
                <a:spcPct val="122000"/>
              </a:lnSpc>
              <a:spcBef>
                <a:spcPts val="0"/>
              </a:spcBef>
              <a:spcAft>
                <a:spcPts val="200"/>
              </a:spcAft>
            </a:pPr>
            <a:r>
              <a:rPr sz="1550" b="1" i="0">
                <a:solidFill>
                  <a:srgbClr val="EB6834"/>
                </a:solidFill>
                <a:latin typeface="Helvetica Neue"/>
              </a:rPr>
              <a:t>▸  </a:t>
            </a:r>
            <a:r>
              <a:rPr sz="1550" b="1" i="0">
                <a:solidFill>
                  <a:srgbClr val="0B0B0B"/>
                </a:solidFill>
                <a:latin typeface="Helvetica Neue"/>
              </a:rPr>
              <a:t>Withdrawn — 'deep learning fails at this scale'  </a:t>
            </a:r>
            <a:r>
              <a:rPr sz="1550" b="0" i="0">
                <a:solidFill>
                  <a:srgbClr val="52514E"/>
                </a:solidFill>
                <a:latin typeface="Helvetica Neue"/>
              </a:rPr>
              <a:t>the sequence tensor fed to the LSTM and CNN models was manufactured from the seasonal aggregates through a fixed sine curve; it was a deterministic, invertible function of the tabular features the classical models already had, carrying zero extra information</a:t>
            </a:r>
          </a:p>
          <a:p>
            <a:pPr algn="l">
              <a:lnSpc>
                <a:spcPct val="122000"/>
              </a:lnSpc>
              <a:spcBef>
                <a:spcPts val="800"/>
              </a:spcBef>
              <a:spcAft>
                <a:spcPts val="200"/>
              </a:spcAft>
            </a:pPr>
            <a:r>
              <a:rPr sz="1550" b="1" i="0">
                <a:solidFill>
                  <a:srgbClr val="EB6834"/>
                </a:solidFill>
                <a:latin typeface="Helvetica Neue"/>
              </a:rPr>
              <a:t>▸  </a:t>
            </a:r>
            <a:r>
              <a:rPr sz="1550" b="1" i="0">
                <a:solidFill>
                  <a:srgbClr val="0B0B0B"/>
                </a:solidFill>
                <a:latin typeface="Helvetica Neue"/>
              </a:rPr>
              <a:t>Withdrawn — 'synthetic R² 0.842 validates the architecture'  </a:t>
            </a:r>
            <a:r>
              <a:rPr sz="1550" b="0" i="0">
                <a:solidFill>
                  <a:srgbClr val="52514E"/>
                </a:solidFill>
                <a:latin typeface="Helvetica Neue"/>
              </a:rPr>
              <a:t>that data was generated by a known functional form inside our own data loader, with the vegetation index built as a function of the yield it later predicted — recovering it proves only that an estimator can invert a function it was handed</a:t>
            </a:r>
          </a:p>
          <a:p>
            <a:pPr algn="l">
              <a:lnSpc>
                <a:spcPct val="122000"/>
              </a:lnSpc>
              <a:spcBef>
                <a:spcPts val="800"/>
              </a:spcBef>
              <a:spcAft>
                <a:spcPts val="200"/>
              </a:spcAft>
            </a:pPr>
            <a:r>
              <a:rPr sz="1550" b="1" i="0">
                <a:solidFill>
                  <a:srgbClr val="EB6834"/>
                </a:solidFill>
                <a:latin typeface="Helvetica Neue"/>
              </a:rPr>
              <a:t>▸  </a:t>
            </a:r>
            <a:r>
              <a:rPr sz="1550" b="1" i="0">
                <a:solidFill>
                  <a:srgbClr val="0B0B0B"/>
                </a:solidFill>
                <a:latin typeface="Helvetica Neue"/>
              </a:rPr>
              <a:t>What replaced them  </a:t>
            </a:r>
            <a:r>
              <a:rPr sz="1550" b="0" i="0">
                <a:solidFill>
                  <a:srgbClr val="52514E"/>
                </a:solidFill>
                <a:latin typeface="Helvetica Neue"/>
              </a:rPr>
              <a:t>37,988 genuine daily NASA POWER records now feed the sequence models; a proper comparison is stated as further work rather than claimed here</a:t>
            </a:r>
          </a:p>
        </p:txBody>
      </p:sp>
      <p:sp>
        <p:nvSpPr>
          <p:cNvPr id="6" name="Rectangle 5"/>
          <p:cNvSpPr/>
          <p:nvPr/>
        </p:nvSpPr>
        <p:spPr>
          <a:xfrm>
            <a:off x="777240" y="5623560"/>
            <a:ext cx="10637215" cy="731520"/>
          </a:xfrm>
          <a:prstGeom prst="rect">
            <a:avLst/>
          </a:prstGeom>
          <a:solidFill>
            <a:srgbClr val="F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5623560"/>
            <a:ext cx="54864" cy="7315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88575" cy="731520"/>
          </a:xfrm>
          <a:prstGeom prst="rect">
            <a:avLst/>
          </a:prstGeom>
          <a:noFill/>
        </p:spPr>
        <p:txBody>
          <a:bodyPr wrap="square" anchor="ctr" lIns="0" rIns="0" tIns="0" bIns="0">
            <a:spAutoFit/>
          </a:bodyPr>
          <a:lstStyle/>
          <a:p>
            <a:pPr algn="l">
              <a:spcBef>
                <a:spcPts val="0"/>
              </a:spcBef>
              <a:spcAft>
                <a:spcPts val="600"/>
              </a:spcAft>
            </a:pPr>
            <a:r>
              <a:rPr sz="1500" b="1" i="0">
                <a:solidFill>
                  <a:srgbClr val="0D366B"/>
                </a:solidFill>
                <a:latin typeface="Helvetica Neue"/>
              </a:rPr>
              <a:t>Reporting this is better than letting a convenient negative result stand unexamined.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CONTRIBUTIONS</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What this work contributes</a:t>
            </a:r>
          </a:p>
        </p:txBody>
      </p:sp>
      <p:graphicFrame>
        <p:nvGraphicFramePr>
          <p:cNvPr id="5" name="Table 4"/>
          <p:cNvGraphicFramePr>
            <a:graphicFrameLocks noGrp="1"/>
          </p:cNvGraphicFramePr>
          <p:nvPr/>
        </p:nvGraphicFramePr>
        <p:xfrm>
          <a:off x="777240" y="1920240"/>
          <a:ext cx="10637214" cy="2304288"/>
        </p:xfrm>
        <a:graphic>
          <a:graphicData uri="http://schemas.openxmlformats.org/drawingml/2006/table">
            <a:tbl>
              <a:tblPr firstRow="1" bandRow="1">
                <a:tableStyleId>{5C22544A-7EE6-4342-B048-85BDC9FD1C3A}</a:tableStyleId>
              </a:tblPr>
              <a:tblGrid>
                <a:gridCol w="3807003"/>
                <a:gridCol w="6830211"/>
              </a:tblGrid>
              <a:tr h="384048">
                <a:tc>
                  <a:txBody>
                    <a:bodyPr wrap="square"/>
                    <a:lstStyle/>
                    <a:p>
                      <a:pPr algn="l"/>
                      <a:r>
                        <a:rPr sz="1200" b="1" i="0">
                          <a:solidFill>
                            <a:srgbClr val="FFFFFF"/>
                          </a:solidFill>
                          <a:latin typeface="Helvetica Neue"/>
                        </a:rPr>
                        <a:t>Contribution</a:t>
                      </a:r>
                    </a:p>
                  </a:txBody>
                  <a:tcPr marL="91440" marR="91440">
                    <a:solidFill>
                      <a:srgbClr val="0D366B"/>
                    </a:solidFill>
                  </a:tcPr>
                </a:tc>
                <a:tc>
                  <a:txBody>
                    <a:bodyPr wrap="square"/>
                    <a:lstStyle/>
                    <a:p>
                      <a:pPr algn="l"/>
                      <a:r>
                        <a:rPr sz="1200" b="1" i="0">
                          <a:solidFill>
                            <a:srgbClr val="FFFFFF"/>
                          </a:solidFill>
                          <a:latin typeface="Helvetica Neue"/>
                        </a:rPr>
                        <a:t>Evidence</a:t>
                      </a:r>
                    </a:p>
                  </a:txBody>
                  <a:tcPr marL="91440" marR="91440">
                    <a:solidFill>
                      <a:srgbClr val="0D366B"/>
                    </a:solidFill>
                  </a:tcPr>
                </a:tc>
              </a:tr>
              <a:tr h="384048">
                <a:tc>
                  <a:txBody>
                    <a:bodyPr wrap="square"/>
                    <a:lstStyle/>
                    <a:p>
                      <a:pPr algn="l"/>
                      <a:r>
                        <a:rPr sz="1150" b="0" i="0">
                          <a:solidFill>
                            <a:srgbClr val="52514E"/>
                          </a:solidFill>
                          <a:latin typeface="Helvetica Neue"/>
                        </a:rPr>
                        <a:t>Data integrity finding</a:t>
                      </a:r>
                    </a:p>
                  </a:txBody>
                  <a:tcPr marL="91440" marR="91440">
                    <a:solidFill>
                      <a:srgbClr val="F7F6F4"/>
                    </a:solidFill>
                  </a:tcPr>
                </a:tc>
                <a:tc>
                  <a:txBody>
                    <a:bodyPr wrap="square"/>
                    <a:lstStyle/>
                    <a:p>
                      <a:pPr algn="l"/>
                      <a:r>
                        <a:rPr sz="1150" b="0" i="0">
                          <a:solidFill>
                            <a:srgbClr val="52514E"/>
                          </a:solidFill>
                          <a:latin typeface="Helvetica Neue"/>
                        </a:rPr>
                        <a:t>40% fabricated target identified and rebuilt from 87 genuine DCS records</a:t>
                      </a:r>
                    </a:p>
                  </a:txBody>
                  <a:tcPr marL="91440" marR="91440">
                    <a:solidFill>
                      <a:srgbClr val="F7F6F4"/>
                    </a:solidFill>
                  </a:tcPr>
                </a:tc>
              </a:tr>
              <a:tr h="384048">
                <a:tc>
                  <a:txBody>
                    <a:bodyPr wrap="square"/>
                    <a:lstStyle/>
                    <a:p>
                      <a:pPr algn="l"/>
                      <a:r>
                        <a:rPr sz="1150" b="0" i="0">
                          <a:solidFill>
                            <a:srgbClr val="52514E"/>
                          </a:solidFill>
                          <a:latin typeface="Helvetica Neue"/>
                        </a:rPr>
                        <a:t>A quantified account of what the panel supports</a:t>
                      </a:r>
                    </a:p>
                  </a:txBody>
                  <a:tcPr marL="91440" marR="91440">
                    <a:solidFill>
                      <a:srgbClr val="FCFCFB"/>
                    </a:solidFill>
                  </a:tcPr>
                </a:tc>
                <a:tc>
                  <a:txBody>
                    <a:bodyPr wrap="square"/>
                    <a:lstStyle/>
                    <a:p>
                      <a:pPr algn="l"/>
                      <a:r>
                        <a:rPr sz="1150" b="0" i="0">
                          <a:solidFill>
                            <a:srgbClr val="52514E"/>
                          </a:solidFill>
                          <a:latin typeface="Helvetica Neue"/>
                        </a:rPr>
                        <a:t>64% year / 2% district variance split; measurement error 54% of within-year; attainable R² bounded at 0.162</a:t>
                      </a:r>
                    </a:p>
                  </a:txBody>
                  <a:tcPr marL="91440" marR="91440">
                    <a:solidFill>
                      <a:srgbClr val="FCFCFB"/>
                    </a:solidFill>
                  </a:tcPr>
                </a:tc>
              </a:tr>
              <a:tr h="384048">
                <a:tc>
                  <a:txBody>
                    <a:bodyPr wrap="square"/>
                    <a:lstStyle/>
                    <a:p>
                      <a:pPr algn="l"/>
                      <a:r>
                        <a:rPr sz="1150" b="0" i="0">
                          <a:solidFill>
                            <a:srgbClr val="52514E"/>
                          </a:solidFill>
                          <a:latin typeface="Helvetica Neue"/>
                        </a:rPr>
                        <a:t>Locally estimated agronomic coefficients</a:t>
                      </a:r>
                    </a:p>
                  </a:txBody>
                  <a:tcPr marL="91440" marR="91440">
                    <a:solidFill>
                      <a:srgbClr val="F7F6F4"/>
                    </a:solidFill>
                  </a:tcPr>
                </a:tc>
                <a:tc>
                  <a:txBody>
                    <a:bodyPr wrap="square"/>
                    <a:lstStyle/>
                    <a:p>
                      <a:pPr algn="l"/>
                      <a:r>
                        <a:rPr sz="1150" b="0" i="0">
                          <a:solidFill>
                            <a:srgbClr val="52514E"/>
                          </a:solidFill>
                          <a:latin typeface="Helvetica Neue"/>
                        </a:rPr>
                        <a:t>+0.566 R² over fixed physics; FAO-33 shown to overstate weather sensitivity ~4×</a:t>
                      </a:r>
                    </a:p>
                  </a:txBody>
                  <a:tcPr marL="91440" marR="91440">
                    <a:solidFill>
                      <a:srgbClr val="F7F6F4"/>
                    </a:solidFill>
                  </a:tcPr>
                </a:tc>
              </a:tr>
              <a:tr h="384048">
                <a:tc>
                  <a:txBody>
                    <a:bodyPr wrap="square"/>
                    <a:lstStyle/>
                    <a:p>
                      <a:pPr algn="l"/>
                      <a:r>
                        <a:rPr sz="1150" b="0" i="0">
                          <a:solidFill>
                            <a:srgbClr val="52514E"/>
                          </a:solidFill>
                          <a:latin typeface="Helvetica Neue"/>
                        </a:rPr>
                        <a:t>Diagnosis that the agro-climatic channel is inactive</a:t>
                      </a:r>
                    </a:p>
                  </a:txBody>
                  <a:tcPr marL="91440" marR="91440">
                    <a:solidFill>
                      <a:srgbClr val="FCFCFB"/>
                    </a:solidFill>
                  </a:tcPr>
                </a:tc>
                <a:tc>
                  <a:txBody>
                    <a:bodyPr wrap="square"/>
                    <a:lstStyle/>
                    <a:p>
                      <a:pPr algn="l"/>
                      <a:r>
                        <a:rPr sz="1150" b="0" i="0">
                          <a:solidFill>
                            <a:srgbClr val="52514E"/>
                          </a:solidFill>
                          <a:latin typeface="Helvetica Neue"/>
                        </a:rPr>
                        <a:t>8% stress variation against 35% in yield; removing anomalous years worsens the fit</a:t>
                      </a:r>
                    </a:p>
                  </a:txBody>
                  <a:tcPr marL="91440" marR="91440">
                    <a:solidFill>
                      <a:srgbClr val="FCFCFB"/>
                    </a:solidFill>
                  </a:tcPr>
                </a:tc>
              </a:tr>
              <a:tr h="384048">
                <a:tc>
                  <a:txBody>
                    <a:bodyPr wrap="square"/>
                    <a:lstStyle/>
                    <a:p>
                      <a:pPr algn="l"/>
                      <a:r>
                        <a:rPr sz="1150" b="0" i="0">
                          <a:solidFill>
                            <a:srgbClr val="52514E"/>
                          </a:solidFill>
                          <a:latin typeface="Helvetica Neue"/>
                        </a:rPr>
                        <a:t>Methodological corrections</a:t>
                      </a:r>
                    </a:p>
                  </a:txBody>
                  <a:tcPr marL="91440" marR="91440">
                    <a:solidFill>
                      <a:srgbClr val="F7F6F4"/>
                    </a:solidFill>
                  </a:tcPr>
                </a:tc>
                <a:tc>
                  <a:txBody>
                    <a:bodyPr wrap="square"/>
                    <a:lstStyle/>
                    <a:p>
                      <a:pPr algn="l"/>
                      <a:r>
                        <a:rPr sz="1150" b="0" i="0">
                          <a:solidFill>
                            <a:srgbClr val="52514E"/>
                          </a:solidFill>
                          <a:latin typeface="Helvetica Neue"/>
                        </a:rPr>
                        <a:t>four leaks removed, fabricated sequences replaced, tautological conformal fixed, extent weighting introduced</a:t>
                      </a:r>
                    </a:p>
                  </a:txBody>
                  <a:tcPr marL="91440" marR="91440">
                    <a:solidFill>
                      <a:srgbClr val="F7F6F4"/>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LIMITATIONS</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What bounds these conclusions</a:t>
            </a:r>
          </a:p>
        </p:txBody>
      </p:sp>
      <p:sp>
        <p:nvSpPr>
          <p:cNvPr id="5" name="Rectangle 4"/>
          <p:cNvSpPr/>
          <p:nvPr/>
        </p:nvSpPr>
        <p:spPr>
          <a:xfrm>
            <a:off x="777240" y="1691640"/>
            <a:ext cx="45720" cy="2926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91640"/>
            <a:ext cx="4884267" cy="320040"/>
          </a:xfrm>
          <a:prstGeom prst="rect">
            <a:avLst/>
          </a:prstGeom>
          <a:noFill/>
        </p:spPr>
        <p:txBody>
          <a:bodyPr wrap="square" anchor="t" lIns="0" rIns="0" tIns="0" bIns="0">
            <a:spAutoFit/>
          </a:bodyPr>
          <a:lstStyle/>
          <a:p>
            <a:pPr algn="l">
              <a:spcBef>
                <a:spcPts val="0"/>
              </a:spcBef>
              <a:spcAft>
                <a:spcPts val="600"/>
              </a:spcAft>
            </a:pPr>
            <a:r>
              <a:rPr sz="1700" b="1" i="0">
                <a:solidFill>
                  <a:srgbClr val="0D366B"/>
                </a:solidFill>
                <a:latin typeface="Helvetica Neue"/>
              </a:rPr>
              <a:t>Limitations</a:t>
            </a:r>
          </a:p>
        </p:txBody>
      </p:sp>
      <p:sp>
        <p:nvSpPr>
          <p:cNvPr id="7" name="TextBox 6"/>
          <p:cNvSpPr txBox="1"/>
          <p:nvPr/>
        </p:nvSpPr>
        <p:spPr>
          <a:xfrm>
            <a:off x="777240" y="2194560"/>
            <a:ext cx="5067147" cy="4114800"/>
          </a:xfrm>
          <a:prstGeom prst="rect">
            <a:avLst/>
          </a:prstGeom>
          <a:noFill/>
        </p:spPr>
        <p:txBody>
          <a:bodyPr wrap="square" anchor="t" lIns="0" rIns="0" tIns="0" bIns="0">
            <a:spAutoFit/>
          </a:bodyPr>
          <a:lstStyle/>
          <a:p>
            <a:pPr algn="l">
              <a:lnSpc>
                <a:spcPct val="120000"/>
              </a:lnSpc>
              <a:spcBef>
                <a:spcPts val="0"/>
              </a:spcBef>
              <a:spcAft>
                <a:spcPts val="200"/>
              </a:spcAft>
            </a:pPr>
            <a:r>
              <a:rPr sz="1500" b="1" i="0">
                <a:solidFill>
                  <a:srgbClr val="EB6834"/>
                </a:solidFill>
                <a:latin typeface="Helvetica Neue"/>
              </a:rPr>
              <a:t>•  </a:t>
            </a:r>
            <a:r>
              <a:rPr sz="1500" b="0" i="0">
                <a:solidFill>
                  <a:srgbClr val="52514E"/>
                </a:solidFill>
                <a:latin typeface="Helvetica Neue"/>
              </a:rPr>
              <a:t>28 records, 4 districts, 7 years, Yala only — no Maha data exists</a:t>
            </a:r>
          </a:p>
          <a:p>
            <a:pPr algn="l">
              <a:lnSpc>
                <a:spcPct val="120000"/>
              </a:lnSpc>
              <a:spcBef>
                <a:spcPts val="900"/>
              </a:spcBef>
              <a:spcAft>
                <a:spcPts val="200"/>
              </a:spcAft>
            </a:pPr>
            <a:r>
              <a:rPr sz="1500" b="1" i="0">
                <a:solidFill>
                  <a:srgbClr val="EB6834"/>
                </a:solidFill>
                <a:latin typeface="Helvetica Neue"/>
              </a:rPr>
              <a:t>•  </a:t>
            </a:r>
            <a:r>
              <a:rPr sz="1500" b="0" i="0">
                <a:solidFill>
                  <a:srgbClr val="52514E"/>
                </a:solidFill>
                <a:latin typeface="Helvetica Neue"/>
              </a:rPr>
              <a:t>Kurunegala and Matale share one weather grid cell — identical daily series</a:t>
            </a:r>
          </a:p>
          <a:p>
            <a:pPr algn="l">
              <a:lnSpc>
                <a:spcPct val="120000"/>
              </a:lnSpc>
              <a:spcBef>
                <a:spcPts val="900"/>
              </a:spcBef>
              <a:spcAft>
                <a:spcPts val="200"/>
              </a:spcAft>
            </a:pPr>
            <a:r>
              <a:rPr sz="1500" b="1" i="0">
                <a:solidFill>
                  <a:srgbClr val="EB6834"/>
                </a:solidFill>
                <a:latin typeface="Helvetica Neue"/>
              </a:rPr>
              <a:t>•  </a:t>
            </a:r>
            <a:r>
              <a:rPr sz="1500" b="0" i="0">
                <a:solidFill>
                  <a:srgbClr val="52514E"/>
                </a:solidFill>
                <a:latin typeface="Helvetica Neue"/>
              </a:rPr>
              <a:t>Kurunegala's NDVI is a Matale proxy; its soil profile is absent entirely</a:t>
            </a:r>
          </a:p>
          <a:p>
            <a:pPr algn="l">
              <a:lnSpc>
                <a:spcPct val="120000"/>
              </a:lnSpc>
              <a:spcBef>
                <a:spcPts val="900"/>
              </a:spcBef>
              <a:spcAft>
                <a:spcPts val="200"/>
              </a:spcAft>
            </a:pPr>
            <a:r>
              <a:rPr sz="1500" b="1" i="0">
                <a:solidFill>
                  <a:srgbClr val="EB6834"/>
                </a:solidFill>
                <a:latin typeface="Helvetica Neue"/>
              </a:rPr>
              <a:t>•  </a:t>
            </a:r>
            <a:r>
              <a:rPr sz="1500" b="0" i="0">
                <a:solidFill>
                  <a:srgbClr val="52514E"/>
                </a:solidFill>
                <a:latin typeface="Helvetica Neue"/>
              </a:rPr>
              <a:t>Six records excluded on an agronomic bound, not source verification</a:t>
            </a:r>
          </a:p>
          <a:p>
            <a:pPr algn="l">
              <a:lnSpc>
                <a:spcPct val="120000"/>
              </a:lnSpc>
              <a:spcBef>
                <a:spcPts val="900"/>
              </a:spcBef>
              <a:spcAft>
                <a:spcPts val="200"/>
              </a:spcAft>
            </a:pPr>
            <a:r>
              <a:rPr sz="1500" b="1" i="0">
                <a:solidFill>
                  <a:srgbClr val="EB6834"/>
                </a:solidFill>
                <a:latin typeface="Helvetica Neue"/>
              </a:rPr>
              <a:t>•  </a:t>
            </a:r>
            <a:r>
              <a:rPr sz="1500" b="0" i="0">
                <a:solidFill>
                  <a:srgbClr val="52514E"/>
                </a:solidFill>
                <a:latin typeface="Helvetica Neue"/>
              </a:rPr>
              <a:t>The 2022 fertilizer-ban attribution is timing, not established causation</a:t>
            </a:r>
          </a:p>
          <a:p>
            <a:pPr algn="l">
              <a:lnSpc>
                <a:spcPct val="120000"/>
              </a:lnSpc>
              <a:spcBef>
                <a:spcPts val="900"/>
              </a:spcBef>
              <a:spcAft>
                <a:spcPts val="200"/>
              </a:spcAft>
            </a:pPr>
            <a:r>
              <a:rPr sz="1500" b="1" i="0">
                <a:solidFill>
                  <a:srgbClr val="EB6834"/>
                </a:solidFill>
                <a:latin typeface="Helvetica Neue"/>
              </a:rPr>
              <a:t>•  </a:t>
            </a:r>
            <a:r>
              <a:rPr sz="1500" b="0" i="0">
                <a:solidFill>
                  <a:srgbClr val="52514E"/>
                </a:solidFill>
                <a:latin typeface="Helvetica Neue"/>
              </a:rPr>
              <a:t>No fertilizer, irrigation, cultivar or price data was available</a:t>
            </a:r>
          </a:p>
        </p:txBody>
      </p:sp>
      <p:sp>
        <p:nvSpPr>
          <p:cNvPr id="8" name="Rectangle 7"/>
          <p:cNvSpPr/>
          <p:nvPr/>
        </p:nvSpPr>
        <p:spPr>
          <a:xfrm>
            <a:off x="6347307" y="1691640"/>
            <a:ext cx="45720" cy="2926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0187" y="1691640"/>
            <a:ext cx="4884267" cy="320040"/>
          </a:xfrm>
          <a:prstGeom prst="rect">
            <a:avLst/>
          </a:prstGeom>
          <a:noFill/>
        </p:spPr>
        <p:txBody>
          <a:bodyPr wrap="square" anchor="t" lIns="0" rIns="0" tIns="0" bIns="0">
            <a:spAutoFit/>
          </a:bodyPr>
          <a:lstStyle/>
          <a:p>
            <a:pPr algn="l">
              <a:spcBef>
                <a:spcPts val="0"/>
              </a:spcBef>
              <a:spcAft>
                <a:spcPts val="600"/>
              </a:spcAft>
            </a:pPr>
            <a:r>
              <a:rPr sz="1700" b="1" i="0">
                <a:solidFill>
                  <a:srgbClr val="0D366B"/>
                </a:solidFill>
                <a:latin typeface="Helvetica Neue"/>
              </a:rPr>
              <a:t>Further work, in priority order</a:t>
            </a:r>
          </a:p>
        </p:txBody>
      </p:sp>
      <p:sp>
        <p:nvSpPr>
          <p:cNvPr id="10" name="TextBox 9"/>
          <p:cNvSpPr txBox="1"/>
          <p:nvPr/>
        </p:nvSpPr>
        <p:spPr>
          <a:xfrm>
            <a:off x="6347307" y="2194560"/>
            <a:ext cx="5067147" cy="4114800"/>
          </a:xfrm>
          <a:prstGeom prst="rect">
            <a:avLst/>
          </a:prstGeom>
          <a:noFill/>
        </p:spPr>
        <p:txBody>
          <a:bodyPr wrap="square" anchor="t" lIns="0" rIns="0" tIns="0" bIns="0">
            <a:spAutoFit/>
          </a:bodyPr>
          <a:lstStyle/>
          <a:p>
            <a:pPr algn="l">
              <a:lnSpc>
                <a:spcPct val="120000"/>
              </a:lnSpc>
              <a:spcBef>
                <a:spcPts val="0"/>
              </a:spcBef>
              <a:spcAft>
                <a:spcPts val="200"/>
              </a:spcAft>
            </a:pPr>
            <a:r>
              <a:rPr sz="1500" b="1" i="0">
                <a:solidFill>
                  <a:srgbClr val="2A78D6"/>
                </a:solidFill>
                <a:latin typeface="Helvetica Neue"/>
              </a:rPr>
              <a:t>•  </a:t>
            </a:r>
            <a:r>
              <a:rPr sz="1500" b="0" i="0">
                <a:solidFill>
                  <a:srgbClr val="52514E"/>
                </a:solidFill>
                <a:latin typeface="Helvetica Neue"/>
              </a:rPr>
              <a:t>Collect input and management data — this is where the signal actually is</a:t>
            </a:r>
          </a:p>
          <a:p>
            <a:pPr algn="l">
              <a:lnSpc>
                <a:spcPct val="120000"/>
              </a:lnSpc>
              <a:spcBef>
                <a:spcPts val="900"/>
              </a:spcBef>
              <a:spcAft>
                <a:spcPts val="200"/>
              </a:spcAft>
            </a:pPr>
            <a:r>
              <a:rPr sz="1500" b="1" i="0">
                <a:solidFill>
                  <a:srgbClr val="2A78D6"/>
                </a:solidFill>
                <a:latin typeface="Helvetica Neue"/>
              </a:rPr>
              <a:t>•  </a:t>
            </a:r>
            <a:r>
              <a:rPr sz="1500" b="0" i="0">
                <a:solidFill>
                  <a:srgbClr val="52514E"/>
                </a:solidFill>
                <a:latin typeface="Helvetica Neue"/>
              </a:rPr>
              <a:t>Re-run the ML vs DL comparison properly on the real daily sequences</a:t>
            </a:r>
          </a:p>
          <a:p>
            <a:pPr algn="l">
              <a:lnSpc>
                <a:spcPct val="120000"/>
              </a:lnSpc>
              <a:spcBef>
                <a:spcPts val="900"/>
              </a:spcBef>
              <a:spcAft>
                <a:spcPts val="200"/>
              </a:spcAft>
            </a:pPr>
            <a:r>
              <a:rPr sz="1500" b="1" i="0">
                <a:solidFill>
                  <a:srgbClr val="2A78D6"/>
                </a:solidFill>
                <a:latin typeface="Helvetica Neue"/>
              </a:rPr>
              <a:t>•  </a:t>
            </a:r>
            <a:r>
              <a:rPr sz="1500" b="0" i="0">
                <a:solidFill>
                  <a:srgbClr val="52514E"/>
                </a:solidFill>
                <a:latin typeface="Helvetica Neue"/>
              </a:rPr>
              <a:t>Mask satellite aggregation to cultivated onion parcels</a:t>
            </a:r>
          </a:p>
          <a:p>
            <a:pPr algn="l">
              <a:lnSpc>
                <a:spcPct val="120000"/>
              </a:lnSpc>
              <a:spcBef>
                <a:spcPts val="900"/>
              </a:spcBef>
              <a:spcAft>
                <a:spcPts val="200"/>
              </a:spcAft>
            </a:pPr>
            <a:r>
              <a:rPr sz="1500" b="1" i="0">
                <a:solidFill>
                  <a:srgbClr val="2A78D6"/>
                </a:solidFill>
                <a:latin typeface="Helvetica Neue"/>
              </a:rPr>
              <a:t>•  </a:t>
            </a:r>
            <a:r>
              <a:rPr sz="1500" b="0" i="0">
                <a:solidFill>
                  <a:srgbClr val="52514E"/>
                </a:solidFill>
                <a:latin typeface="Helvetica Neue"/>
              </a:rPr>
              <a:t>Finer reanalysis to separate Kurunegala from Matale meteorologically</a:t>
            </a:r>
          </a:p>
          <a:p>
            <a:pPr algn="l">
              <a:lnSpc>
                <a:spcPct val="120000"/>
              </a:lnSpc>
              <a:spcBef>
                <a:spcPts val="900"/>
              </a:spcBef>
              <a:spcAft>
                <a:spcPts val="200"/>
              </a:spcAft>
            </a:pPr>
            <a:r>
              <a:rPr sz="1500" b="1" i="0">
                <a:solidFill>
                  <a:srgbClr val="2A78D6"/>
                </a:solidFill>
                <a:latin typeface="Helvetica Neue"/>
              </a:rPr>
              <a:t>•  </a:t>
            </a:r>
            <a:r>
              <a:rPr sz="1500" b="0" i="0">
                <a:solidFill>
                  <a:srgbClr val="52514E"/>
                </a:solidFill>
                <a:latin typeface="Helvetica Neue"/>
              </a:rPr>
              <a:t>Verify the six flagged records against the DCS publication</a:t>
            </a:r>
          </a:p>
          <a:p>
            <a:pPr algn="l">
              <a:lnSpc>
                <a:spcPct val="120000"/>
              </a:lnSpc>
              <a:spcBef>
                <a:spcPts val="900"/>
              </a:spcBef>
              <a:spcAft>
                <a:spcPts val="200"/>
              </a:spcAft>
            </a:pPr>
            <a:r>
              <a:rPr sz="1500" b="1" i="0">
                <a:solidFill>
                  <a:srgbClr val="2A78D6"/>
                </a:solidFill>
                <a:latin typeface="Helvetica Neue"/>
              </a:rPr>
              <a:t>•  </a:t>
            </a:r>
            <a:r>
              <a:rPr sz="1500" b="0" i="0">
                <a:solidFill>
                  <a:srgbClr val="52514E"/>
                </a:solidFill>
                <a:latin typeface="Helvetica Neue"/>
              </a:rPr>
              <a:t>Apply the ceiling calculation across published short-panel yield studies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37215" cy="274320"/>
          </a:xfrm>
          <a:prstGeom prst="rect">
            <a:avLst/>
          </a:prstGeom>
          <a:noFill/>
        </p:spPr>
        <p:txBody>
          <a:bodyPr wrap="square" anchor="t" lIns="0" rIns="0" tIns="0" bIns="0">
            <a:spAutoFit/>
          </a:bodyPr>
          <a:lstStyle/>
          <a:p>
            <a:pPr algn="l">
              <a:spcBef>
                <a:spcPts val="0"/>
              </a:spcBef>
              <a:spcAft>
                <a:spcPts val="600"/>
              </a:spcAft>
            </a:pPr>
            <a:r>
              <a:rPr sz="1200" b="1" i="0">
                <a:solidFill>
                  <a:srgbClr val="EB6834"/>
                </a:solidFill>
                <a:latin typeface="Helvetica Neue"/>
              </a:rPr>
              <a:t>WRAPPING UP</a:t>
            </a:r>
          </a:p>
        </p:txBody>
      </p:sp>
      <p:sp>
        <p:nvSpPr>
          <p:cNvPr id="4" name="TextBox 3"/>
          <p:cNvSpPr txBox="1"/>
          <p:nvPr/>
        </p:nvSpPr>
        <p:spPr>
          <a:xfrm>
            <a:off x="777240" y="914400"/>
            <a:ext cx="10637215" cy="548640"/>
          </a:xfrm>
          <a:prstGeom prst="rect">
            <a:avLst/>
          </a:prstGeom>
          <a:noFill/>
        </p:spPr>
        <p:txBody>
          <a:bodyPr wrap="square" anchor="t" lIns="0" rIns="0" tIns="0" bIns="0">
            <a:spAutoFit/>
          </a:bodyPr>
          <a:lstStyle/>
          <a:p>
            <a:pPr algn="l">
              <a:spcBef>
                <a:spcPts val="0"/>
              </a:spcBef>
              <a:spcAft>
                <a:spcPts val="600"/>
              </a:spcAft>
            </a:pPr>
            <a:r>
              <a:rPr sz="2800" b="1" i="0">
                <a:solidFill>
                  <a:srgbClr val="0D366B"/>
                </a:solidFill>
                <a:latin typeface="Helvetica Neue"/>
              </a:rPr>
              <a:t>Conclusion</a:t>
            </a:r>
          </a:p>
        </p:txBody>
      </p:sp>
      <p:sp>
        <p:nvSpPr>
          <p:cNvPr id="5" name="TextBox 4"/>
          <p:cNvSpPr txBox="1"/>
          <p:nvPr/>
        </p:nvSpPr>
        <p:spPr>
          <a:xfrm>
            <a:off x="777240" y="1691640"/>
            <a:ext cx="10637215" cy="3749040"/>
          </a:xfrm>
          <a:prstGeom prst="rect">
            <a:avLst/>
          </a:prstGeom>
          <a:noFill/>
        </p:spPr>
        <p:txBody>
          <a:bodyPr wrap="square" anchor="t" lIns="0" rIns="0" tIns="0" bIns="0">
            <a:spAutoFit/>
          </a:bodyPr>
          <a:lstStyle/>
          <a:p>
            <a:pPr algn="l">
              <a:lnSpc>
                <a:spcPct val="122000"/>
              </a:lnSpc>
              <a:spcBef>
                <a:spcPts val="0"/>
              </a:spcBef>
              <a:spcAft>
                <a:spcPts val="200"/>
              </a:spcAft>
            </a:pPr>
            <a:r>
              <a:rPr sz="1550" b="1" i="0">
                <a:solidFill>
                  <a:srgbClr val="EB6834"/>
                </a:solidFill>
                <a:latin typeface="Helvetica Neue"/>
              </a:rPr>
              <a:t>▸  </a:t>
            </a:r>
            <a:r>
              <a:rPr sz="1550" b="1" i="0">
                <a:solidFill>
                  <a:srgbClr val="0B0B0B"/>
                </a:solidFill>
                <a:latin typeface="Helvetica Neue"/>
              </a:rPr>
              <a:t>We asked whether weather predicts onion yield here  </a:t>
            </a:r>
            <a:r>
              <a:rPr sz="1550" b="0" i="0">
                <a:solidFill>
                  <a:srgbClr val="52514E"/>
                </a:solidFill>
                <a:latin typeface="Helvetica Neue"/>
              </a:rPr>
              <a:t>and answered it: it does not, at district-season resolution</a:t>
            </a:r>
          </a:p>
          <a:p>
            <a:pPr algn="l">
              <a:lnSpc>
                <a:spcPct val="122000"/>
              </a:lnSpc>
              <a:spcBef>
                <a:spcPts val="800"/>
              </a:spcBef>
              <a:spcAft>
                <a:spcPts val="200"/>
              </a:spcAft>
            </a:pPr>
            <a:r>
              <a:rPr sz="1550" b="1" i="0">
                <a:solidFill>
                  <a:srgbClr val="EB6834"/>
                </a:solidFill>
                <a:latin typeface="Helvetica Neue"/>
              </a:rPr>
              <a:t>▸  </a:t>
            </a:r>
            <a:r>
              <a:rPr sz="1550" b="1" i="0">
                <a:solidFill>
                  <a:srgbClr val="0B0B0B"/>
                </a:solidFill>
                <a:latin typeface="Helvetica Neue"/>
              </a:rPr>
              <a:t>The target was unattainable, and we proved it  </a:t>
            </a:r>
            <a:r>
              <a:rPr sz="1550" b="0" i="0">
                <a:solidFill>
                  <a:srgbClr val="52514E"/>
                </a:solidFill>
                <a:latin typeface="Helvetica Neue"/>
              </a:rPr>
              <a:t>64% of variance is removed by the protocol; measurement error takes half the rest; the ceiling is 0.162</a:t>
            </a:r>
          </a:p>
          <a:p>
            <a:pPr algn="l">
              <a:lnSpc>
                <a:spcPct val="122000"/>
              </a:lnSpc>
              <a:spcBef>
                <a:spcPts val="800"/>
              </a:spcBef>
              <a:spcAft>
                <a:spcPts val="200"/>
              </a:spcAft>
            </a:pPr>
            <a:r>
              <a:rPr sz="1550" b="1" i="0">
                <a:solidFill>
                  <a:srgbClr val="EB6834"/>
                </a:solidFill>
                <a:latin typeface="Helvetica Neue"/>
              </a:rPr>
              <a:t>▸  </a:t>
            </a:r>
            <a:r>
              <a:rPr sz="1550" b="1" i="0">
                <a:solidFill>
                  <a:srgbClr val="0B0B0B"/>
                </a:solidFill>
                <a:latin typeface="Helvetica Neue"/>
              </a:rPr>
              <a:t>The mechanistic model is what made the answer possible  </a:t>
            </a:r>
            <a:r>
              <a:rPr sz="1550" b="0" i="0">
                <a:solidFill>
                  <a:srgbClr val="52514E"/>
                </a:solidFill>
                <a:latin typeface="Helvetica Neue"/>
              </a:rPr>
              <a:t>a random forest scoring −0.56 tells you nothing; PADR reports which mechanisms are inactive and by how much</a:t>
            </a:r>
          </a:p>
          <a:p>
            <a:pPr algn="l">
              <a:lnSpc>
                <a:spcPct val="122000"/>
              </a:lnSpc>
              <a:spcBef>
                <a:spcPts val="800"/>
              </a:spcBef>
              <a:spcAft>
                <a:spcPts val="200"/>
              </a:spcAft>
            </a:pPr>
            <a:r>
              <a:rPr sz="1550" b="1" i="0">
                <a:solidFill>
                  <a:srgbClr val="EB6834"/>
                </a:solidFill>
                <a:latin typeface="Helvetica Neue"/>
              </a:rPr>
              <a:t>▸  </a:t>
            </a:r>
            <a:r>
              <a:rPr sz="1550" b="1" i="0">
                <a:solidFill>
                  <a:srgbClr val="0B0B0B"/>
                </a:solidFill>
                <a:latin typeface="Helvetica Neue"/>
              </a:rPr>
              <a:t>One transferable positive result  </a:t>
            </a:r>
            <a:r>
              <a:rPr sz="1550" b="0" i="0">
                <a:solidFill>
                  <a:srgbClr val="52514E"/>
                </a:solidFill>
                <a:latin typeface="Helvetica Neue"/>
              </a:rPr>
              <a:t>FAO-33 coefficients overstate weather sensitivity for big onion under tank irrigation — calibrate locally</a:t>
            </a:r>
          </a:p>
          <a:p>
            <a:pPr algn="l">
              <a:lnSpc>
                <a:spcPct val="122000"/>
              </a:lnSpc>
              <a:spcBef>
                <a:spcPts val="800"/>
              </a:spcBef>
              <a:spcAft>
                <a:spcPts val="200"/>
              </a:spcAft>
            </a:pPr>
            <a:r>
              <a:rPr sz="1550" b="1" i="0">
                <a:solidFill>
                  <a:srgbClr val="EB6834"/>
                </a:solidFill>
                <a:latin typeface="Helvetica Neue"/>
              </a:rPr>
              <a:t>▸  </a:t>
            </a:r>
            <a:r>
              <a:rPr sz="1550" b="1" i="0">
                <a:solidFill>
                  <a:srgbClr val="0B0B0B"/>
                </a:solidFill>
                <a:latin typeface="Helvetica Neue"/>
              </a:rPr>
              <a:t>We corrected our own record  </a:t>
            </a:r>
            <a:r>
              <a:rPr sz="1550" b="0" i="0">
                <a:solidFill>
                  <a:srgbClr val="52514E"/>
                </a:solidFill>
                <a:latin typeface="Helvetica Neue"/>
              </a:rPr>
              <a:t>a fabricated target, a manufactured input tensor and a tautological uncertainty calculation, all found and reported</a:t>
            </a:r>
          </a:p>
        </p:txBody>
      </p:sp>
      <p:sp>
        <p:nvSpPr>
          <p:cNvPr id="6" name="Rectangle 5"/>
          <p:cNvSpPr/>
          <p:nvPr/>
        </p:nvSpPr>
        <p:spPr>
          <a:xfrm>
            <a:off x="777240" y="5623560"/>
            <a:ext cx="10637215" cy="731520"/>
          </a:xfrm>
          <a:prstGeom prst="rect">
            <a:avLst/>
          </a:prstGeom>
          <a:solidFill>
            <a:srgbClr val="F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5623560"/>
            <a:ext cx="54864" cy="7315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88575" cy="731520"/>
          </a:xfrm>
          <a:prstGeom prst="rect">
            <a:avLst/>
          </a:prstGeom>
          <a:noFill/>
        </p:spPr>
        <p:txBody>
          <a:bodyPr wrap="square" anchor="ctr" lIns="0" rIns="0" tIns="0" bIns="0">
            <a:spAutoFit/>
          </a:bodyPr>
          <a:lstStyle/>
          <a:p>
            <a:pPr algn="l">
              <a:spcBef>
                <a:spcPts val="0"/>
              </a:spcBef>
              <a:spcAft>
                <a:spcPts val="600"/>
              </a:spcAft>
            </a:pPr>
            <a:r>
              <a:rPr sz="1500" b="1" i="0">
                <a:solidFill>
                  <a:srgbClr val="0D366B"/>
                </a:solidFill>
                <a:latin typeface="Helvetica Neue"/>
              </a:rPr>
              <a:t>A well-diagnosed negative result, with its errors stated openly, is worth more than a favourable number that cannot be defended.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D366B"/>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1560" y="2286000"/>
            <a:ext cx="9601200" cy="914400"/>
          </a:xfrm>
          <a:prstGeom prst="rect">
            <a:avLst/>
          </a:prstGeom>
          <a:noFill/>
        </p:spPr>
        <p:txBody>
          <a:bodyPr wrap="square" anchor="t" lIns="0" rIns="0" tIns="0" bIns="0">
            <a:spAutoFit/>
          </a:bodyPr>
          <a:lstStyle/>
          <a:p>
            <a:pPr algn="l">
              <a:spcBef>
                <a:spcPts val="0"/>
              </a:spcBef>
              <a:spcAft>
                <a:spcPts val="600"/>
              </a:spcAft>
            </a:pPr>
            <a:r>
              <a:rPr sz="4200" b="1" i="0">
                <a:solidFill>
                  <a:srgbClr val="FFFFFF"/>
                </a:solidFill>
                <a:latin typeface="Helvetica Neue"/>
              </a:rPr>
              <a:t>Thank you</a:t>
            </a:r>
          </a:p>
        </p:txBody>
      </p:sp>
      <p:sp>
        <p:nvSpPr>
          <p:cNvPr id="4" name="Rectangle 3"/>
          <p:cNvSpPr/>
          <p:nvPr/>
        </p:nvSpPr>
        <p:spPr>
          <a:xfrm>
            <a:off x="1051560" y="3429000"/>
            <a:ext cx="1371600" cy="4114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3794760"/>
            <a:ext cx="9144000" cy="1645920"/>
          </a:xfrm>
          <a:prstGeom prst="rect">
            <a:avLst/>
          </a:prstGeom>
          <a:noFill/>
        </p:spPr>
        <p:txBody>
          <a:bodyPr wrap="square" anchor="t" lIns="0" rIns="0" tIns="0" bIns="0">
            <a:spAutoFit/>
          </a:bodyPr>
          <a:lstStyle/>
          <a:p>
            <a:pPr algn="l">
              <a:lnSpc>
                <a:spcPct val="125000"/>
              </a:lnSpc>
              <a:spcBef>
                <a:spcPts val="0"/>
              </a:spcBef>
              <a:spcAft>
                <a:spcPts val="800"/>
              </a:spcAft>
            </a:pPr>
            <a:r>
              <a:rPr sz="1700" b="0" i="0">
                <a:solidFill>
                  <a:srgbClr val="CDE2FB"/>
                </a:solidFill>
                <a:latin typeface="Helvetica Neue"/>
              </a:rPr>
              <a:t>Questions and discussion</a:t>
            </a:r>
          </a:p>
          <a:p>
            <a:pPr algn="l">
              <a:lnSpc>
                <a:spcPct val="125000"/>
              </a:lnSpc>
              <a:spcBef>
                <a:spcPts val="0"/>
              </a:spcBef>
              <a:spcAft>
                <a:spcPts val="800"/>
              </a:spcAft>
            </a:pPr>
            <a:r>
              <a:rPr sz="1700" b="0" i="0">
                <a:solidFill>
                  <a:srgbClr val="CDE2FB"/>
                </a:solidFill>
                <a:latin typeface="Helvetica Neue"/>
              </a:rPr>
              <a:t/>
            </a:r>
          </a:p>
          <a:p>
            <a:pPr algn="l">
              <a:lnSpc>
                <a:spcPct val="125000"/>
              </a:lnSpc>
              <a:spcBef>
                <a:spcPts val="0"/>
              </a:spcBef>
              <a:spcAft>
                <a:spcPts val="800"/>
              </a:spcAft>
            </a:pPr>
            <a:r>
              <a:rPr sz="1700" b="0" i="0">
                <a:solidFill>
                  <a:srgbClr val="CDE2FB"/>
                </a:solidFill>
                <a:latin typeface="Helvetica Neue"/>
              </a:rPr>
              <a:t>Full report, source code, trained models and all result artefacts are available in the project repository.</a:t>
            </a:r>
          </a:p>
        </p:txBody>
      </p:sp>
      <p:sp>
        <p:nvSpPr>
          <p:cNvPr id="6" name="TextBox 5"/>
          <p:cNvSpPr txBox="1"/>
          <p:nvPr/>
        </p:nvSpPr>
        <p:spPr>
          <a:xfrm>
            <a:off x="1051560" y="6172200"/>
            <a:ext cx="9601200" cy="365760"/>
          </a:xfrm>
          <a:prstGeom prst="rect">
            <a:avLst/>
          </a:prstGeom>
          <a:noFill/>
        </p:spPr>
        <p:txBody>
          <a:bodyPr wrap="square" anchor="t" lIns="0" rIns="0" tIns="0" bIns="0">
            <a:spAutoFit/>
          </a:bodyPr>
          <a:lstStyle/>
          <a:p>
            <a:pPr algn="l">
              <a:spcBef>
                <a:spcPts val="0"/>
              </a:spcBef>
              <a:spcAft>
                <a:spcPts val="600"/>
              </a:spcAft>
            </a:pPr>
            <a:r>
              <a:rPr sz="1300" b="0" i="0">
                <a:solidFill>
                  <a:srgbClr val="86B6EF"/>
                </a:solidFill>
                <a:latin typeface="Helvetica Neue"/>
              </a:rPr>
              <a:t>Group Agro AI  ·  Arkam B.H.M. · Sharuja B. · Shathurya P.  ·  University of Moratuwa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